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  <p:sldMasterId id="2147483678" r:id="rId3"/>
    <p:sldMasterId id="2147483690" r:id="rId4"/>
  </p:sldMasterIdLst>
  <p:notesMasterIdLst>
    <p:notesMasterId r:id="rId19"/>
  </p:notesMasterIdLst>
  <p:sldIdLst>
    <p:sldId id="283" r:id="rId5"/>
    <p:sldId id="286" r:id="rId6"/>
    <p:sldId id="289" r:id="rId7"/>
    <p:sldId id="292" r:id="rId8"/>
    <p:sldId id="274" r:id="rId9"/>
    <p:sldId id="277" r:id="rId10"/>
    <p:sldId id="259" r:id="rId11"/>
    <p:sldId id="280" r:id="rId12"/>
    <p:sldId id="295" r:id="rId13"/>
    <p:sldId id="298" r:id="rId14"/>
    <p:sldId id="262" r:id="rId15"/>
    <p:sldId id="265" r:id="rId16"/>
    <p:sldId id="268" r:id="rId17"/>
    <p:sldId id="271" r:id="rId18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B3E841-AAAD-4886-AD87-C21BD8B06F35}" v="4" dt="2026-09-29T04:57:59.42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 autoAdjust="0"/>
    <p:restoredTop sz="0"/>
  </p:normalViewPr>
  <p:slideViewPr>
    <p:cSldViewPr>
      <p:cViewPr varScale="1">
        <p:scale>
          <a:sx n="95" d="100"/>
          <a:sy n="95" d="100"/>
        </p:scale>
        <p:origin x="1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amaluri, Tushar [C]" userId="4d0fbb22-c6ed-483d-9750-5053b27ea478" providerId="ADAL" clId="{3F2C7D5C-9765-4102-8C9B-5EECA8B8E360}"/>
    <pc:docChg chg="modSld delMainMaster modMainMaster">
      <pc:chgData name="Kanamaluri, Tushar [C]" userId="4d0fbb22-c6ed-483d-9750-5053b27ea478" providerId="ADAL" clId="{3F2C7D5C-9765-4102-8C9B-5EECA8B8E360}" dt="2026-09-29T04:57:59.425" v="50"/>
      <pc:docMkLst>
        <pc:docMk/>
      </pc:docMkLst>
      <pc:sldChg chg="modSp mod">
        <pc:chgData name="Kanamaluri, Tushar [C]" userId="4d0fbb22-c6ed-483d-9750-5053b27ea478" providerId="ADAL" clId="{3F2C7D5C-9765-4102-8C9B-5EECA8B8E360}" dt="2026-09-29T04:57:59.425" v="50"/>
        <pc:sldMkLst>
          <pc:docMk/>
          <pc:sldMk cId="0" sldId="271"/>
        </pc:sldMkLst>
        <pc:spChg chg="mod">
          <ac:chgData name="Kanamaluri, Tushar [C]" userId="4d0fbb22-c6ed-483d-9750-5053b27ea478" providerId="ADAL" clId="{3F2C7D5C-9765-4102-8C9B-5EECA8B8E360}" dt="2026-09-29T04:56:50.884" v="0" actId="20578"/>
          <ac:spMkLst>
            <pc:docMk/>
            <pc:sldMk cId="0" sldId="271"/>
            <ac:spMk id="12" creationId="{00000000-0000-0000-0000-000000000000}"/>
          </ac:spMkLst>
        </pc:spChg>
        <pc:spChg chg="mod">
          <ac:chgData name="Kanamaluri, Tushar [C]" userId="4d0fbb22-c6ed-483d-9750-5053b27ea478" providerId="ADAL" clId="{3F2C7D5C-9765-4102-8C9B-5EECA8B8E360}" dt="2026-09-29T04:57:19.497" v="20" actId="20577"/>
          <ac:spMkLst>
            <pc:docMk/>
            <pc:sldMk cId="0" sldId="271"/>
            <ac:spMk id="14" creationId="{00000000-0000-0000-0000-000000000000}"/>
          </ac:spMkLst>
        </pc:spChg>
        <pc:spChg chg="mod">
          <ac:chgData name="Kanamaluri, Tushar [C]" userId="4d0fbb22-c6ed-483d-9750-5053b27ea478" providerId="ADAL" clId="{3F2C7D5C-9765-4102-8C9B-5EECA8B8E360}" dt="2026-09-29T04:57:59.425" v="50"/>
          <ac:spMkLst>
            <pc:docMk/>
            <pc:sldMk cId="0" sldId="271"/>
            <ac:spMk id="37" creationId="{00000000-0000-0000-0000-000000000000}"/>
          </ac:spMkLst>
        </pc:spChg>
        <pc:spChg chg="mod">
          <ac:chgData name="Kanamaluri, Tushar [C]" userId="4d0fbb22-c6ed-483d-9750-5053b27ea478" providerId="ADAL" clId="{3F2C7D5C-9765-4102-8C9B-5EECA8B8E360}" dt="2026-09-29T04:57:53.612" v="49" actId="20577"/>
          <ac:spMkLst>
            <pc:docMk/>
            <pc:sldMk cId="0" sldId="271"/>
            <ac:spMk id="45" creationId="{00000000-0000-0000-0000-000000000000}"/>
          </ac:spMkLst>
        </pc:spChg>
        <pc:spChg chg="mod">
          <ac:chgData name="Kanamaluri, Tushar [C]" userId="4d0fbb22-c6ed-483d-9750-5053b27ea478" providerId="ADAL" clId="{3F2C7D5C-9765-4102-8C9B-5EECA8B8E360}" dt="2026-09-29T04:57:39.908" v="35" actId="20577"/>
          <ac:spMkLst>
            <pc:docMk/>
            <pc:sldMk cId="0" sldId="271"/>
            <ac:spMk id="47" creationId="{00000000-0000-0000-0000-000000000000}"/>
          </ac:spMkLst>
        </pc:spChg>
      </pc:sldChg>
      <pc:sldChg chg="modSp mod modClrScheme chgLayout">
        <pc:chgData name="Kanamaluri, Tushar [C]" userId="4d0fbb22-c6ed-483d-9750-5053b27ea478" providerId="ADAL" clId="{3F2C7D5C-9765-4102-8C9B-5EECA8B8E360}" dt="2026-09-29T04:56:59.736" v="10"/>
        <pc:sldMkLst>
          <pc:docMk/>
          <pc:sldMk cId="0" sldId="277"/>
        </pc:sldMkLst>
        <pc:spChg chg="mod ord">
          <ac:chgData name="Kanamaluri, Tushar [C]" userId="4d0fbb22-c6ed-483d-9750-5053b27ea478" providerId="ADAL" clId="{3F2C7D5C-9765-4102-8C9B-5EECA8B8E360}" dt="2026-09-29T04:56:59.736" v="10"/>
          <ac:spMkLst>
            <pc:docMk/>
            <pc:sldMk cId="0" sldId="277"/>
            <ac:spMk id="2" creationId="{00000000-0000-0000-0000-000000000000}"/>
          </ac:spMkLst>
        </pc:spChg>
      </pc:sldChg>
      <pc:sldChg chg="modSp mod modClrScheme chgLayout">
        <pc:chgData name="Kanamaluri, Tushar [C]" userId="4d0fbb22-c6ed-483d-9750-5053b27ea478" providerId="ADAL" clId="{3F2C7D5C-9765-4102-8C9B-5EECA8B8E360}" dt="2026-09-29T04:56:59.736" v="10"/>
        <pc:sldMkLst>
          <pc:docMk/>
          <pc:sldMk cId="0" sldId="283"/>
        </pc:sldMkLst>
        <pc:spChg chg="mod ord">
          <ac:chgData name="Kanamaluri, Tushar [C]" userId="4d0fbb22-c6ed-483d-9750-5053b27ea478" providerId="ADAL" clId="{3F2C7D5C-9765-4102-8C9B-5EECA8B8E360}" dt="2026-09-29T04:56:59.736" v="10"/>
          <ac:spMkLst>
            <pc:docMk/>
            <pc:sldMk cId="0" sldId="283"/>
            <ac:spMk id="4" creationId="{00000000-0000-0000-0000-000000000000}"/>
          </ac:spMkLst>
        </pc:spChg>
      </pc:sldChg>
      <pc:sldChg chg="modSp mod modClrScheme chgLayout">
        <pc:chgData name="Kanamaluri, Tushar [C]" userId="4d0fbb22-c6ed-483d-9750-5053b27ea478" providerId="ADAL" clId="{3F2C7D5C-9765-4102-8C9B-5EECA8B8E360}" dt="2026-09-29T04:56:59.736" v="10"/>
        <pc:sldMkLst>
          <pc:docMk/>
          <pc:sldMk cId="0" sldId="286"/>
        </pc:sldMkLst>
        <pc:spChg chg="mod ord">
          <ac:chgData name="Kanamaluri, Tushar [C]" userId="4d0fbb22-c6ed-483d-9750-5053b27ea478" providerId="ADAL" clId="{3F2C7D5C-9765-4102-8C9B-5EECA8B8E360}" dt="2026-09-29T04:56:59.736" v="10"/>
          <ac:spMkLst>
            <pc:docMk/>
            <pc:sldMk cId="0" sldId="286"/>
            <ac:spMk id="2" creationId="{00000000-0000-0000-0000-000000000000}"/>
          </ac:spMkLst>
        </pc:spChg>
      </pc:sldChg>
      <pc:sldChg chg="modSp mod modClrScheme chgLayout">
        <pc:chgData name="Kanamaluri, Tushar [C]" userId="4d0fbb22-c6ed-483d-9750-5053b27ea478" providerId="ADAL" clId="{3F2C7D5C-9765-4102-8C9B-5EECA8B8E360}" dt="2026-09-29T04:56:59.736" v="10"/>
        <pc:sldMkLst>
          <pc:docMk/>
          <pc:sldMk cId="0" sldId="289"/>
        </pc:sldMkLst>
        <pc:spChg chg="mod ord">
          <ac:chgData name="Kanamaluri, Tushar [C]" userId="4d0fbb22-c6ed-483d-9750-5053b27ea478" providerId="ADAL" clId="{3F2C7D5C-9765-4102-8C9B-5EECA8B8E360}" dt="2026-09-29T04:56:59.736" v="10"/>
          <ac:spMkLst>
            <pc:docMk/>
            <pc:sldMk cId="0" sldId="289"/>
            <ac:spMk id="2" creationId="{00000000-0000-0000-0000-000000000000}"/>
          </ac:spMkLst>
        </pc:spChg>
      </pc:sldChg>
      <pc:sldChg chg="modSp mod modClrScheme chgLayout">
        <pc:chgData name="Kanamaluri, Tushar [C]" userId="4d0fbb22-c6ed-483d-9750-5053b27ea478" providerId="ADAL" clId="{3F2C7D5C-9765-4102-8C9B-5EECA8B8E360}" dt="2026-09-29T04:56:59.736" v="10"/>
        <pc:sldMkLst>
          <pc:docMk/>
          <pc:sldMk cId="0" sldId="292"/>
        </pc:sldMkLst>
        <pc:spChg chg="mod ord">
          <ac:chgData name="Kanamaluri, Tushar [C]" userId="4d0fbb22-c6ed-483d-9750-5053b27ea478" providerId="ADAL" clId="{3F2C7D5C-9765-4102-8C9B-5EECA8B8E360}" dt="2026-09-29T04:56:59.736" v="10"/>
          <ac:spMkLst>
            <pc:docMk/>
            <pc:sldMk cId="0" sldId="292"/>
            <ac:spMk id="7" creationId="{00000000-0000-0000-0000-000000000000}"/>
          </ac:spMkLst>
        </pc:spChg>
        <pc:spChg chg="mod ord">
          <ac:chgData name="Kanamaluri, Tushar [C]" userId="4d0fbb22-c6ed-483d-9750-5053b27ea478" providerId="ADAL" clId="{3F2C7D5C-9765-4102-8C9B-5EECA8B8E360}" dt="2026-09-29T04:56:59.736" v="10"/>
          <ac:spMkLst>
            <pc:docMk/>
            <pc:sldMk cId="0" sldId="292"/>
            <ac:spMk id="29" creationId="{00000000-0000-0000-0000-000000000000}"/>
          </ac:spMkLst>
        </pc:spChg>
      </pc:sldChg>
      <pc:sldChg chg="modSp mod modClrScheme chgLayout">
        <pc:chgData name="Kanamaluri, Tushar [C]" userId="4d0fbb22-c6ed-483d-9750-5053b27ea478" providerId="ADAL" clId="{3F2C7D5C-9765-4102-8C9B-5EECA8B8E360}" dt="2026-09-29T04:56:59.736" v="10"/>
        <pc:sldMkLst>
          <pc:docMk/>
          <pc:sldMk cId="0" sldId="295"/>
        </pc:sldMkLst>
        <pc:spChg chg="mod ord">
          <ac:chgData name="Kanamaluri, Tushar [C]" userId="4d0fbb22-c6ed-483d-9750-5053b27ea478" providerId="ADAL" clId="{3F2C7D5C-9765-4102-8C9B-5EECA8B8E360}" dt="2026-09-29T04:56:59.736" v="10"/>
          <ac:spMkLst>
            <pc:docMk/>
            <pc:sldMk cId="0" sldId="295"/>
            <ac:spMk id="2" creationId="{00000000-0000-0000-0000-000000000000}"/>
          </ac:spMkLst>
        </pc:spChg>
      </pc:sldChg>
      <pc:sldChg chg="modSp mod modClrScheme chgLayout">
        <pc:chgData name="Kanamaluri, Tushar [C]" userId="4d0fbb22-c6ed-483d-9750-5053b27ea478" providerId="ADAL" clId="{3F2C7D5C-9765-4102-8C9B-5EECA8B8E360}" dt="2026-09-29T04:56:59.736" v="10"/>
        <pc:sldMkLst>
          <pc:docMk/>
          <pc:sldMk cId="0" sldId="298"/>
        </pc:sldMkLst>
        <pc:spChg chg="mod ord">
          <ac:chgData name="Kanamaluri, Tushar [C]" userId="4d0fbb22-c6ed-483d-9750-5053b27ea478" providerId="ADAL" clId="{3F2C7D5C-9765-4102-8C9B-5EECA8B8E360}" dt="2026-09-29T04:56:59.736" v="10"/>
          <ac:spMkLst>
            <pc:docMk/>
            <pc:sldMk cId="0" sldId="298"/>
            <ac:spMk id="3" creationId="{00000000-0000-0000-0000-000000000000}"/>
          </ac:spMkLst>
        </pc:spChg>
      </pc:sldChg>
      <pc:sldMasterChg chg="modSldLayout sldLayoutOrd">
        <pc:chgData name="Kanamaluri, Tushar [C]" userId="4d0fbb22-c6ed-483d-9750-5053b27ea478" providerId="ADAL" clId="{3F2C7D5C-9765-4102-8C9B-5EECA8B8E360}" dt="2026-09-29T04:56:59.709" v="8"/>
        <pc:sldMasterMkLst>
          <pc:docMk/>
          <pc:sldMasterMk cId="0" sldId="2147483666"/>
        </pc:sldMasterMkLst>
        <pc:sldLayoutChg chg="modSp mod ord">
          <pc:chgData name="Kanamaluri, Tushar [C]" userId="4d0fbb22-c6ed-483d-9750-5053b27ea478" providerId="ADAL" clId="{3F2C7D5C-9765-4102-8C9B-5EECA8B8E360}" dt="2026-09-29T04:56:59.709" v="8"/>
          <pc:sldLayoutMkLst>
            <pc:docMk/>
            <pc:sldMasterMk cId="0" sldId="2147483666"/>
            <pc:sldLayoutMk cId="0" sldId="2147483679"/>
          </pc:sldLayoutMkLst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79"/>
              <ac:spMk id="2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79"/>
              <ac:spMk id="3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79"/>
              <ac:spMk id="4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79"/>
              <ac:spMk id="5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79"/>
              <ac:spMk id="6" creationId="{00000000-0000-0000-0000-000000000000}"/>
            </ac:spMkLst>
          </pc:spChg>
        </pc:sldLayoutChg>
        <pc:sldLayoutChg chg="modSp mod ord">
          <pc:chgData name="Kanamaluri, Tushar [C]" userId="4d0fbb22-c6ed-483d-9750-5053b27ea478" providerId="ADAL" clId="{3F2C7D5C-9765-4102-8C9B-5EECA8B8E360}" dt="2026-09-29T04:56:59.709" v="8"/>
          <pc:sldLayoutMkLst>
            <pc:docMk/>
            <pc:sldMasterMk cId="0" sldId="2147483666"/>
            <pc:sldLayoutMk cId="0" sldId="2147483680"/>
          </pc:sldLayoutMkLst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80"/>
              <ac:spMk id="2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80"/>
              <ac:spMk id="3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80"/>
              <ac:spMk id="4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80"/>
              <ac:spMk id="5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80"/>
              <ac:spMk id="6" creationId="{00000000-0000-0000-0000-000000000000}"/>
            </ac:spMkLst>
          </pc:spChg>
        </pc:sldLayoutChg>
        <pc:sldLayoutChg chg="modSp mod ord">
          <pc:chgData name="Kanamaluri, Tushar [C]" userId="4d0fbb22-c6ed-483d-9750-5053b27ea478" providerId="ADAL" clId="{3F2C7D5C-9765-4102-8C9B-5EECA8B8E360}" dt="2026-09-29T04:56:59.709" v="8"/>
          <pc:sldLayoutMkLst>
            <pc:docMk/>
            <pc:sldMasterMk cId="0" sldId="2147483666"/>
            <pc:sldLayoutMk cId="0" sldId="2147483681"/>
          </pc:sldLayoutMkLst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81"/>
              <ac:spMk id="2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81"/>
              <ac:spMk id="3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81"/>
              <ac:spMk id="4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81"/>
              <ac:spMk id="5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81"/>
              <ac:spMk id="6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81"/>
              <ac:spMk id="7" creationId="{00000000-0000-0000-0000-000000000000}"/>
            </ac:spMkLst>
          </pc:spChg>
        </pc:sldLayoutChg>
        <pc:sldLayoutChg chg="modSp mod ord">
          <pc:chgData name="Kanamaluri, Tushar [C]" userId="4d0fbb22-c6ed-483d-9750-5053b27ea478" providerId="ADAL" clId="{3F2C7D5C-9765-4102-8C9B-5EECA8B8E360}" dt="2026-09-29T04:56:59.709" v="8"/>
          <pc:sldLayoutMkLst>
            <pc:docMk/>
            <pc:sldMasterMk cId="0" sldId="2147483666"/>
            <pc:sldLayoutMk cId="0" sldId="2147483682"/>
          </pc:sldLayoutMkLst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82"/>
              <ac:spMk id="2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82"/>
              <ac:spMk id="3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82"/>
              <ac:spMk id="4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82"/>
              <ac:spMk id="5" creationId="{00000000-0000-0000-0000-000000000000}"/>
            </ac:spMkLst>
          </pc:spChg>
        </pc:sldLayoutChg>
        <pc:sldLayoutChg chg="modSp mod ord">
          <pc:chgData name="Kanamaluri, Tushar [C]" userId="4d0fbb22-c6ed-483d-9750-5053b27ea478" providerId="ADAL" clId="{3F2C7D5C-9765-4102-8C9B-5EECA8B8E360}" dt="2026-09-29T04:56:59.709" v="8"/>
          <pc:sldLayoutMkLst>
            <pc:docMk/>
            <pc:sldMasterMk cId="0" sldId="2147483666"/>
            <pc:sldLayoutMk cId="0" sldId="2147483683"/>
          </pc:sldLayoutMkLst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83"/>
              <ac:spMk id="2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83"/>
              <ac:spMk id="3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83"/>
              <ac:spMk id="4" creationId="{00000000-0000-0000-0000-000000000000}"/>
            </ac:spMkLst>
          </pc:spChg>
        </pc:sldLayoutChg>
        <pc:sldLayoutChg chg="modSp mod ord">
          <pc:chgData name="Kanamaluri, Tushar [C]" userId="4d0fbb22-c6ed-483d-9750-5053b27ea478" providerId="ADAL" clId="{3F2C7D5C-9765-4102-8C9B-5EECA8B8E360}" dt="2026-09-29T04:56:59.709" v="8"/>
          <pc:sldLayoutMkLst>
            <pc:docMk/>
            <pc:sldMasterMk cId="0" sldId="2147483666"/>
            <pc:sldLayoutMk cId="0" sldId="2147483691"/>
          </pc:sldLayoutMkLst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1"/>
              <ac:spMk id="2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1"/>
              <ac:spMk id="3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1"/>
              <ac:spMk id="4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1"/>
              <ac:spMk id="5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1"/>
              <ac:spMk id="6" creationId="{00000000-0000-0000-0000-000000000000}"/>
            </ac:spMkLst>
          </pc:spChg>
        </pc:sldLayoutChg>
        <pc:sldLayoutChg chg="modSp mod ord">
          <pc:chgData name="Kanamaluri, Tushar [C]" userId="4d0fbb22-c6ed-483d-9750-5053b27ea478" providerId="ADAL" clId="{3F2C7D5C-9765-4102-8C9B-5EECA8B8E360}" dt="2026-09-29T04:56:59.709" v="8"/>
          <pc:sldLayoutMkLst>
            <pc:docMk/>
            <pc:sldMasterMk cId="0" sldId="2147483666"/>
            <pc:sldLayoutMk cId="0" sldId="2147483692"/>
          </pc:sldLayoutMkLst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2"/>
              <ac:spMk id="2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2"/>
              <ac:spMk id="3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2"/>
              <ac:spMk id="4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2"/>
              <ac:spMk id="5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2"/>
              <ac:spMk id="6" creationId="{00000000-0000-0000-0000-000000000000}"/>
            </ac:spMkLst>
          </pc:spChg>
        </pc:sldLayoutChg>
        <pc:sldLayoutChg chg="modSp mod ord">
          <pc:chgData name="Kanamaluri, Tushar [C]" userId="4d0fbb22-c6ed-483d-9750-5053b27ea478" providerId="ADAL" clId="{3F2C7D5C-9765-4102-8C9B-5EECA8B8E360}" dt="2026-09-29T04:56:59.709" v="8"/>
          <pc:sldLayoutMkLst>
            <pc:docMk/>
            <pc:sldMasterMk cId="0" sldId="2147483666"/>
            <pc:sldLayoutMk cId="0" sldId="2147483693"/>
          </pc:sldLayoutMkLst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3"/>
              <ac:spMk id="2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3"/>
              <ac:spMk id="3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3"/>
              <ac:spMk id="4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3"/>
              <ac:spMk id="5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3"/>
              <ac:spMk id="6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3"/>
              <ac:spMk id="7" creationId="{00000000-0000-0000-0000-000000000000}"/>
            </ac:spMkLst>
          </pc:spChg>
        </pc:sldLayoutChg>
        <pc:sldLayoutChg chg="modSp mod ord">
          <pc:chgData name="Kanamaluri, Tushar [C]" userId="4d0fbb22-c6ed-483d-9750-5053b27ea478" providerId="ADAL" clId="{3F2C7D5C-9765-4102-8C9B-5EECA8B8E360}" dt="2026-09-29T04:56:59.709" v="8"/>
          <pc:sldLayoutMkLst>
            <pc:docMk/>
            <pc:sldMasterMk cId="0" sldId="2147483666"/>
            <pc:sldLayoutMk cId="0" sldId="2147483694"/>
          </pc:sldLayoutMkLst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4"/>
              <ac:spMk id="2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4"/>
              <ac:spMk id="3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4"/>
              <ac:spMk id="4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4"/>
              <ac:spMk id="5" creationId="{00000000-0000-0000-0000-000000000000}"/>
            </ac:spMkLst>
          </pc:spChg>
        </pc:sldLayoutChg>
        <pc:sldLayoutChg chg="modSp mod ord">
          <pc:chgData name="Kanamaluri, Tushar [C]" userId="4d0fbb22-c6ed-483d-9750-5053b27ea478" providerId="ADAL" clId="{3F2C7D5C-9765-4102-8C9B-5EECA8B8E360}" dt="2026-09-29T04:56:59.709" v="8"/>
          <pc:sldLayoutMkLst>
            <pc:docMk/>
            <pc:sldMasterMk cId="0" sldId="2147483666"/>
            <pc:sldLayoutMk cId="0" sldId="2147483695"/>
          </pc:sldLayoutMkLst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5"/>
              <ac:spMk id="2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5"/>
              <ac:spMk id="3" creationId="{00000000-0000-0000-0000-000000000000}"/>
            </ac:spMkLst>
          </pc:spChg>
          <pc:spChg chg="mod">
            <ac:chgData name="Kanamaluri, Tushar [C]" userId="4d0fbb22-c6ed-483d-9750-5053b27ea478" providerId="ADAL" clId="{3F2C7D5C-9765-4102-8C9B-5EECA8B8E360}" dt="2026-09-29T04:56:59.709" v="8"/>
            <ac:spMkLst>
              <pc:docMk/>
              <pc:sldMasterMk cId="0" sldId="2147483666"/>
              <pc:sldLayoutMk cId="0" sldId="2147483695"/>
              <ac:spMk id="4" creationId="{00000000-0000-0000-0000-000000000000}"/>
            </ac:spMkLst>
          </pc:spChg>
        </pc:sldLayoutChg>
      </pc:sldMasterChg>
      <pc:sldMasterChg chg="del sldLayoutOrd">
        <pc:chgData name="Kanamaluri, Tushar [C]" userId="4d0fbb22-c6ed-483d-9750-5053b27ea478" providerId="ADAL" clId="{3F2C7D5C-9765-4102-8C9B-5EECA8B8E360}" dt="2026-09-29T04:56:59.720" v="9"/>
        <pc:sldMasterMkLst>
          <pc:docMk/>
          <pc:sldMasterMk cId="0" sldId="2147483684"/>
        </pc:sldMasterMkLst>
      </pc:sldMasterChg>
      <pc:sldMasterChg chg="del sldLayoutOrd">
        <pc:chgData name="Kanamaluri, Tushar [C]" userId="4d0fbb22-c6ed-483d-9750-5053b27ea478" providerId="ADAL" clId="{3F2C7D5C-9765-4102-8C9B-5EECA8B8E360}" dt="2026-09-29T04:56:59.720" v="9"/>
        <pc:sldMasterMkLst>
          <pc:docMk/>
          <pc:sldMasterMk cId="0" sldId="2147483696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3DC0D-5F2D-4564-BB08-66DA9FBF3515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1961A-BBB5-458C-B1C1-BDA31399B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986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1961A-BBB5-458C-B1C1-BDA31399BFD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803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51961A-BBB5-458C-B1C1-BDA31399BFD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391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36B01DD-40B9-4675-9B5E-EA9804A44FF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39A030C-4162-4364-B62D-CBFEB92EA05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93A9FC3-773E-4C18-B5CF-BD87AD793C7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F29869C-6914-4E31-9951-38CD482B4CE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2B16B2F-A112-49B5-AF72-4275281BC4A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0C805E32-C002-4584-A8D1-6E0C5FC71E7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CFC039A3-533A-48F5-9B1E-1DCE6849357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AAC17B05-FEEC-44AD-B849-B6A891C7D311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9AC82F0-DF58-43EC-9553-17F98D3AA26B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7A848F2-36AD-4EB3-B87A-F13FD448CD8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A09222B-C74E-4314-902C-DBF7E60D06C3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91452" y="2187384"/>
            <a:ext cx="3919854" cy="4441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91452" y="2187384"/>
            <a:ext cx="3919854" cy="4441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91452" y="2187384"/>
            <a:ext cx="3919854" cy="4441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29CA-281B-2F68-E8CB-6A4E7EE44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A6418-64E4-4D5B-34E3-3FA30835D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20571-4BE1-3CE2-092C-A5403F9C4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E8742-C177-4BA6-D4B9-A6ED2F4C0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0520F-44B6-0681-5E6D-066768088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951321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3751E-1246-F4E2-E4C9-01BE8CACB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FA7D3-4BED-A361-AF32-E5966737A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C6828-A008-2E6B-2943-4892819E9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F7F16-6C17-930E-8416-24196E728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A54D4-04B2-91A1-8815-A7CDFF12A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94479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21EB6-2EE5-97FA-24B8-FFE64885C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F49E6-BCDD-F334-C2E1-146C3A13D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C1162-4673-81A9-98F1-CD2107108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122FE-7E71-491A-5815-195EB17E7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BCC63-6248-EE56-C1C6-561D3202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120377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2995-C6DA-DA5B-8672-E2B83B6FF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17E6-FE28-C6A3-620A-6083F9557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3036B-B978-B558-D550-A0B8205E9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059F2-3729-50EA-B9AB-EDDB5C208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67DE8-B8CF-03CD-E16A-25D4B619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598B7-E404-923B-2AA8-08C66A499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074084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7FD1-F3AD-0441-6954-B2A2E67D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CC9AB-7A9A-EC7B-B85C-F56AA30CE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7DDCD-84BB-E570-3EAD-ABCAEBCA9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242690-0054-187D-0377-50063322E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0AAB6-2EC2-CDC5-8928-3540B9DB51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7065AC-F64D-548E-DF96-32F181E52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085F17-F126-1F44-C84F-019BF0EBB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2EC418-5876-111C-EEFB-2B4E8F0B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779407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0E35-59AD-EF12-A8D5-2375175D0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C54E84-FF6E-1B09-23B5-984AA13A3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1E78F-7E25-26B0-C835-000460333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F29598-5722-AF1A-0E6B-2FFC9F703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792721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042236-6638-6BF0-65F2-2C154E214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C45400-7A35-E883-FCAA-8BD8A8A99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F8444-E7DA-5C90-E8C5-9836FB5BC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405840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F8C4F-CB7D-62CC-E926-E485F8BB6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D47F3-F9DA-EADF-CE95-0CE9AB1DB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47401-BF9C-E6A4-FBD9-CF1F7EE17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018C4-D692-CA1B-99A3-B8398FAAB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CCF8A-0C84-3BE8-61A8-A4E00D750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C4AFA-ED26-093E-490E-5AC2E49D7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585744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E63CA-4A67-7C7A-0B33-887A7D3FD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5AC055-1A48-2220-1981-6CA7CA517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96E7D8-618B-1844-558A-98E62C1DF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2BE19-84F0-24E4-70D9-90F3E1F5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3782C-B9D9-BC7C-AD36-5449F2863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34B33-508E-0B96-7813-B4EB87437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22017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7450D-B083-80C7-C0F1-D74560CF8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32798-94F2-DCA6-EBB8-48C5F4BE8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BFC12-7D6E-1F1D-119C-47DA73869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9F2E2-FFCD-86F7-3D41-136BD5E57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155BB-FA4B-2C1D-C62F-37A229FF6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718016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DF6D27-C878-CC34-7F18-B5A8B546A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C5CEC-00FB-2114-3AC2-90864B971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32DAF-2123-0387-0E45-358FA678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4125-7227-4760-A9F7-50C2B54540E9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58DF2-BB00-7E69-2281-62FF3B084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8A742-67CE-80DB-BB00-E186679E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278359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91452" y="2187384"/>
            <a:ext cx="3919854" cy="4441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46169" y="-57848"/>
            <a:ext cx="3899661" cy="334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37025" y="2207386"/>
            <a:ext cx="7985125" cy="4570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3" r:id="rId3"/>
    <p:sldLayoutId id="2147483664" r:id="rId4"/>
    <p:sldLayoutId id="2147483665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8675E1-3575-AD51-C0CB-5AAFC8AF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654B2-AC68-2FAF-B80A-2CA2685D2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F9C6E-764C-A0EB-375E-6B2E5FDFE3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2E64125-7227-4760-A9F7-50C2B54540E9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AF39D-4A63-06B5-5B61-1472981D05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0AFE5-3844-044E-BAAE-4A0BADBA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CD187F-8963-45A5-A689-2F0CCAB57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70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46169" y="-57848"/>
            <a:ext cx="3899661" cy="334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 u="heavy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37025" y="2207386"/>
            <a:ext cx="7985125" cy="4570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</p:sldLayoutIdLst>
  <p:transition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jpeg"/><Relationship Id="rId11" Type="http://schemas.openxmlformats.org/officeDocument/2006/relationships/image" Target="../media/image27.png"/><Relationship Id="rId5" Type="http://schemas.openxmlformats.org/officeDocument/2006/relationships/image" Target="../media/image21.jpeg"/><Relationship Id="rId10" Type="http://schemas.openxmlformats.org/officeDocument/2006/relationships/image" Target="../media/image26.png"/><Relationship Id="rId4" Type="http://schemas.openxmlformats.org/officeDocument/2006/relationships/image" Target="../media/image20.jpeg"/><Relationship Id="rId9" Type="http://schemas.openxmlformats.org/officeDocument/2006/relationships/image" Target="../media/image2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28.png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Relationship Id="rId9" Type="http://schemas.openxmlformats.org/officeDocument/2006/relationships/image" Target="../media/image3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jpeg"/><Relationship Id="rId7" Type="http://schemas.openxmlformats.org/officeDocument/2006/relationships/image" Target="../media/image40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jpeg"/><Relationship Id="rId7" Type="http://schemas.openxmlformats.org/officeDocument/2006/relationships/image" Target="../media/image50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3" Type="http://schemas.openxmlformats.org/officeDocument/2006/relationships/image" Target="../media/image60.jpeg"/><Relationship Id="rId7" Type="http://schemas.openxmlformats.org/officeDocument/2006/relationships/image" Target="../media/image64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3.jpeg"/><Relationship Id="rId11" Type="http://schemas.openxmlformats.org/officeDocument/2006/relationships/image" Target="../media/image68.jpeg"/><Relationship Id="rId5" Type="http://schemas.openxmlformats.org/officeDocument/2006/relationships/image" Target="../media/image62.jpeg"/><Relationship Id="rId10" Type="http://schemas.openxmlformats.org/officeDocument/2006/relationships/image" Target="../media/image67.jpeg"/><Relationship Id="rId4" Type="http://schemas.openxmlformats.org/officeDocument/2006/relationships/image" Target="../media/image61.jpeg"/><Relationship Id="rId9" Type="http://schemas.openxmlformats.org/officeDocument/2006/relationships/image" Target="../media/image6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247650" y="787050"/>
            <a:ext cx="4000500" cy="110861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/>
          <a:stretch>
            <a:fillRect/>
          </a:stretch>
        </p:blipFill>
        <p:spPr>
          <a:xfrm>
            <a:off x="7857235" y="244627"/>
            <a:ext cx="4125214" cy="21651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10735" y="122174"/>
            <a:ext cx="372364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0" u="none" spc="-25">
                <a:solidFill>
                  <a:srgbClr val="585858"/>
                </a:solidFill>
                <a:latin typeface="Arial MT"/>
                <a:cs typeface="Arial MT"/>
              </a:rPr>
              <a:t>Prelims</a:t>
            </a:r>
            <a:r>
              <a:rPr sz="2750" b="0" u="none" spc="29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750" b="0" u="none" spc="30">
                <a:solidFill>
                  <a:srgbClr val="585858"/>
                </a:solidFill>
                <a:latin typeface="Arial MT"/>
                <a:cs typeface="Arial MT"/>
              </a:rPr>
              <a:t>SAE</a:t>
            </a:r>
            <a:r>
              <a:rPr sz="2750" b="0" u="none" spc="-2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750" b="0" u="none" spc="20">
                <a:solidFill>
                  <a:srgbClr val="585858"/>
                </a:solidFill>
                <a:latin typeface="Arial MT"/>
                <a:cs typeface="Arial MT"/>
              </a:rPr>
              <a:t>Baja</a:t>
            </a:r>
            <a:r>
              <a:rPr sz="2750" b="0" u="none" spc="-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750" b="0" u="none" spc="35">
                <a:solidFill>
                  <a:srgbClr val="585858"/>
                </a:solidFill>
                <a:latin typeface="Arial MT"/>
                <a:cs typeface="Arial MT"/>
              </a:rPr>
              <a:t>202</a:t>
            </a:r>
            <a:r>
              <a:rPr lang="en-US" sz="2750" b="0" u="none" spc="35">
                <a:solidFill>
                  <a:srgbClr val="585858"/>
                </a:solidFill>
                <a:latin typeface="Arial MT"/>
                <a:cs typeface="Arial MT"/>
              </a:rPr>
              <a:t>4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8395" y="2204402"/>
            <a:ext cx="7349490" cy="1259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" algn="ctr">
              <a:lnSpc>
                <a:spcPct val="100000"/>
              </a:lnSpc>
              <a:spcBef>
                <a:spcPts val="130"/>
              </a:spcBef>
            </a:pPr>
            <a:r>
              <a:rPr sz="5150" b="1" spc="15">
                <a:latin typeface="Arial"/>
                <a:cs typeface="Arial"/>
              </a:rPr>
              <a:t>TEAM</a:t>
            </a:r>
            <a:r>
              <a:rPr sz="5150" b="1" spc="60">
                <a:latin typeface="Arial"/>
                <a:cs typeface="Arial"/>
              </a:rPr>
              <a:t> </a:t>
            </a:r>
            <a:r>
              <a:rPr sz="5150" b="1" spc="25">
                <a:latin typeface="Arial"/>
                <a:cs typeface="Arial"/>
              </a:rPr>
              <a:t>TORQUE</a:t>
            </a:r>
            <a:endParaRPr sz="51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2750" b="1" i="1" spc="25">
                <a:solidFill>
                  <a:srgbClr val="585858"/>
                </a:solidFill>
                <a:latin typeface="Arial"/>
                <a:cs typeface="Arial"/>
              </a:rPr>
              <a:t>Everyone</a:t>
            </a:r>
            <a:r>
              <a:rPr sz="2750" b="1" i="1" spc="1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750" b="1" i="1" spc="5">
                <a:solidFill>
                  <a:srgbClr val="585858"/>
                </a:solidFill>
                <a:latin typeface="Arial"/>
                <a:cs typeface="Arial"/>
              </a:rPr>
              <a:t>starts</a:t>
            </a:r>
            <a:r>
              <a:rPr sz="2750" b="1" i="1" spc="8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750" b="1" i="1" spc="15">
                <a:solidFill>
                  <a:srgbClr val="585858"/>
                </a:solidFill>
                <a:latin typeface="Arial"/>
                <a:cs typeface="Arial"/>
              </a:rPr>
              <a:t>the</a:t>
            </a:r>
            <a:r>
              <a:rPr sz="2750" b="1" i="1" spc="1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750" b="1" i="1" spc="20">
                <a:solidFill>
                  <a:srgbClr val="585858"/>
                </a:solidFill>
                <a:latin typeface="Arial"/>
                <a:cs typeface="Arial"/>
              </a:rPr>
              <a:t>race,</a:t>
            </a:r>
            <a:r>
              <a:rPr sz="2750" b="1" i="1" spc="3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750" b="1" i="1" spc="30">
                <a:solidFill>
                  <a:srgbClr val="585858"/>
                </a:solidFill>
                <a:latin typeface="Arial"/>
                <a:cs typeface="Arial"/>
              </a:rPr>
              <a:t>but</a:t>
            </a:r>
            <a:r>
              <a:rPr sz="2750" b="1" i="1" spc="3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750" b="1" i="1" spc="15">
                <a:solidFill>
                  <a:srgbClr val="585858"/>
                </a:solidFill>
                <a:latin typeface="Arial"/>
                <a:cs typeface="Arial"/>
              </a:rPr>
              <a:t>a</a:t>
            </a:r>
            <a:r>
              <a:rPr sz="2750" b="1" i="1" spc="1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750" b="1" i="1" spc="15">
                <a:solidFill>
                  <a:srgbClr val="585858"/>
                </a:solidFill>
                <a:latin typeface="Arial"/>
                <a:cs typeface="Arial"/>
              </a:rPr>
              <a:t>few</a:t>
            </a:r>
            <a:r>
              <a:rPr sz="2750" b="1" i="1" spc="-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750" b="1" i="1" spc="5">
                <a:solidFill>
                  <a:srgbClr val="585858"/>
                </a:solidFill>
                <a:latin typeface="Arial"/>
                <a:cs typeface="Arial"/>
              </a:rPr>
              <a:t>finish</a:t>
            </a:r>
            <a:r>
              <a:rPr sz="2750" b="1" i="1" spc="8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2750" b="1" i="1" spc="-10">
                <a:solidFill>
                  <a:srgbClr val="585858"/>
                </a:solidFill>
                <a:latin typeface="Arial"/>
                <a:cs typeface="Arial"/>
              </a:rPr>
              <a:t>it.</a:t>
            </a:r>
            <a:endParaRPr sz="27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/>
          <a:stretch>
            <a:fillRect/>
          </a:stretch>
        </p:blipFill>
        <p:spPr>
          <a:xfrm>
            <a:off x="4253192" y="3495299"/>
            <a:ext cx="3261140" cy="31522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1377" y="3874325"/>
            <a:ext cx="1640205" cy="19519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309880" indent="342900">
              <a:lnSpc>
                <a:spcPct val="151900"/>
              </a:lnSpc>
              <a:spcBef>
                <a:spcPts val="95"/>
              </a:spcBef>
            </a:pPr>
            <a:r>
              <a:rPr sz="1400" b="1" i="1" spc="30">
                <a:latin typeface="Arial"/>
                <a:cs typeface="Arial"/>
              </a:rPr>
              <a:t>O</a:t>
            </a:r>
            <a:r>
              <a:rPr sz="1400" b="1" i="1" spc="55">
                <a:latin typeface="Arial"/>
                <a:cs typeface="Arial"/>
              </a:rPr>
              <a:t>l</a:t>
            </a:r>
            <a:r>
              <a:rPr sz="1400" b="1" i="1" spc="15">
                <a:latin typeface="Arial"/>
                <a:cs typeface="Arial"/>
              </a:rPr>
              <a:t>d</a:t>
            </a:r>
            <a:r>
              <a:rPr sz="1400" b="1" i="1" spc="-140">
                <a:latin typeface="Arial"/>
                <a:cs typeface="Arial"/>
              </a:rPr>
              <a:t> </a:t>
            </a:r>
            <a:r>
              <a:rPr sz="1400" b="1" i="1" spc="-25">
                <a:latin typeface="Arial"/>
                <a:cs typeface="Arial"/>
              </a:rPr>
              <a:t>t</a:t>
            </a:r>
            <a:r>
              <a:rPr sz="1400" b="1" i="1" spc="45">
                <a:latin typeface="Arial"/>
                <a:cs typeface="Arial"/>
              </a:rPr>
              <a:t>ea</a:t>
            </a:r>
            <a:r>
              <a:rPr sz="1400" b="1" i="1" spc="10">
                <a:latin typeface="Arial"/>
                <a:cs typeface="Arial"/>
              </a:rPr>
              <a:t>m  </a:t>
            </a:r>
            <a:r>
              <a:rPr sz="1400" b="1" i="1" spc="-35">
                <a:latin typeface="Arial"/>
                <a:cs typeface="Arial"/>
              </a:rPr>
              <a:t>T</a:t>
            </a:r>
            <a:r>
              <a:rPr sz="1400" b="1" i="1" spc="45">
                <a:latin typeface="Arial"/>
                <a:cs typeface="Arial"/>
              </a:rPr>
              <a:t>ea</a:t>
            </a:r>
            <a:r>
              <a:rPr sz="1400" b="1" i="1" spc="20">
                <a:latin typeface="Arial"/>
                <a:cs typeface="Arial"/>
              </a:rPr>
              <a:t>m</a:t>
            </a:r>
            <a:r>
              <a:rPr sz="1400" b="1" i="1" spc="-85">
                <a:latin typeface="Arial"/>
                <a:cs typeface="Arial"/>
              </a:rPr>
              <a:t> </a:t>
            </a:r>
            <a:r>
              <a:rPr sz="1400" b="1" i="1" spc="-95">
                <a:latin typeface="Arial"/>
                <a:cs typeface="Arial"/>
              </a:rPr>
              <a:t>I</a:t>
            </a:r>
            <a:r>
              <a:rPr sz="1400" b="1" i="1" spc="30">
                <a:latin typeface="Arial"/>
                <a:cs typeface="Arial"/>
              </a:rPr>
              <a:t>D</a:t>
            </a:r>
            <a:r>
              <a:rPr sz="1400" b="1" i="1" spc="5">
                <a:latin typeface="Arial"/>
                <a:cs typeface="Arial"/>
              </a:rPr>
              <a:t>:</a:t>
            </a:r>
            <a:r>
              <a:rPr sz="1400" b="1" i="1" spc="-40">
                <a:latin typeface="Arial"/>
                <a:cs typeface="Arial"/>
              </a:rPr>
              <a:t> </a:t>
            </a:r>
            <a:r>
              <a:rPr sz="1400" b="1" i="1" spc="45">
                <a:latin typeface="Arial"/>
                <a:cs typeface="Arial"/>
              </a:rPr>
              <a:t>2</a:t>
            </a:r>
            <a:r>
              <a:rPr lang="en-US" sz="1400" b="1" i="1" spc="45">
                <a:latin typeface="Arial"/>
                <a:cs typeface="Arial"/>
              </a:rPr>
              <a:t>3100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400" b="1" i="1" spc="30">
                <a:latin typeface="Arial"/>
                <a:cs typeface="Arial"/>
              </a:rPr>
              <a:t>C</a:t>
            </a:r>
            <a:r>
              <a:rPr sz="1400" b="1" i="1" spc="45">
                <a:latin typeface="Arial"/>
                <a:cs typeface="Arial"/>
              </a:rPr>
              <a:t>a</a:t>
            </a:r>
            <a:r>
              <a:rPr sz="1400" b="1" i="1" spc="10">
                <a:latin typeface="Arial"/>
                <a:cs typeface="Arial"/>
              </a:rPr>
              <a:t>r</a:t>
            </a:r>
            <a:r>
              <a:rPr sz="1400" b="1" i="1" spc="-125">
                <a:latin typeface="Arial"/>
                <a:cs typeface="Arial"/>
              </a:rPr>
              <a:t> </a:t>
            </a:r>
            <a:r>
              <a:rPr sz="1400" b="1" i="1" spc="40">
                <a:latin typeface="Arial"/>
                <a:cs typeface="Arial"/>
              </a:rPr>
              <a:t>no</a:t>
            </a:r>
            <a:r>
              <a:rPr sz="1400" b="1" i="1" spc="5">
                <a:latin typeface="Arial"/>
                <a:cs typeface="Arial"/>
              </a:rPr>
              <a:t>.</a:t>
            </a:r>
            <a:r>
              <a:rPr sz="1400" b="1" i="1" spc="-114">
                <a:latin typeface="Arial"/>
                <a:cs typeface="Arial"/>
              </a:rPr>
              <a:t> </a:t>
            </a:r>
            <a:r>
              <a:rPr sz="1400" b="1" i="1" spc="5">
                <a:latin typeface="Arial"/>
                <a:cs typeface="Arial"/>
              </a:rPr>
              <a:t>:</a:t>
            </a:r>
            <a:r>
              <a:rPr sz="1400" b="1" i="1" spc="30">
                <a:latin typeface="Arial"/>
                <a:cs typeface="Arial"/>
              </a:rPr>
              <a:t> </a:t>
            </a:r>
            <a:r>
              <a:rPr lang="en-US" sz="1400" b="1" i="1" spc="45">
                <a:latin typeface="Arial"/>
                <a:cs typeface="Arial"/>
              </a:rPr>
              <a:t>81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49800"/>
              </a:lnSpc>
              <a:spcBef>
                <a:spcPts val="40"/>
              </a:spcBef>
            </a:pPr>
            <a:r>
              <a:rPr sz="1400" b="1" i="1" spc="35">
                <a:latin typeface="Arial"/>
                <a:cs typeface="Arial"/>
              </a:rPr>
              <a:t>E</a:t>
            </a:r>
            <a:r>
              <a:rPr sz="1400" b="1" i="1" spc="40">
                <a:latin typeface="Arial"/>
                <a:cs typeface="Arial"/>
              </a:rPr>
              <a:t>ndu</a:t>
            </a:r>
            <a:r>
              <a:rPr sz="1400" b="1" i="1" spc="50">
                <a:latin typeface="Arial"/>
                <a:cs typeface="Arial"/>
              </a:rPr>
              <a:t>r</a:t>
            </a:r>
            <a:r>
              <a:rPr sz="1400" b="1" i="1" spc="-30">
                <a:latin typeface="Arial"/>
                <a:cs typeface="Arial"/>
              </a:rPr>
              <a:t>a</a:t>
            </a:r>
            <a:r>
              <a:rPr sz="1400" b="1" i="1" spc="-35">
                <a:latin typeface="Arial"/>
                <a:cs typeface="Arial"/>
              </a:rPr>
              <a:t>n</a:t>
            </a:r>
            <a:r>
              <a:rPr sz="1400" b="1" i="1" spc="45">
                <a:latin typeface="Arial"/>
                <a:cs typeface="Arial"/>
              </a:rPr>
              <a:t>c</a:t>
            </a:r>
            <a:r>
              <a:rPr sz="1400" b="1" i="1" spc="15">
                <a:latin typeface="Arial"/>
                <a:cs typeface="Arial"/>
              </a:rPr>
              <a:t>e</a:t>
            </a:r>
            <a:r>
              <a:rPr sz="1400" b="1" i="1" spc="-210">
                <a:latin typeface="Arial"/>
                <a:cs typeface="Arial"/>
              </a:rPr>
              <a:t> </a:t>
            </a:r>
            <a:r>
              <a:rPr sz="1400" b="1" i="1" spc="45">
                <a:latin typeface="Arial"/>
                <a:cs typeface="Arial"/>
              </a:rPr>
              <a:t>sc</a:t>
            </a:r>
            <a:r>
              <a:rPr sz="1400" b="1" i="1" spc="40">
                <a:latin typeface="Arial"/>
                <a:cs typeface="Arial"/>
              </a:rPr>
              <a:t>o</a:t>
            </a:r>
            <a:r>
              <a:rPr sz="1400" b="1" i="1" spc="50">
                <a:latin typeface="Arial"/>
                <a:cs typeface="Arial"/>
              </a:rPr>
              <a:t>r</a:t>
            </a:r>
            <a:r>
              <a:rPr sz="1400" b="1" i="1" spc="-30">
                <a:latin typeface="Arial"/>
                <a:cs typeface="Arial"/>
              </a:rPr>
              <a:t>e</a:t>
            </a:r>
            <a:r>
              <a:rPr sz="1400" b="1" i="1" spc="5">
                <a:latin typeface="Arial"/>
                <a:cs typeface="Arial"/>
              </a:rPr>
              <a:t>:</a:t>
            </a:r>
            <a:r>
              <a:rPr sz="1400" b="1" i="1" spc="-165">
                <a:latin typeface="Arial"/>
                <a:cs typeface="Arial"/>
              </a:rPr>
              <a:t> </a:t>
            </a:r>
            <a:r>
              <a:rPr sz="1400" b="1" i="1" spc="5">
                <a:latin typeface="Arial"/>
                <a:cs typeface="Arial"/>
              </a:rPr>
              <a:t>-  </a:t>
            </a:r>
            <a:r>
              <a:rPr sz="1400" b="1" i="1" spc="-35">
                <a:latin typeface="Arial"/>
                <a:cs typeface="Arial"/>
              </a:rPr>
              <a:t>T</a:t>
            </a:r>
            <a:r>
              <a:rPr sz="1400" b="1" i="1" spc="40">
                <a:latin typeface="Arial"/>
                <a:cs typeface="Arial"/>
              </a:rPr>
              <a:t>o</a:t>
            </a:r>
            <a:r>
              <a:rPr sz="1400" b="1" i="1" spc="-25">
                <a:latin typeface="Arial"/>
                <a:cs typeface="Arial"/>
              </a:rPr>
              <a:t>t</a:t>
            </a:r>
            <a:r>
              <a:rPr sz="1400" b="1" i="1" spc="45">
                <a:latin typeface="Arial"/>
                <a:cs typeface="Arial"/>
              </a:rPr>
              <a:t>a</a:t>
            </a:r>
            <a:r>
              <a:rPr sz="1400" b="1" i="1" spc="5">
                <a:latin typeface="Arial"/>
                <a:cs typeface="Arial"/>
              </a:rPr>
              <a:t>l</a:t>
            </a:r>
            <a:r>
              <a:rPr sz="1400" b="1" i="1" spc="-114">
                <a:latin typeface="Arial"/>
                <a:cs typeface="Arial"/>
              </a:rPr>
              <a:t> </a:t>
            </a:r>
            <a:r>
              <a:rPr sz="1400" b="1" i="1" spc="45">
                <a:latin typeface="Arial"/>
                <a:cs typeface="Arial"/>
              </a:rPr>
              <a:t>sc</a:t>
            </a:r>
            <a:r>
              <a:rPr sz="1400" b="1" i="1" spc="40">
                <a:latin typeface="Arial"/>
                <a:cs typeface="Arial"/>
              </a:rPr>
              <a:t>o</a:t>
            </a:r>
            <a:r>
              <a:rPr sz="1400" b="1" i="1" spc="50">
                <a:latin typeface="Arial"/>
                <a:cs typeface="Arial"/>
              </a:rPr>
              <a:t>r</a:t>
            </a:r>
            <a:r>
              <a:rPr sz="1400" b="1" i="1" spc="-30">
                <a:latin typeface="Arial"/>
                <a:cs typeface="Arial"/>
              </a:rPr>
              <a:t>e</a:t>
            </a:r>
            <a:r>
              <a:rPr sz="1400" b="1" i="1" spc="5">
                <a:latin typeface="Arial"/>
                <a:cs typeface="Arial"/>
              </a:rPr>
              <a:t>:  </a:t>
            </a:r>
            <a:r>
              <a:rPr sz="1400" b="1" i="1" spc="30">
                <a:latin typeface="Arial"/>
                <a:cs typeface="Arial"/>
              </a:rPr>
              <a:t>A</a:t>
            </a:r>
            <a:r>
              <a:rPr sz="1400" b="1" i="1" spc="-45">
                <a:latin typeface="Arial"/>
                <a:cs typeface="Arial"/>
              </a:rPr>
              <a:t>w</a:t>
            </a:r>
            <a:r>
              <a:rPr sz="1400" b="1" i="1" spc="40">
                <a:latin typeface="Arial"/>
                <a:cs typeface="Arial"/>
              </a:rPr>
              <a:t>a</a:t>
            </a:r>
            <a:r>
              <a:rPr sz="1400" b="1" i="1" spc="45">
                <a:latin typeface="Arial"/>
                <a:cs typeface="Arial"/>
              </a:rPr>
              <a:t>r</a:t>
            </a:r>
            <a:r>
              <a:rPr sz="1400" b="1" i="1" spc="40">
                <a:latin typeface="Arial"/>
                <a:cs typeface="Arial"/>
              </a:rPr>
              <a:t>ds</a:t>
            </a:r>
            <a:r>
              <a:rPr sz="1400" b="1" i="1" spc="5">
                <a:latin typeface="Arial"/>
                <a:cs typeface="Arial"/>
              </a:rPr>
              <a:t>:</a:t>
            </a:r>
            <a:r>
              <a:rPr sz="1400" b="1" i="1" spc="-180">
                <a:latin typeface="Arial"/>
                <a:cs typeface="Arial"/>
              </a:rPr>
              <a:t> </a:t>
            </a:r>
            <a:r>
              <a:rPr sz="1400" b="1" i="1" spc="5">
                <a:latin typeface="Arial"/>
                <a:cs typeface="Arial"/>
              </a:rPr>
              <a:t>-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87716" y="4475416"/>
            <a:ext cx="3926840" cy="67437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400" b="1" spc="40">
                <a:latin typeface="Arial"/>
                <a:cs typeface="Arial"/>
              </a:rPr>
              <a:t>T</a:t>
            </a:r>
            <a:r>
              <a:rPr sz="1400" b="1" spc="45">
                <a:latin typeface="Arial"/>
                <a:cs typeface="Arial"/>
              </a:rPr>
              <a:t>ea</a:t>
            </a:r>
            <a:r>
              <a:rPr sz="1400" b="1" spc="20">
                <a:latin typeface="Arial"/>
                <a:cs typeface="Arial"/>
              </a:rPr>
              <a:t>m</a:t>
            </a:r>
            <a:r>
              <a:rPr sz="1400" b="1" spc="-235">
                <a:latin typeface="Arial"/>
                <a:cs typeface="Arial"/>
              </a:rPr>
              <a:t> </a:t>
            </a:r>
            <a:r>
              <a:rPr sz="1400" b="1" spc="-20">
                <a:latin typeface="Arial"/>
                <a:cs typeface="Arial"/>
              </a:rPr>
              <a:t>I</a:t>
            </a:r>
            <a:r>
              <a:rPr sz="1400" b="1" spc="15">
                <a:latin typeface="Arial"/>
                <a:cs typeface="Arial"/>
              </a:rPr>
              <a:t>D</a:t>
            </a:r>
            <a:r>
              <a:rPr sz="1400" b="1" spc="-75">
                <a:latin typeface="Arial"/>
                <a:cs typeface="Arial"/>
              </a:rPr>
              <a:t> </a:t>
            </a:r>
            <a:r>
              <a:rPr sz="1400" b="1" spc="5">
                <a:latin typeface="Arial"/>
                <a:cs typeface="Arial"/>
              </a:rPr>
              <a:t>:</a:t>
            </a:r>
            <a:r>
              <a:rPr sz="1400" b="1" spc="35">
                <a:latin typeface="Arial"/>
                <a:cs typeface="Arial"/>
              </a:rPr>
              <a:t> </a:t>
            </a:r>
            <a:r>
              <a:rPr sz="1400" b="1" spc="45">
                <a:latin typeface="Arial"/>
                <a:cs typeface="Arial"/>
              </a:rPr>
              <a:t>2</a:t>
            </a:r>
            <a:r>
              <a:rPr lang="en-US" sz="1400" b="1" spc="45">
                <a:latin typeface="Arial"/>
                <a:cs typeface="Arial"/>
              </a:rPr>
              <a:t>4172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400" b="1" spc="30">
                <a:latin typeface="Arial"/>
                <a:cs typeface="Arial"/>
              </a:rPr>
              <a:t>C</a:t>
            </a:r>
            <a:r>
              <a:rPr sz="1400" b="1" spc="40">
                <a:latin typeface="Arial"/>
                <a:cs typeface="Arial"/>
              </a:rPr>
              <a:t>o</a:t>
            </a:r>
            <a:r>
              <a:rPr sz="1400" b="1" spc="-20">
                <a:latin typeface="Arial"/>
                <a:cs typeface="Arial"/>
              </a:rPr>
              <a:t>ll</a:t>
            </a:r>
            <a:r>
              <a:rPr sz="1400" b="1" spc="45">
                <a:latin typeface="Arial"/>
                <a:cs typeface="Arial"/>
              </a:rPr>
              <a:t>e</a:t>
            </a:r>
            <a:r>
              <a:rPr sz="1400" b="1" spc="40">
                <a:latin typeface="Arial"/>
                <a:cs typeface="Arial"/>
              </a:rPr>
              <a:t>g</a:t>
            </a:r>
            <a:r>
              <a:rPr sz="1400" b="1" spc="15">
                <a:latin typeface="Arial"/>
                <a:cs typeface="Arial"/>
              </a:rPr>
              <a:t>e</a:t>
            </a:r>
            <a:r>
              <a:rPr sz="1400" b="1" spc="-125">
                <a:latin typeface="Arial"/>
                <a:cs typeface="Arial"/>
              </a:rPr>
              <a:t> </a:t>
            </a:r>
            <a:r>
              <a:rPr sz="1400" b="1" spc="40">
                <a:latin typeface="Arial"/>
                <a:cs typeface="Arial"/>
              </a:rPr>
              <a:t>n</a:t>
            </a:r>
            <a:r>
              <a:rPr sz="1400" b="1" spc="45">
                <a:latin typeface="Arial"/>
                <a:cs typeface="Arial"/>
              </a:rPr>
              <a:t>a</a:t>
            </a:r>
            <a:r>
              <a:rPr sz="1400" b="1" spc="20">
                <a:latin typeface="Arial"/>
                <a:cs typeface="Arial"/>
              </a:rPr>
              <a:t>m</a:t>
            </a:r>
            <a:r>
              <a:rPr sz="1400" b="1" spc="50">
                <a:latin typeface="Arial"/>
                <a:cs typeface="Arial"/>
              </a:rPr>
              <a:t>e</a:t>
            </a:r>
            <a:r>
              <a:rPr sz="1400" b="1" spc="5">
                <a:latin typeface="Arial"/>
                <a:cs typeface="Arial"/>
              </a:rPr>
              <a:t>:</a:t>
            </a:r>
            <a:r>
              <a:rPr sz="1400" b="1" spc="-190">
                <a:latin typeface="Arial"/>
                <a:cs typeface="Arial"/>
              </a:rPr>
              <a:t> </a:t>
            </a:r>
            <a:r>
              <a:rPr sz="1400" b="1" spc="-40">
                <a:latin typeface="Arial"/>
                <a:cs typeface="Arial"/>
              </a:rPr>
              <a:t>V</a:t>
            </a:r>
            <a:r>
              <a:rPr sz="1400" b="1" spc="45">
                <a:latin typeface="Arial"/>
                <a:cs typeface="Arial"/>
              </a:rPr>
              <a:t>asa</a:t>
            </a:r>
            <a:r>
              <a:rPr sz="1400" b="1" spc="-30">
                <a:latin typeface="Arial"/>
                <a:cs typeface="Arial"/>
              </a:rPr>
              <a:t>v</a:t>
            </a:r>
            <a:r>
              <a:rPr sz="1400" b="1" spc="5">
                <a:latin typeface="Arial"/>
                <a:cs typeface="Arial"/>
              </a:rPr>
              <a:t>i</a:t>
            </a:r>
            <a:r>
              <a:rPr sz="1400" b="1" spc="-180">
                <a:latin typeface="Arial"/>
                <a:cs typeface="Arial"/>
              </a:rPr>
              <a:t> </a:t>
            </a:r>
            <a:r>
              <a:rPr sz="1400" b="1" spc="30">
                <a:latin typeface="Arial"/>
                <a:cs typeface="Arial"/>
              </a:rPr>
              <a:t>C</a:t>
            </a:r>
            <a:r>
              <a:rPr sz="1400" b="1" spc="40">
                <a:latin typeface="Arial"/>
                <a:cs typeface="Arial"/>
              </a:rPr>
              <a:t>o</a:t>
            </a:r>
            <a:r>
              <a:rPr sz="1400" b="1" spc="-20">
                <a:latin typeface="Arial"/>
                <a:cs typeface="Arial"/>
              </a:rPr>
              <a:t>ll</a:t>
            </a:r>
            <a:r>
              <a:rPr sz="1400" b="1" spc="45">
                <a:latin typeface="Arial"/>
                <a:cs typeface="Arial"/>
              </a:rPr>
              <a:t>e</a:t>
            </a:r>
            <a:r>
              <a:rPr sz="1400" b="1" spc="40">
                <a:latin typeface="Arial"/>
                <a:cs typeface="Arial"/>
              </a:rPr>
              <a:t>g</a:t>
            </a:r>
            <a:r>
              <a:rPr sz="1400" b="1" spc="15">
                <a:latin typeface="Arial"/>
                <a:cs typeface="Arial"/>
              </a:rPr>
              <a:t>e</a:t>
            </a:r>
            <a:r>
              <a:rPr sz="1400" b="1" spc="-125">
                <a:latin typeface="Arial"/>
                <a:cs typeface="Arial"/>
              </a:rPr>
              <a:t> </a:t>
            </a:r>
            <a:r>
              <a:rPr sz="1400" b="1" spc="35">
                <a:latin typeface="Arial"/>
                <a:cs typeface="Arial"/>
              </a:rPr>
              <a:t>O</a:t>
            </a:r>
            <a:r>
              <a:rPr sz="1400" b="1" spc="5">
                <a:latin typeface="Arial"/>
                <a:cs typeface="Arial"/>
              </a:rPr>
              <a:t>f</a:t>
            </a:r>
            <a:r>
              <a:rPr sz="1400" b="1" spc="-114">
                <a:latin typeface="Arial"/>
                <a:cs typeface="Arial"/>
              </a:rPr>
              <a:t> </a:t>
            </a:r>
            <a:r>
              <a:rPr sz="1400" b="1" spc="35">
                <a:latin typeface="Arial"/>
                <a:cs typeface="Arial"/>
              </a:rPr>
              <a:t>E</a:t>
            </a:r>
            <a:r>
              <a:rPr sz="1400" b="1" spc="40">
                <a:latin typeface="Arial"/>
                <a:cs typeface="Arial"/>
              </a:rPr>
              <a:t>ng</a:t>
            </a:r>
            <a:r>
              <a:rPr sz="1400" b="1" spc="-20">
                <a:latin typeface="Arial"/>
                <a:cs typeface="Arial"/>
              </a:rPr>
              <a:t>i</a:t>
            </a:r>
            <a:r>
              <a:rPr sz="1400" b="1" spc="40">
                <a:latin typeface="Arial"/>
                <a:cs typeface="Arial"/>
              </a:rPr>
              <a:t>n</a:t>
            </a:r>
            <a:r>
              <a:rPr sz="1400" b="1" spc="45">
                <a:latin typeface="Arial"/>
                <a:cs typeface="Arial"/>
              </a:rPr>
              <a:t>e</a:t>
            </a:r>
            <a:r>
              <a:rPr sz="1400" b="1" spc="-30">
                <a:latin typeface="Arial"/>
                <a:cs typeface="Arial"/>
              </a:rPr>
              <a:t>e</a:t>
            </a:r>
            <a:r>
              <a:rPr sz="1400" b="1" spc="-20">
                <a:latin typeface="Arial"/>
                <a:cs typeface="Arial"/>
              </a:rPr>
              <a:t>ri</a:t>
            </a:r>
            <a:r>
              <a:rPr sz="1400" b="1" spc="40">
                <a:latin typeface="Arial"/>
                <a:cs typeface="Arial"/>
              </a:rPr>
              <a:t>n</a:t>
            </a:r>
            <a:r>
              <a:rPr sz="1400" b="1" spc="-20">
                <a:latin typeface="Arial"/>
                <a:cs typeface="Arial"/>
              </a:rPr>
              <a:t>g</a:t>
            </a:r>
            <a:r>
              <a:rPr sz="1400" b="1" spc="5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522" y="94297"/>
            <a:ext cx="189103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800" b="0" u="none" baseline="46296">
                <a:solidFill>
                  <a:srgbClr val="7E7E7E"/>
                </a:solidFill>
                <a:latin typeface="Calibri"/>
                <a:cs typeface="Calibri"/>
              </a:rPr>
              <a:t>2 </a:t>
            </a:r>
            <a:r>
              <a:rPr sz="1800" b="0" u="none" spc="37" baseline="46296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000" b="0" spc="15">
                <a:latin typeface="Arial MT"/>
                <a:cs typeface="Arial MT"/>
              </a:rPr>
              <a:t>Le</a:t>
            </a:r>
            <a:r>
              <a:rPr sz="2000" b="0" spc="45">
                <a:latin typeface="Arial MT"/>
                <a:cs typeface="Arial MT"/>
              </a:rPr>
              <a:t>ss</a:t>
            </a:r>
            <a:r>
              <a:rPr sz="2000" b="0" spc="15">
                <a:latin typeface="Arial MT"/>
                <a:cs typeface="Arial MT"/>
              </a:rPr>
              <a:t>on</a:t>
            </a:r>
            <a:r>
              <a:rPr sz="2000" b="0" spc="10">
                <a:latin typeface="Arial MT"/>
                <a:cs typeface="Arial MT"/>
              </a:rPr>
              <a:t>s</a:t>
            </a:r>
            <a:r>
              <a:rPr sz="2000" b="0" spc="-145">
                <a:latin typeface="Arial MT"/>
                <a:cs typeface="Arial MT"/>
              </a:rPr>
              <a:t> </a:t>
            </a:r>
            <a:r>
              <a:rPr sz="2000" b="0" spc="10">
                <a:latin typeface="Arial MT"/>
                <a:cs typeface="Arial MT"/>
              </a:rPr>
              <a:t>learnt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522" y="428942"/>
            <a:ext cx="5636895" cy="4729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1800" b="1" spc="35">
                <a:latin typeface="Calibri"/>
                <a:cs typeface="Calibri"/>
              </a:rPr>
              <a:t>R</a:t>
            </a:r>
            <a:r>
              <a:rPr sz="1800" b="1" spc="5">
                <a:latin typeface="Calibri"/>
                <a:cs typeface="Calibri"/>
              </a:rPr>
              <a:t>ol</a:t>
            </a:r>
            <a:r>
              <a:rPr sz="1800" b="1">
                <a:latin typeface="Calibri"/>
                <a:cs typeface="Calibri"/>
              </a:rPr>
              <a:t>l</a:t>
            </a:r>
            <a:r>
              <a:rPr sz="1800" b="1" spc="-105">
                <a:latin typeface="Calibri"/>
                <a:cs typeface="Calibri"/>
              </a:rPr>
              <a:t> </a:t>
            </a:r>
            <a:r>
              <a:rPr sz="1800" b="1" spc="-5">
                <a:latin typeface="Calibri"/>
                <a:cs typeface="Calibri"/>
              </a:rPr>
              <a:t>c</a:t>
            </a:r>
            <a:r>
              <a:rPr sz="1800" b="1">
                <a:latin typeface="Calibri"/>
                <a:cs typeface="Calibri"/>
              </a:rPr>
              <a:t>a</a:t>
            </a:r>
            <a:r>
              <a:rPr sz="1800" b="1" spc="-30">
                <a:latin typeface="Calibri"/>
                <a:cs typeface="Calibri"/>
              </a:rPr>
              <a:t>g</a:t>
            </a:r>
            <a:r>
              <a:rPr sz="1800" b="1" spc="-10">
                <a:latin typeface="Calibri"/>
                <a:cs typeface="Calibri"/>
              </a:rPr>
              <a:t>e</a:t>
            </a:r>
            <a:r>
              <a:rPr sz="1800" b="1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3335" marR="257175">
              <a:lnSpc>
                <a:spcPct val="100800"/>
              </a:lnSpc>
              <a:buSzPct val="94444"/>
              <a:buAutoNum type="arabicPeriod"/>
              <a:tabLst>
                <a:tab pos="186055" algn="l"/>
              </a:tabLst>
            </a:pPr>
            <a:r>
              <a:rPr sz="1800" spc="-5">
                <a:latin typeface="Calibri"/>
                <a:cs typeface="Calibri"/>
              </a:rPr>
              <a:t>By</a:t>
            </a:r>
            <a:r>
              <a:rPr sz="1800" spc="-10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eliminating</a:t>
            </a:r>
            <a:r>
              <a:rPr sz="1800" spc="-200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excessive</a:t>
            </a:r>
            <a:r>
              <a:rPr sz="1800" spc="65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triangulation,</a:t>
            </a:r>
            <a:r>
              <a:rPr sz="1800" spc="-175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the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weight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10">
                <a:latin typeface="Calibri"/>
                <a:cs typeface="Calibri"/>
              </a:rPr>
              <a:t>of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the </a:t>
            </a:r>
            <a:r>
              <a:rPr sz="1800" spc="-39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buggy</a:t>
            </a:r>
            <a:r>
              <a:rPr sz="1800" spc="40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is</a:t>
            </a:r>
            <a:r>
              <a:rPr sz="1800" spc="-65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reduced.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SzPct val="94444"/>
              <a:buAutoNum type="arabicPeriod"/>
              <a:tabLst>
                <a:tab pos="241935" algn="l"/>
              </a:tabLst>
            </a:pPr>
            <a:r>
              <a:rPr sz="1800">
                <a:latin typeface="Calibri"/>
                <a:cs typeface="Calibri"/>
              </a:rPr>
              <a:t>I</a:t>
            </a:r>
            <a:r>
              <a:rPr sz="1800" spc="-20">
                <a:latin typeface="Calibri"/>
                <a:cs typeface="Calibri"/>
              </a:rPr>
              <a:t>m</a:t>
            </a:r>
            <a:r>
              <a:rPr sz="1800" spc="25">
                <a:latin typeface="Calibri"/>
                <a:cs typeface="Calibri"/>
              </a:rPr>
              <a:t>p</a:t>
            </a:r>
            <a:r>
              <a:rPr sz="1800" spc="-30">
                <a:latin typeface="Calibri"/>
                <a:cs typeface="Calibri"/>
              </a:rPr>
              <a:t>r</a:t>
            </a:r>
            <a:r>
              <a:rPr sz="1800" spc="20">
                <a:latin typeface="Calibri"/>
                <a:cs typeface="Calibri"/>
              </a:rPr>
              <a:t>o</a:t>
            </a:r>
            <a:r>
              <a:rPr sz="1800" spc="5">
                <a:latin typeface="Calibri"/>
                <a:cs typeface="Calibri"/>
              </a:rPr>
              <a:t>v</a:t>
            </a:r>
            <a:r>
              <a:rPr sz="1800">
                <a:latin typeface="Calibri"/>
                <a:cs typeface="Calibri"/>
              </a:rPr>
              <a:t>ed</a:t>
            </a:r>
            <a:r>
              <a:rPr sz="1800" spc="-75">
                <a:latin typeface="Calibri"/>
                <a:cs typeface="Calibri"/>
              </a:rPr>
              <a:t> </a:t>
            </a:r>
            <a:r>
              <a:rPr sz="1800" spc="-35">
                <a:latin typeface="Calibri"/>
                <a:cs typeface="Calibri"/>
              </a:rPr>
              <a:t>s</a:t>
            </a:r>
            <a:r>
              <a:rPr sz="1800">
                <a:latin typeface="Calibri"/>
                <a:cs typeface="Calibri"/>
              </a:rPr>
              <a:t>t</a:t>
            </a:r>
            <a:r>
              <a:rPr sz="1800" spc="-35">
                <a:latin typeface="Calibri"/>
                <a:cs typeface="Calibri"/>
              </a:rPr>
              <a:t>r</a:t>
            </a:r>
            <a:r>
              <a:rPr sz="1800">
                <a:latin typeface="Calibri"/>
                <a:cs typeface="Calibri"/>
              </a:rPr>
              <a:t>e</a:t>
            </a:r>
            <a:r>
              <a:rPr sz="1800" spc="30">
                <a:latin typeface="Calibri"/>
                <a:cs typeface="Calibri"/>
              </a:rPr>
              <a:t>n</a:t>
            </a:r>
            <a:r>
              <a:rPr sz="1800" spc="-25">
                <a:latin typeface="Calibri"/>
                <a:cs typeface="Calibri"/>
              </a:rPr>
              <a:t>g</a:t>
            </a:r>
            <a:r>
              <a:rPr sz="1800">
                <a:latin typeface="Calibri"/>
                <a:cs typeface="Calibri"/>
              </a:rPr>
              <a:t>th</a:t>
            </a:r>
            <a:r>
              <a:rPr sz="1800" spc="-1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to</a:t>
            </a:r>
            <a:r>
              <a:rPr sz="1800" spc="-15">
                <a:latin typeface="Calibri"/>
                <a:cs typeface="Calibri"/>
              </a:rPr>
              <a:t> w</a:t>
            </a:r>
            <a:r>
              <a:rPr sz="1800">
                <a:latin typeface="Calibri"/>
                <a:cs typeface="Calibri"/>
              </a:rPr>
              <a:t>e</a:t>
            </a:r>
            <a:r>
              <a:rPr sz="1800" spc="35">
                <a:latin typeface="Calibri"/>
                <a:cs typeface="Calibri"/>
              </a:rPr>
              <a:t>i</a:t>
            </a:r>
            <a:r>
              <a:rPr sz="1800" spc="-25">
                <a:latin typeface="Calibri"/>
                <a:cs typeface="Calibri"/>
              </a:rPr>
              <a:t>g</a:t>
            </a:r>
            <a:r>
              <a:rPr sz="1800" spc="25">
                <a:latin typeface="Calibri"/>
                <a:cs typeface="Calibri"/>
              </a:rPr>
              <a:t>h</a:t>
            </a:r>
            <a:r>
              <a:rPr sz="1800">
                <a:latin typeface="Calibri"/>
                <a:cs typeface="Calibri"/>
              </a:rPr>
              <a:t>t</a:t>
            </a:r>
            <a:r>
              <a:rPr sz="1800" spc="-114">
                <a:latin typeface="Calibri"/>
                <a:cs typeface="Calibri"/>
              </a:rPr>
              <a:t> </a:t>
            </a:r>
            <a:r>
              <a:rPr sz="1800" spc="-30">
                <a:latin typeface="Calibri"/>
                <a:cs typeface="Calibri"/>
              </a:rPr>
              <a:t>r</a:t>
            </a:r>
            <a:r>
              <a:rPr sz="1800" spc="30">
                <a:latin typeface="Calibri"/>
                <a:cs typeface="Calibri"/>
              </a:rPr>
              <a:t>a</a:t>
            </a:r>
            <a:r>
              <a:rPr sz="1800">
                <a:latin typeface="Calibri"/>
                <a:cs typeface="Calibri"/>
              </a:rPr>
              <a:t>t</a:t>
            </a:r>
            <a:r>
              <a:rPr sz="1800" spc="30">
                <a:latin typeface="Calibri"/>
                <a:cs typeface="Calibri"/>
              </a:rPr>
              <a:t>i</a:t>
            </a:r>
            <a:r>
              <a:rPr sz="1800">
                <a:latin typeface="Calibri"/>
                <a:cs typeface="Calibri"/>
              </a:rPr>
              <a:t>o</a:t>
            </a:r>
            <a:r>
              <a:rPr sz="1800" spc="-85">
                <a:latin typeface="Calibri"/>
                <a:cs typeface="Calibri"/>
              </a:rPr>
              <a:t> </a:t>
            </a:r>
            <a:r>
              <a:rPr sz="1800" spc="25">
                <a:latin typeface="Calibri"/>
                <a:cs typeface="Calibri"/>
              </a:rPr>
              <a:t>b</a:t>
            </a:r>
            <a:r>
              <a:rPr sz="1800">
                <a:latin typeface="Calibri"/>
                <a:cs typeface="Calibri"/>
              </a:rPr>
              <a:t>y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80</a:t>
            </a:r>
            <a:r>
              <a:rPr sz="1800">
                <a:latin typeface="Calibri"/>
                <a:cs typeface="Calibri"/>
              </a:rPr>
              <a:t>%</a:t>
            </a:r>
            <a:endParaRPr lang="en-US"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SzPct val="94444"/>
              <a:buAutoNum type="arabicPeriod"/>
              <a:tabLst>
                <a:tab pos="241935" algn="l"/>
              </a:tabLst>
            </a:pPr>
            <a:r>
              <a:rPr lang="en-IN" sz="1800">
                <a:latin typeface="Calibri"/>
                <a:cs typeface="Calibri"/>
              </a:rPr>
              <a:t>More clearances are given in the chassis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</a:pPr>
            <a:r>
              <a:rPr sz="1800" b="1" spc="-90">
                <a:latin typeface="Calibri"/>
                <a:cs typeface="Calibri"/>
              </a:rPr>
              <a:t>V</a:t>
            </a:r>
            <a:r>
              <a:rPr sz="1800" b="1" spc="-10">
                <a:latin typeface="Calibri"/>
                <a:cs typeface="Calibri"/>
              </a:rPr>
              <a:t>e</a:t>
            </a:r>
            <a:r>
              <a:rPr sz="1800" b="1" spc="5">
                <a:latin typeface="Calibri"/>
                <a:cs typeface="Calibri"/>
              </a:rPr>
              <a:t>hi</a:t>
            </a:r>
            <a:r>
              <a:rPr sz="1800" b="1" spc="-5">
                <a:latin typeface="Calibri"/>
                <a:cs typeface="Calibri"/>
              </a:rPr>
              <a:t>cle</a:t>
            </a:r>
            <a:r>
              <a:rPr sz="1800" b="1" spc="20">
                <a:latin typeface="Calibri"/>
                <a:cs typeface="Calibri"/>
              </a:rPr>
              <a:t>'</a:t>
            </a:r>
            <a:r>
              <a:rPr sz="1800" b="1">
                <a:latin typeface="Calibri"/>
                <a:cs typeface="Calibri"/>
              </a:rPr>
              <a:t>s</a:t>
            </a:r>
            <a:r>
              <a:rPr sz="1800" b="1" spc="-80">
                <a:latin typeface="Calibri"/>
                <a:cs typeface="Calibri"/>
              </a:rPr>
              <a:t> </a:t>
            </a:r>
            <a:r>
              <a:rPr sz="1800" b="1" spc="15">
                <a:latin typeface="Calibri"/>
                <a:cs typeface="Calibri"/>
              </a:rPr>
              <a:t>P</a:t>
            </a:r>
            <a:r>
              <a:rPr sz="1800" b="1" spc="-10">
                <a:latin typeface="Calibri"/>
                <a:cs typeface="Calibri"/>
              </a:rPr>
              <a:t>e</a:t>
            </a:r>
            <a:r>
              <a:rPr sz="1800" b="1" spc="30">
                <a:latin typeface="Calibri"/>
                <a:cs typeface="Calibri"/>
              </a:rPr>
              <a:t>r</a:t>
            </a:r>
            <a:r>
              <a:rPr sz="1800" b="1" spc="25">
                <a:latin typeface="Calibri"/>
                <a:cs typeface="Calibri"/>
              </a:rPr>
              <a:t>f</a:t>
            </a:r>
            <a:r>
              <a:rPr sz="1800" b="1" spc="5">
                <a:latin typeface="Calibri"/>
                <a:cs typeface="Calibri"/>
              </a:rPr>
              <a:t>o</a:t>
            </a:r>
            <a:r>
              <a:rPr sz="1800" b="1" spc="30">
                <a:latin typeface="Calibri"/>
                <a:cs typeface="Calibri"/>
              </a:rPr>
              <a:t>r</a:t>
            </a:r>
            <a:r>
              <a:rPr sz="1800" b="1" spc="35">
                <a:latin typeface="Calibri"/>
                <a:cs typeface="Calibri"/>
              </a:rPr>
              <a:t>m</a:t>
            </a:r>
            <a:r>
              <a:rPr sz="1800" b="1" spc="5">
                <a:latin typeface="Calibri"/>
                <a:cs typeface="Calibri"/>
              </a:rPr>
              <a:t>an</a:t>
            </a:r>
            <a:r>
              <a:rPr sz="1800" b="1" spc="-5">
                <a:latin typeface="Calibri"/>
                <a:cs typeface="Calibri"/>
              </a:rPr>
              <a:t>c</a:t>
            </a:r>
            <a:r>
              <a:rPr sz="1800" b="1">
                <a:latin typeface="Calibri"/>
                <a:cs typeface="Calibri"/>
              </a:rPr>
              <a:t>e</a:t>
            </a:r>
            <a:r>
              <a:rPr sz="1800" b="1" spc="-195">
                <a:latin typeface="Calibri"/>
                <a:cs typeface="Calibri"/>
              </a:rPr>
              <a:t> </a:t>
            </a:r>
            <a:r>
              <a:rPr sz="1800" b="1" spc="5">
                <a:latin typeface="Calibri"/>
                <a:cs typeface="Calibri"/>
              </a:rPr>
              <a:t>i</a:t>
            </a:r>
            <a:r>
              <a:rPr sz="1800" b="1">
                <a:latin typeface="Calibri"/>
                <a:cs typeface="Calibri"/>
              </a:rPr>
              <a:t>n</a:t>
            </a:r>
            <a:r>
              <a:rPr sz="1800" b="1" spc="-25">
                <a:latin typeface="Calibri"/>
                <a:cs typeface="Calibri"/>
              </a:rPr>
              <a:t> </a:t>
            </a:r>
            <a:r>
              <a:rPr sz="1800" b="1">
                <a:latin typeface="Calibri"/>
                <a:cs typeface="Calibri"/>
              </a:rPr>
              <a:t>M</a:t>
            </a:r>
            <a:r>
              <a:rPr sz="1800" b="1" spc="5">
                <a:latin typeface="Calibri"/>
                <a:cs typeface="Calibri"/>
              </a:rPr>
              <a:t>ai</a:t>
            </a:r>
            <a:r>
              <a:rPr sz="1800" b="1">
                <a:latin typeface="Calibri"/>
                <a:cs typeface="Calibri"/>
              </a:rPr>
              <a:t>n</a:t>
            </a:r>
            <a:r>
              <a:rPr sz="1800" b="1" spc="-25">
                <a:latin typeface="Calibri"/>
                <a:cs typeface="Calibri"/>
              </a:rPr>
              <a:t> </a:t>
            </a:r>
            <a:r>
              <a:rPr sz="1800" b="1" spc="-55">
                <a:latin typeface="Calibri"/>
                <a:cs typeface="Calibri"/>
              </a:rPr>
              <a:t>E</a:t>
            </a:r>
            <a:r>
              <a:rPr sz="1800" b="1" spc="-30">
                <a:latin typeface="Calibri"/>
                <a:cs typeface="Calibri"/>
              </a:rPr>
              <a:t>v</a:t>
            </a:r>
            <a:r>
              <a:rPr sz="1800" b="1" spc="-10">
                <a:latin typeface="Calibri"/>
                <a:cs typeface="Calibri"/>
              </a:rPr>
              <a:t>e</a:t>
            </a:r>
            <a:r>
              <a:rPr sz="1800" b="1" spc="5">
                <a:latin typeface="Calibri"/>
                <a:cs typeface="Calibri"/>
              </a:rPr>
              <a:t>n</a:t>
            </a:r>
            <a:r>
              <a:rPr sz="1800" b="1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  <a:p>
            <a:pPr marL="127635" indent="-114935">
              <a:lnSpc>
                <a:spcPct val="100000"/>
              </a:lnSpc>
              <a:spcBef>
                <a:spcPts val="20"/>
              </a:spcBef>
              <a:buSzPct val="94444"/>
              <a:buChar char="•"/>
              <a:tabLst>
                <a:tab pos="128270" algn="l"/>
              </a:tabLst>
            </a:pPr>
            <a:r>
              <a:rPr sz="1800" spc="10">
                <a:latin typeface="Calibri"/>
                <a:cs typeface="Calibri"/>
              </a:rPr>
              <a:t>C</a:t>
            </a:r>
            <a:r>
              <a:rPr sz="1800" spc="35">
                <a:latin typeface="Calibri"/>
                <a:cs typeface="Calibri"/>
              </a:rPr>
              <a:t>l</a:t>
            </a:r>
            <a:r>
              <a:rPr sz="1800">
                <a:latin typeface="Calibri"/>
                <a:cs typeface="Calibri"/>
              </a:rPr>
              <a:t>e</a:t>
            </a:r>
            <a:r>
              <a:rPr sz="1800" spc="40">
                <a:latin typeface="Calibri"/>
                <a:cs typeface="Calibri"/>
              </a:rPr>
              <a:t>a</a:t>
            </a:r>
            <a:r>
              <a:rPr sz="1800" spc="-30">
                <a:latin typeface="Calibri"/>
                <a:cs typeface="Calibri"/>
              </a:rPr>
              <a:t>r</a:t>
            </a:r>
            <a:r>
              <a:rPr sz="1800">
                <a:latin typeface="Calibri"/>
                <a:cs typeface="Calibri"/>
              </a:rPr>
              <a:t>ed</a:t>
            </a:r>
            <a:r>
              <a:rPr sz="1800" spc="-70">
                <a:latin typeface="Calibri"/>
                <a:cs typeface="Calibri"/>
              </a:rPr>
              <a:t> </a:t>
            </a:r>
            <a:r>
              <a:rPr sz="1800" spc="-130">
                <a:latin typeface="Calibri"/>
                <a:cs typeface="Calibri"/>
              </a:rPr>
              <a:t>T</a:t>
            </a:r>
            <a:r>
              <a:rPr sz="1800">
                <a:latin typeface="Calibri"/>
                <a:cs typeface="Calibri"/>
              </a:rPr>
              <a:t>ec</a:t>
            </a:r>
            <a:r>
              <a:rPr sz="1800" spc="20">
                <a:latin typeface="Calibri"/>
                <a:cs typeface="Calibri"/>
              </a:rPr>
              <a:t>h</a:t>
            </a:r>
            <a:r>
              <a:rPr sz="1800" spc="25">
                <a:latin typeface="Calibri"/>
                <a:cs typeface="Calibri"/>
              </a:rPr>
              <a:t>n</a:t>
            </a:r>
            <a:r>
              <a:rPr sz="1800" spc="35">
                <a:latin typeface="Calibri"/>
                <a:cs typeface="Calibri"/>
              </a:rPr>
              <a:t>i</a:t>
            </a:r>
            <a:r>
              <a:rPr sz="1800" spc="-15">
                <a:latin typeface="Calibri"/>
                <a:cs typeface="Calibri"/>
              </a:rPr>
              <a:t>c</a:t>
            </a:r>
            <a:r>
              <a:rPr sz="1800" spc="35">
                <a:latin typeface="Calibri"/>
                <a:cs typeface="Calibri"/>
              </a:rPr>
              <a:t>a</a:t>
            </a:r>
            <a:r>
              <a:rPr sz="1800">
                <a:latin typeface="Calibri"/>
                <a:cs typeface="Calibri"/>
              </a:rPr>
              <a:t>l</a:t>
            </a:r>
            <a:r>
              <a:rPr sz="1800" spc="-145">
                <a:latin typeface="Calibri"/>
                <a:cs typeface="Calibri"/>
              </a:rPr>
              <a:t> </a:t>
            </a:r>
            <a:r>
              <a:rPr sz="1800" spc="35">
                <a:latin typeface="Calibri"/>
                <a:cs typeface="Calibri"/>
              </a:rPr>
              <a:t>i</a:t>
            </a:r>
            <a:r>
              <a:rPr sz="1800" spc="25">
                <a:latin typeface="Calibri"/>
                <a:cs typeface="Calibri"/>
              </a:rPr>
              <a:t>n</a:t>
            </a:r>
            <a:r>
              <a:rPr sz="1800" spc="-30">
                <a:latin typeface="Calibri"/>
                <a:cs typeface="Calibri"/>
              </a:rPr>
              <a:t>s</a:t>
            </a:r>
            <a:r>
              <a:rPr sz="1800" spc="25">
                <a:latin typeface="Calibri"/>
                <a:cs typeface="Calibri"/>
              </a:rPr>
              <a:t>p</a:t>
            </a:r>
            <a:r>
              <a:rPr sz="1800">
                <a:latin typeface="Calibri"/>
                <a:cs typeface="Calibri"/>
              </a:rPr>
              <a:t>ec</a:t>
            </a:r>
            <a:r>
              <a:rPr sz="1800" spc="-10">
                <a:latin typeface="Calibri"/>
                <a:cs typeface="Calibri"/>
              </a:rPr>
              <a:t>t</a:t>
            </a:r>
            <a:r>
              <a:rPr sz="1800" spc="35">
                <a:latin typeface="Calibri"/>
                <a:cs typeface="Calibri"/>
              </a:rPr>
              <a:t>i</a:t>
            </a:r>
            <a:r>
              <a:rPr sz="1800" spc="20">
                <a:latin typeface="Calibri"/>
                <a:cs typeface="Calibri"/>
              </a:rPr>
              <a:t>o</a:t>
            </a:r>
            <a:r>
              <a:rPr sz="1800" spc="25">
                <a:latin typeface="Calibri"/>
                <a:cs typeface="Calibri"/>
              </a:rPr>
              <a:t>n</a:t>
            </a:r>
            <a:r>
              <a:rPr sz="1800">
                <a:latin typeface="Calibri"/>
                <a:cs typeface="Calibri"/>
              </a:rPr>
              <a:t>.</a:t>
            </a:r>
          </a:p>
          <a:p>
            <a:pPr marL="128270" marR="434975" indent="-128270">
              <a:lnSpc>
                <a:spcPts val="2180"/>
              </a:lnSpc>
              <a:spcBef>
                <a:spcPts val="75"/>
              </a:spcBef>
              <a:buSzPct val="94444"/>
              <a:buChar char="•"/>
              <a:tabLst>
                <a:tab pos="128270" algn="l"/>
              </a:tabLst>
            </a:pPr>
            <a:r>
              <a:rPr sz="1800" spc="5">
                <a:latin typeface="Calibri"/>
                <a:cs typeface="Calibri"/>
              </a:rPr>
              <a:t>Failed</a:t>
            </a:r>
            <a:r>
              <a:rPr sz="1800" spc="-80">
                <a:latin typeface="Calibri"/>
                <a:cs typeface="Calibri"/>
              </a:rPr>
              <a:t> </a:t>
            </a:r>
            <a:r>
              <a:rPr lang="en-US" spc="15">
                <a:latin typeface="Calibri"/>
                <a:cs typeface="Calibri"/>
              </a:rPr>
              <a:t>to attend the brake test.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en-US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5">
                <a:latin typeface="Calibri"/>
                <a:cs typeface="Calibri"/>
              </a:rPr>
              <a:t>Breakdowns/Failures-:</a:t>
            </a:r>
            <a:endParaRPr sz="1800">
              <a:latin typeface="Calibri"/>
              <a:cs typeface="Calibri"/>
            </a:endParaRPr>
          </a:p>
          <a:p>
            <a:pPr marL="12700" marR="260985">
              <a:lnSpc>
                <a:spcPts val="2180"/>
              </a:lnSpc>
              <a:spcBef>
                <a:spcPts val="75"/>
              </a:spcBef>
              <a:buAutoNum type="arabicPeriod"/>
              <a:tabLst>
                <a:tab pos="242570" algn="l"/>
              </a:tabLst>
            </a:pPr>
            <a:r>
              <a:rPr sz="1800" spc="5">
                <a:latin typeface="Calibri"/>
                <a:cs typeface="Calibri"/>
              </a:rPr>
              <a:t>Scrutinizing</a:t>
            </a:r>
            <a:r>
              <a:rPr sz="1800" spc="-130">
                <a:latin typeface="Calibri"/>
                <a:cs typeface="Calibri"/>
              </a:rPr>
              <a:t> </a:t>
            </a:r>
            <a:r>
              <a:rPr sz="1800" spc="10">
                <a:latin typeface="Calibri"/>
                <a:cs typeface="Calibri"/>
              </a:rPr>
              <a:t>of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the</a:t>
            </a:r>
            <a:r>
              <a:rPr sz="1800" spc="55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vehicle</a:t>
            </a:r>
            <a:r>
              <a:rPr sz="1800" spc="-100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was</a:t>
            </a:r>
            <a:r>
              <a:rPr sz="1800" spc="-60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d</a:t>
            </a:r>
            <a:r>
              <a:rPr lang="en-US" sz="1800" spc="15">
                <a:latin typeface="Calibri"/>
                <a:cs typeface="Calibri"/>
              </a:rPr>
              <a:t>one</a:t>
            </a:r>
            <a:endParaRPr sz="1800">
              <a:latin typeface="Calibri"/>
              <a:cs typeface="Calibri"/>
            </a:endParaRPr>
          </a:p>
          <a:p>
            <a:pPr marL="241300" indent="-229235">
              <a:lnSpc>
                <a:spcPts val="2100"/>
              </a:lnSpc>
              <a:buAutoNum type="arabicPeriod"/>
              <a:tabLst>
                <a:tab pos="241935" algn="l"/>
              </a:tabLst>
            </a:pPr>
            <a:r>
              <a:rPr sz="1800" spc="10">
                <a:latin typeface="Calibri"/>
                <a:cs typeface="Calibri"/>
              </a:rPr>
              <a:t>During</a:t>
            </a:r>
            <a:r>
              <a:rPr sz="1800" spc="-135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the</a:t>
            </a:r>
            <a:r>
              <a:rPr sz="1800" spc="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testing,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we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figured </a:t>
            </a:r>
            <a:r>
              <a:rPr sz="1800" spc="15">
                <a:latin typeface="Calibri"/>
                <a:cs typeface="Calibri"/>
              </a:rPr>
              <a:t>out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35">
                <a:latin typeface="Calibri"/>
                <a:cs typeface="Calibri"/>
              </a:rPr>
              <a:t>few</a:t>
            </a:r>
            <a:r>
              <a:rPr sz="1800" spc="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failures,</a:t>
            </a:r>
            <a:r>
              <a:rPr sz="1800" spc="-110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which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  <a:spcBef>
                <a:spcPts val="20"/>
              </a:spcBef>
            </a:pPr>
            <a:r>
              <a:rPr sz="1800" spc="-10">
                <a:latin typeface="Calibri"/>
                <a:cs typeface="Calibri"/>
              </a:rPr>
              <a:t>were</a:t>
            </a:r>
            <a:r>
              <a:rPr sz="1800" spc="-7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:</a:t>
            </a:r>
          </a:p>
          <a:p>
            <a:pPr marL="193675" marR="33655" lvl="1">
              <a:lnSpc>
                <a:spcPts val="2180"/>
              </a:lnSpc>
              <a:spcBef>
                <a:spcPts val="25"/>
              </a:spcBef>
              <a:buFont typeface="Arial MT"/>
              <a:buChar char="•"/>
              <a:tabLst>
                <a:tab pos="327660" algn="l"/>
              </a:tabLst>
            </a:pPr>
            <a:r>
              <a:rPr lang="en-US" sz="1800" spc="-5">
                <a:latin typeface="Calibri"/>
                <a:cs typeface="Calibri"/>
              </a:rPr>
              <a:t>Camber in the rear right wheel</a:t>
            </a:r>
            <a:endParaRPr sz="1800">
              <a:latin typeface="Calibri"/>
              <a:cs typeface="Calibri"/>
            </a:endParaRPr>
          </a:p>
          <a:p>
            <a:pPr marL="279400" lvl="1" indent="-86360">
              <a:lnSpc>
                <a:spcPts val="2100"/>
              </a:lnSpc>
              <a:buFont typeface="Arial MT"/>
              <a:buChar char="•"/>
              <a:tabLst>
                <a:tab pos="280035" algn="l"/>
              </a:tabLst>
            </a:pPr>
            <a:r>
              <a:rPr sz="1800" spc="10">
                <a:latin typeface="Calibri"/>
                <a:cs typeface="Calibri"/>
              </a:rPr>
              <a:t>Due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to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manufacturing</a:t>
            </a:r>
            <a:r>
              <a:rPr sz="1800" spc="-204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errors,</a:t>
            </a:r>
            <a:r>
              <a:rPr sz="1800" spc="45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there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was</a:t>
            </a:r>
            <a:r>
              <a:rPr sz="1800" spc="15">
                <a:latin typeface="Calibri"/>
                <a:cs typeface="Calibri"/>
              </a:rPr>
              <a:t> quite</a:t>
            </a:r>
            <a:r>
              <a:rPr sz="1800" spc="-110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an</a:t>
            </a:r>
            <a:r>
              <a:rPr sz="1800" spc="-85">
                <a:latin typeface="Calibri"/>
                <a:cs typeface="Calibri"/>
              </a:rPr>
              <a:t> </a:t>
            </a:r>
            <a:r>
              <a:rPr sz="1800" spc="10">
                <a:latin typeface="Calibri"/>
                <a:cs typeface="Calibri"/>
              </a:rPr>
              <a:t>abrasion</a:t>
            </a:r>
            <a:endParaRPr sz="1800">
              <a:latin typeface="Calibri"/>
              <a:cs typeface="Calibri"/>
            </a:endParaRPr>
          </a:p>
          <a:p>
            <a:pPr marL="193675">
              <a:lnSpc>
                <a:spcPct val="100000"/>
              </a:lnSpc>
              <a:spcBef>
                <a:spcPts val="20"/>
              </a:spcBef>
            </a:pPr>
            <a:r>
              <a:rPr sz="1800" spc="35">
                <a:latin typeface="Calibri"/>
                <a:cs typeface="Calibri"/>
              </a:rPr>
              <a:t>i</a:t>
            </a:r>
            <a:r>
              <a:rPr sz="1800">
                <a:latin typeface="Calibri"/>
                <a:cs typeface="Calibri"/>
              </a:rPr>
              <a:t>n</a:t>
            </a:r>
            <a:r>
              <a:rPr sz="1800" spc="-1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</a:t>
            </a:r>
            <a:r>
              <a:rPr sz="1800" spc="20">
                <a:latin typeface="Calibri"/>
                <a:cs typeface="Calibri"/>
              </a:rPr>
              <a:t>h</a:t>
            </a:r>
            <a:r>
              <a:rPr sz="1800">
                <a:latin typeface="Calibri"/>
                <a:cs typeface="Calibri"/>
              </a:rPr>
              <a:t>e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m</a:t>
            </a:r>
            <a:r>
              <a:rPr sz="1800" spc="30">
                <a:latin typeface="Calibri"/>
                <a:cs typeface="Calibri"/>
              </a:rPr>
              <a:t>a</a:t>
            </a:r>
            <a:r>
              <a:rPr sz="1800" spc="-15">
                <a:latin typeface="Calibri"/>
                <a:cs typeface="Calibri"/>
              </a:rPr>
              <a:t>c</a:t>
            </a:r>
            <a:r>
              <a:rPr sz="1800" spc="25">
                <a:latin typeface="Calibri"/>
                <a:cs typeface="Calibri"/>
              </a:rPr>
              <a:t>h</a:t>
            </a:r>
            <a:r>
              <a:rPr sz="1800" spc="35">
                <a:latin typeface="Calibri"/>
                <a:cs typeface="Calibri"/>
              </a:rPr>
              <a:t>i</a:t>
            </a:r>
            <a:r>
              <a:rPr sz="1800" spc="25">
                <a:latin typeface="Calibri"/>
                <a:cs typeface="Calibri"/>
              </a:rPr>
              <a:t>n</a:t>
            </a:r>
            <a:r>
              <a:rPr sz="1800" spc="35">
                <a:latin typeface="Calibri"/>
                <a:cs typeface="Calibri"/>
              </a:rPr>
              <a:t>i</a:t>
            </a:r>
            <a:r>
              <a:rPr sz="1800" spc="25">
                <a:latin typeface="Calibri"/>
                <a:cs typeface="Calibri"/>
              </a:rPr>
              <a:t>n</a:t>
            </a:r>
            <a:r>
              <a:rPr sz="1800">
                <a:latin typeface="Calibri"/>
                <a:cs typeface="Calibri"/>
              </a:rPr>
              <a:t>g</a:t>
            </a:r>
            <a:r>
              <a:rPr sz="1800" spc="-204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c</a:t>
            </a:r>
            <a:r>
              <a:rPr sz="1800" spc="20">
                <a:latin typeface="Calibri"/>
                <a:cs typeface="Calibri"/>
              </a:rPr>
              <a:t>o</a:t>
            </a:r>
            <a:r>
              <a:rPr sz="1800" spc="-15">
                <a:latin typeface="Calibri"/>
                <a:cs typeface="Calibri"/>
              </a:rPr>
              <a:t>m</a:t>
            </a:r>
            <a:r>
              <a:rPr sz="1800" spc="25">
                <a:latin typeface="Calibri"/>
                <a:cs typeface="Calibri"/>
              </a:rPr>
              <a:t>p</a:t>
            </a:r>
            <a:r>
              <a:rPr sz="1800" spc="20">
                <a:latin typeface="Calibri"/>
                <a:cs typeface="Calibri"/>
              </a:rPr>
              <a:t>o</a:t>
            </a:r>
            <a:r>
              <a:rPr sz="1800" spc="25">
                <a:latin typeface="Calibri"/>
                <a:cs typeface="Calibri"/>
              </a:rPr>
              <a:t>n</a:t>
            </a:r>
            <a:r>
              <a:rPr sz="1800">
                <a:latin typeface="Calibri"/>
                <a:cs typeface="Calibri"/>
              </a:rPr>
              <a:t>e</a:t>
            </a:r>
            <a:r>
              <a:rPr sz="1800" spc="25">
                <a:latin typeface="Calibri"/>
                <a:cs typeface="Calibri"/>
              </a:rPr>
              <a:t>n</a:t>
            </a:r>
            <a:r>
              <a:rPr sz="1800">
                <a:latin typeface="Calibri"/>
                <a:cs typeface="Calibri"/>
              </a:rPr>
              <a:t>t</a:t>
            </a:r>
            <a:r>
              <a:rPr sz="1800" spc="-35">
                <a:latin typeface="Calibri"/>
                <a:cs typeface="Calibri"/>
              </a:rPr>
              <a:t>s</a:t>
            </a:r>
            <a:r>
              <a:rPr sz="1800">
                <a:latin typeface="Calibri"/>
                <a:cs typeface="Calibri"/>
              </a:rPr>
              <a:t>.</a:t>
            </a:r>
            <a:endParaRPr lang="en-US"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59220" y="339153"/>
            <a:ext cx="5454650" cy="223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>
                <a:latin typeface="Calibri"/>
                <a:cs typeface="Calibri"/>
              </a:rPr>
              <a:t>Improvements</a:t>
            </a:r>
            <a:r>
              <a:rPr sz="1800" spc="-5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240665" indent="-22860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241300" algn="l"/>
              </a:tabLst>
            </a:pPr>
            <a:r>
              <a:rPr lang="en-US" sz="1800">
                <a:latin typeface="Calibri"/>
                <a:cs typeface="Calibri"/>
              </a:rPr>
              <a:t>Better clamp lengths for suspension </a:t>
            </a:r>
            <a:endParaRPr sz="1800">
              <a:latin typeface="Calibri"/>
              <a:cs typeface="Calibri"/>
            </a:endParaRPr>
          </a:p>
          <a:p>
            <a:pPr marL="12700" marR="249554">
              <a:lnSpc>
                <a:spcPts val="2180"/>
              </a:lnSpc>
              <a:spcBef>
                <a:spcPts val="70"/>
              </a:spcBef>
              <a:buAutoNum type="arabicPeriod"/>
              <a:tabLst>
                <a:tab pos="241300" algn="l"/>
              </a:tabLst>
            </a:pPr>
            <a:r>
              <a:rPr sz="1800" spc="-5">
                <a:latin typeface="Calibri"/>
                <a:cs typeface="Calibri"/>
              </a:rPr>
              <a:t>Proper</a:t>
            </a:r>
            <a:r>
              <a:rPr sz="1800" spc="-60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validation,</a:t>
            </a:r>
            <a:r>
              <a:rPr sz="1800" spc="-18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quality,</a:t>
            </a:r>
            <a:r>
              <a:rPr sz="1800" spc="-185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and</a:t>
            </a:r>
            <a:r>
              <a:rPr sz="1800" spc="-8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testing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10">
                <a:latin typeface="Calibri"/>
                <a:cs typeface="Calibri"/>
              </a:rPr>
              <a:t>should</a:t>
            </a:r>
            <a:r>
              <a:rPr sz="1800" spc="-85">
                <a:latin typeface="Calibri"/>
                <a:cs typeface="Calibri"/>
              </a:rPr>
              <a:t> </a:t>
            </a:r>
            <a:r>
              <a:rPr sz="1800" spc="10">
                <a:latin typeface="Calibri"/>
                <a:cs typeface="Calibri"/>
              </a:rPr>
              <a:t>be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done </a:t>
            </a:r>
            <a:r>
              <a:rPr sz="1800" spc="-39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after</a:t>
            </a:r>
            <a:r>
              <a:rPr sz="1800" spc="-70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machining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ts val="2100"/>
              </a:lnSpc>
              <a:spcBef>
                <a:spcPts val="65"/>
              </a:spcBef>
              <a:buAutoNum type="arabicPeriod"/>
              <a:tabLst>
                <a:tab pos="241300" algn="l"/>
              </a:tabLst>
            </a:pPr>
            <a:r>
              <a:rPr sz="1800" spc="5">
                <a:latin typeface="Calibri"/>
                <a:cs typeface="Calibri"/>
              </a:rPr>
              <a:t>Reduce</a:t>
            </a:r>
            <a:r>
              <a:rPr sz="1800" spc="-105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the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manufacturing</a:t>
            </a:r>
            <a:r>
              <a:rPr sz="1800" spc="-130">
                <a:latin typeface="Calibri"/>
                <a:cs typeface="Calibri"/>
              </a:rPr>
              <a:t> </a:t>
            </a:r>
            <a:r>
              <a:rPr sz="1800" spc="-15">
                <a:latin typeface="Calibri"/>
                <a:cs typeface="Calibri"/>
              </a:rPr>
              <a:t>errors</a:t>
            </a:r>
            <a:r>
              <a:rPr sz="1800" spc="10">
                <a:latin typeface="Calibri"/>
                <a:cs typeface="Calibri"/>
              </a:rPr>
              <a:t> by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10">
                <a:latin typeface="Calibri"/>
                <a:cs typeface="Calibri"/>
              </a:rPr>
              <a:t>preparing</a:t>
            </a:r>
            <a:r>
              <a:rPr sz="1800" spc="-130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more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jigs </a:t>
            </a:r>
            <a:r>
              <a:rPr sz="1800" spc="-390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and</a:t>
            </a:r>
            <a:r>
              <a:rPr sz="1800" spc="-90">
                <a:latin typeface="Calibri"/>
                <a:cs typeface="Calibri"/>
              </a:rPr>
              <a:t> </a:t>
            </a:r>
            <a:r>
              <a:rPr sz="1800" spc="-5">
                <a:latin typeface="Calibri"/>
                <a:cs typeface="Calibri"/>
              </a:rPr>
              <a:t>fixtures</a:t>
            </a:r>
            <a:endParaRPr sz="1800">
              <a:latin typeface="Calibri"/>
              <a:cs typeface="Calibri"/>
            </a:endParaRPr>
          </a:p>
          <a:p>
            <a:pPr marL="240665" indent="-228600">
              <a:lnSpc>
                <a:spcPts val="2120"/>
              </a:lnSpc>
              <a:buAutoNum type="arabicPeriod"/>
              <a:tabLst>
                <a:tab pos="241300" algn="l"/>
              </a:tabLst>
            </a:pPr>
            <a:r>
              <a:rPr sz="1800" spc="5">
                <a:latin typeface="Calibri"/>
                <a:cs typeface="Calibri"/>
              </a:rPr>
              <a:t>More</a:t>
            </a:r>
            <a:r>
              <a:rPr sz="1800" spc="-10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time</a:t>
            </a:r>
            <a:r>
              <a:rPr sz="1800" spc="50">
                <a:latin typeface="Calibri"/>
                <a:cs typeface="Calibri"/>
              </a:rPr>
              <a:t> </a:t>
            </a:r>
            <a:r>
              <a:rPr sz="1800" spc="15">
                <a:latin typeface="Calibri"/>
                <a:cs typeface="Calibri"/>
              </a:rPr>
              <a:t>is</a:t>
            </a:r>
            <a:r>
              <a:rPr sz="1800" spc="-6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required</a:t>
            </a:r>
            <a:r>
              <a:rPr sz="1800" spc="-75">
                <a:latin typeface="Calibri"/>
                <a:cs typeface="Calibri"/>
              </a:rPr>
              <a:t> </a:t>
            </a:r>
            <a:r>
              <a:rPr sz="1800" spc="-30">
                <a:latin typeface="Calibri"/>
                <a:cs typeface="Calibri"/>
              </a:rPr>
              <a:t>for</a:t>
            </a:r>
            <a:r>
              <a:rPr sz="1800" spc="1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testing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5">
                <a:latin typeface="Calibri"/>
                <a:cs typeface="Calibri"/>
              </a:rPr>
              <a:t>the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10">
                <a:latin typeface="Calibri"/>
                <a:cs typeface="Calibri"/>
              </a:rPr>
              <a:t>vehicle</a:t>
            </a:r>
            <a:endParaRPr lang="en-US" sz="1800" spc="10">
              <a:latin typeface="Calibri"/>
              <a:cs typeface="Calibri"/>
            </a:endParaRPr>
          </a:p>
          <a:p>
            <a:pPr marL="240665" indent="-228600">
              <a:lnSpc>
                <a:spcPts val="2120"/>
              </a:lnSpc>
              <a:buAutoNum type="arabicPeriod"/>
              <a:tabLst>
                <a:tab pos="241300" algn="l"/>
              </a:tabLst>
            </a:pPr>
            <a:r>
              <a:rPr lang="en-IN" sz="1800" spc="10">
                <a:latin typeface="Calibri"/>
                <a:cs typeface="Calibri"/>
              </a:rPr>
              <a:t>Lighter knuckles and hubs.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86525" y="3228975"/>
            <a:ext cx="3886200" cy="3400425"/>
            <a:chOff x="6486525" y="3228975"/>
            <a:chExt cx="3886200" cy="3400425"/>
          </a:xfrm>
        </p:grpSpPr>
        <p:pic>
          <p:nvPicPr>
            <p:cNvPr id="6" name="object 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486525" y="3228975"/>
              <a:ext cx="3886200" cy="16859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486525" y="4953000"/>
              <a:ext cx="3886200" cy="16764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499859" y="2712402"/>
            <a:ext cx="14395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45">
                <a:latin typeface="Calibri"/>
                <a:cs typeface="Calibri"/>
              </a:rPr>
              <a:t>T</a:t>
            </a:r>
            <a:r>
              <a:rPr sz="1800" b="1" spc="-10">
                <a:latin typeface="Calibri"/>
                <a:cs typeface="Calibri"/>
              </a:rPr>
              <a:t>e</a:t>
            </a:r>
            <a:r>
              <a:rPr sz="1800" b="1" spc="25">
                <a:latin typeface="Calibri"/>
                <a:cs typeface="Calibri"/>
              </a:rPr>
              <a:t>s</a:t>
            </a:r>
            <a:r>
              <a:rPr sz="1800" b="1" spc="-25">
                <a:latin typeface="Calibri"/>
                <a:cs typeface="Calibri"/>
              </a:rPr>
              <a:t>t</a:t>
            </a:r>
            <a:r>
              <a:rPr sz="1800" b="1" spc="5">
                <a:latin typeface="Calibri"/>
                <a:cs typeface="Calibri"/>
              </a:rPr>
              <a:t>in</a:t>
            </a:r>
            <a:r>
              <a:rPr sz="1800" b="1">
                <a:latin typeface="Calibri"/>
                <a:cs typeface="Calibri"/>
              </a:rPr>
              <a:t>g</a:t>
            </a:r>
            <a:r>
              <a:rPr sz="1800" b="1" spc="-65">
                <a:latin typeface="Calibri"/>
                <a:cs typeface="Calibri"/>
              </a:rPr>
              <a:t> </a:t>
            </a:r>
            <a:r>
              <a:rPr sz="1800" b="1" spc="25">
                <a:latin typeface="Calibri"/>
                <a:cs typeface="Calibri"/>
              </a:rPr>
              <a:t>f</a:t>
            </a:r>
            <a:r>
              <a:rPr sz="1800" b="1" spc="5">
                <a:latin typeface="Calibri"/>
                <a:cs typeface="Calibri"/>
              </a:rPr>
              <a:t>a</a:t>
            </a:r>
            <a:r>
              <a:rPr sz="1800" b="1" spc="-5">
                <a:latin typeface="Calibri"/>
                <a:cs typeface="Calibri"/>
              </a:rPr>
              <a:t>ci</a:t>
            </a:r>
            <a:r>
              <a:rPr sz="1800" b="1" spc="5">
                <a:latin typeface="Calibri"/>
                <a:cs typeface="Calibri"/>
              </a:rPr>
              <a:t>li</a:t>
            </a:r>
            <a:r>
              <a:rPr sz="1800" b="1" spc="-25">
                <a:latin typeface="Calibri"/>
                <a:cs typeface="Calibri"/>
              </a:rPr>
              <a:t>t</a:t>
            </a:r>
            <a:r>
              <a:rPr sz="1800" b="1" spc="-30">
                <a:latin typeface="Calibri"/>
                <a:cs typeface="Calibri"/>
              </a:rPr>
              <a:t>y</a:t>
            </a:r>
            <a:r>
              <a:rPr sz="1800" b="1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F641FD-BCC3-E7BB-30BD-9793D53F433F}"/>
              </a:ext>
            </a:extLst>
          </p:cNvPr>
          <p:cNvSpPr txBox="1"/>
          <p:nvPr/>
        </p:nvSpPr>
        <p:spPr>
          <a:xfrm>
            <a:off x="88540" y="5257800"/>
            <a:ext cx="56368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/>
              <a:t>Miscellaneous:</a:t>
            </a:r>
          </a:p>
          <a:p>
            <a:r>
              <a:rPr lang="en-IN"/>
              <a:t>1.Clearance issues with transmission components.</a:t>
            </a:r>
          </a:p>
          <a:p>
            <a:r>
              <a:rPr lang="en-IN"/>
              <a:t>2.Better casings for the transmission and braking components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34204" y="236791"/>
            <a:ext cx="11880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"/>
              <a:t>Old</a:t>
            </a:r>
            <a:r>
              <a:rPr spc="-80"/>
              <a:t> </a:t>
            </a:r>
            <a:r>
              <a:rPr spc="15"/>
              <a:t>vs</a:t>
            </a:r>
            <a:r>
              <a:rPr spc="-100"/>
              <a:t> </a:t>
            </a:r>
            <a:r>
              <a:rPr spc="10"/>
              <a:t>new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963023"/>
              </p:ext>
            </p:extLst>
          </p:nvPr>
        </p:nvGraphicFramePr>
        <p:xfrm>
          <a:off x="75638" y="356234"/>
          <a:ext cx="3914775" cy="64070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7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0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1" spc="5">
                          <a:latin typeface="Calibri"/>
                          <a:cs typeface="Calibri"/>
                        </a:rPr>
                        <a:t>Parameter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R w="9525">
                      <a:solidFill>
                        <a:srgbClr val="E7E6E6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1">
                          <a:latin typeface="Calibri"/>
                          <a:cs typeface="Calibri"/>
                        </a:rPr>
                        <a:t>Old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9525">
                      <a:solidFill>
                        <a:srgbClr val="E7E6E6"/>
                      </a:solidFill>
                      <a:prstDash val="solid"/>
                    </a:lnL>
                    <a:lnR w="9525">
                      <a:solidFill>
                        <a:srgbClr val="E7E6E6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1" spc="5">
                          <a:latin typeface="Calibri"/>
                          <a:cs typeface="Calibri"/>
                        </a:rPr>
                        <a:t>New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9525">
                      <a:solidFill>
                        <a:srgbClr val="E7E6E6"/>
                      </a:solidFill>
                      <a:prstDash val="solid"/>
                    </a:lnL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spc="-5">
                          <a:latin typeface="Calibri"/>
                          <a:cs typeface="Calibri"/>
                        </a:rPr>
                        <a:t>wheelbase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lang="en-US" sz="1200" spc="-10" dirty="0">
                          <a:latin typeface="Calibri"/>
                          <a:cs typeface="Calibri"/>
                        </a:rPr>
                        <a:t>320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1320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25">
                          <a:latin typeface="Calibri"/>
                          <a:cs typeface="Calibri"/>
                        </a:rPr>
                        <a:t>Frame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26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Kg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5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lang="en-US" sz="1200" spc="-15" dirty="0">
                          <a:latin typeface="Calibri"/>
                          <a:cs typeface="Calibri"/>
                        </a:rPr>
                        <a:t>8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Kg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5">
                          <a:latin typeface="Calibri"/>
                          <a:cs typeface="Calibri"/>
                        </a:rPr>
                        <a:t>Max</a:t>
                      </a:r>
                      <a:r>
                        <a:rPr sz="12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Velocity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25">
                          <a:latin typeface="Calibri"/>
                          <a:cs typeface="Calibri"/>
                        </a:rPr>
                        <a:t>56Kmph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20">
                          <a:latin typeface="Calibri"/>
                          <a:cs typeface="Calibri"/>
                        </a:rPr>
                        <a:t>57.23Kmph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">
                          <a:latin typeface="Calibri"/>
                          <a:cs typeface="Calibri"/>
                        </a:rPr>
                        <a:t>Suspension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181610">
                        <a:lnSpc>
                          <a:spcPct val="100800"/>
                        </a:lnSpc>
                        <a:spcBef>
                          <a:spcPts val="290"/>
                        </a:spcBef>
                      </a:pPr>
                      <a:r>
                        <a:rPr sz="1200" spc="-30">
                          <a:latin typeface="Calibri"/>
                          <a:cs typeface="Calibri"/>
                        </a:rPr>
                        <a:t>Front</a:t>
                      </a:r>
                      <a:r>
                        <a:rPr sz="12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latin typeface="Calibri"/>
                          <a:cs typeface="Calibri"/>
                        </a:rPr>
                        <a:t>:</a:t>
                      </a:r>
                      <a:r>
                        <a:rPr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Double </a:t>
                      </a:r>
                      <a:r>
                        <a:rPr sz="1200" spc="-254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wishbone </a:t>
                      </a:r>
                      <a:r>
                        <a:rPr sz="12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latin typeface="Calibri"/>
                          <a:cs typeface="Calibri"/>
                        </a:rPr>
                        <a:t>Rear: 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semi </a:t>
                      </a:r>
                      <a:r>
                        <a:rPr sz="120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trailing</a:t>
                      </a:r>
                      <a:r>
                        <a:rPr sz="12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latin typeface="Calibri"/>
                          <a:cs typeface="Calibri"/>
                        </a:rPr>
                        <a:t>arm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 marR="359410">
                        <a:lnSpc>
                          <a:spcPts val="1430"/>
                        </a:lnSpc>
                        <a:spcBef>
                          <a:spcPts val="359"/>
                        </a:spcBef>
                      </a:pPr>
                      <a:r>
                        <a:rPr sz="1200" spc="-30">
                          <a:latin typeface="Calibri"/>
                          <a:cs typeface="Calibri"/>
                        </a:rPr>
                        <a:t>Front:</a:t>
                      </a:r>
                      <a:r>
                        <a:rPr sz="120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latin typeface="Calibri"/>
                          <a:cs typeface="Calibri"/>
                        </a:rPr>
                        <a:t>double </a:t>
                      </a:r>
                      <a:r>
                        <a:rPr sz="1200" spc="-254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wishbone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3345">
                        <a:lnSpc>
                          <a:spcPts val="1380"/>
                        </a:lnSpc>
                      </a:pPr>
                      <a:r>
                        <a:rPr sz="1200">
                          <a:latin typeface="Calibri"/>
                          <a:cs typeface="Calibri"/>
                        </a:rPr>
                        <a:t>Rear: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latin typeface="Calibri"/>
                          <a:cs typeface="Calibri"/>
                        </a:rPr>
                        <a:t>H</a:t>
                      </a:r>
                      <a:r>
                        <a:rPr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latin typeface="Calibri"/>
                          <a:cs typeface="Calibri"/>
                        </a:rPr>
                        <a:t>arm</a:t>
                      </a:r>
                      <a:r>
                        <a:rPr sz="12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with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200" spc="-20">
                          <a:latin typeface="Calibri"/>
                          <a:cs typeface="Calibri"/>
                        </a:rPr>
                        <a:t>upper</a:t>
                      </a:r>
                      <a:r>
                        <a:rPr sz="12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link.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2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latin typeface="Calibri"/>
                          <a:cs typeface="Calibri"/>
                        </a:rPr>
                        <a:t>Drive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5">
                          <a:latin typeface="Calibri"/>
                          <a:cs typeface="Calibri"/>
                        </a:rPr>
                        <a:t>Centre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5">
                          <a:latin typeface="Calibri"/>
                          <a:cs typeface="Calibri"/>
                        </a:rPr>
                        <a:t>Centre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spc="-20">
                          <a:latin typeface="Calibri"/>
                          <a:cs typeface="Calibri"/>
                        </a:rPr>
                        <a:t>Kerb</a:t>
                      </a:r>
                      <a:r>
                        <a:rPr sz="12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>
                          <a:latin typeface="Calibri"/>
                          <a:cs typeface="Calibri"/>
                        </a:rPr>
                        <a:t>Weight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157</a:t>
                      </a:r>
                      <a:r>
                        <a:rPr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kg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150</a:t>
                      </a:r>
                      <a:r>
                        <a:rPr sz="12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kg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spc="-5">
                          <a:latin typeface="Calibri"/>
                          <a:cs typeface="Calibri"/>
                        </a:rPr>
                        <a:t>Gradeability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60%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65%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2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5">
                          <a:latin typeface="Calibri"/>
                          <a:cs typeface="Calibri"/>
                        </a:rPr>
                        <a:t>Ratio</a:t>
                      </a:r>
                      <a:r>
                        <a:rPr sz="1200" spc="-25">
                          <a:latin typeface="Calibri"/>
                          <a:cs typeface="Calibri"/>
                        </a:rPr>
                        <a:t> type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4.33:1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4.33:1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spc="-25">
                          <a:latin typeface="Calibri"/>
                          <a:cs typeface="Calibri"/>
                        </a:rPr>
                        <a:t>Brake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>
                          <a:latin typeface="Calibri"/>
                          <a:cs typeface="Calibri"/>
                        </a:rPr>
                        <a:t>Calipers</a:t>
                      </a: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266700">
                        <a:lnSpc>
                          <a:spcPts val="1430"/>
                        </a:lnSpc>
                        <a:spcBef>
                          <a:spcPts val="375"/>
                        </a:spcBef>
                      </a:pPr>
                      <a:r>
                        <a:rPr sz="1200">
                          <a:latin typeface="Calibri"/>
                          <a:cs typeface="Calibri"/>
                        </a:rPr>
                        <a:t>2</a:t>
                      </a:r>
                      <a:r>
                        <a:rPr sz="1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Floating&amp;1 </a:t>
                      </a:r>
                      <a:r>
                        <a:rPr sz="1200" spc="-254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5">
                          <a:latin typeface="Calibri"/>
                          <a:cs typeface="Calibri"/>
                        </a:rPr>
                        <a:t>fixed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31445" marR="396240" indent="-38100">
                        <a:lnSpc>
                          <a:spcPts val="1430"/>
                        </a:lnSpc>
                        <a:spcBef>
                          <a:spcPts val="375"/>
                        </a:spcBef>
                      </a:pPr>
                      <a:r>
                        <a:rPr sz="1200">
                          <a:latin typeface="Calibri"/>
                          <a:cs typeface="Calibri"/>
                        </a:rPr>
                        <a:t>2</a:t>
                      </a:r>
                      <a:r>
                        <a:rPr sz="1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Floating&amp;1 </a:t>
                      </a:r>
                      <a:r>
                        <a:rPr sz="1200" spc="-254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5">
                          <a:latin typeface="Calibri"/>
                          <a:cs typeface="Calibri"/>
                        </a:rPr>
                        <a:t>fixed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spc="-15">
                          <a:latin typeface="Calibri"/>
                          <a:cs typeface="Calibri"/>
                        </a:rPr>
                        <a:t>Max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 Acc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6.01m/s2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6.61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m/sec2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5">
                          <a:latin typeface="Calibri"/>
                          <a:cs typeface="Calibri"/>
                        </a:rPr>
                        <a:t>Stopping</a:t>
                      </a:r>
                      <a:r>
                        <a:rPr sz="120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10">
                          <a:latin typeface="Calibri"/>
                          <a:cs typeface="Calibri"/>
                        </a:rPr>
                        <a:t>Dist.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4.5m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3.04m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spc="-15">
                          <a:latin typeface="Calibri"/>
                          <a:cs typeface="Calibri"/>
                        </a:rPr>
                        <a:t>Weight</a:t>
                      </a:r>
                      <a:r>
                        <a:rPr sz="12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transfer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38.97%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28.59%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30">
                          <a:latin typeface="Calibri"/>
                          <a:cs typeface="Calibri"/>
                        </a:rPr>
                        <a:t>Turing</a:t>
                      </a:r>
                      <a:r>
                        <a:rPr sz="12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5">
                          <a:latin typeface="Calibri"/>
                          <a:cs typeface="Calibri"/>
                        </a:rPr>
                        <a:t>radius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lang="en-US" sz="1200" spc="-1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lang="en-US" sz="1200" spc="-1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Drive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RWD</a:t>
                      </a: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4WD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5716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55">
                          <a:latin typeface="Calibri"/>
                          <a:cs typeface="Calibri"/>
                        </a:rPr>
                        <a:t>M</a:t>
                      </a:r>
                      <a:r>
                        <a:rPr sz="1200" spc="2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>
                          <a:latin typeface="Calibri"/>
                          <a:cs typeface="Calibri"/>
                        </a:rPr>
                        <a:t>x</a:t>
                      </a:r>
                      <a:r>
                        <a:rPr sz="1200" spc="30">
                          <a:latin typeface="Calibri"/>
                          <a:cs typeface="Calibri"/>
                        </a:rPr>
                        <a:t> g</a:t>
                      </a:r>
                      <a:r>
                        <a:rPr sz="1200">
                          <a:latin typeface="Calibri"/>
                          <a:cs typeface="Calibri"/>
                        </a:rPr>
                        <a:t>e</a:t>
                      </a:r>
                      <a:r>
                        <a:rPr sz="1200" spc="2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>
                          <a:latin typeface="Calibri"/>
                          <a:cs typeface="Calibri"/>
                        </a:rPr>
                        <a:t>r</a:t>
                      </a:r>
                      <a:r>
                        <a:rPr sz="12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45">
                          <a:latin typeface="Calibri"/>
                          <a:cs typeface="Calibri"/>
                        </a:rPr>
                        <a:t>r</a:t>
                      </a:r>
                      <a:r>
                        <a:rPr sz="1200" spc="2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spc="20">
                          <a:latin typeface="Calibri"/>
                          <a:cs typeface="Calibri"/>
                        </a:rPr>
                        <a:t>i</a:t>
                      </a:r>
                      <a:r>
                        <a:rPr sz="1200">
                          <a:latin typeface="Calibri"/>
                          <a:cs typeface="Calibri"/>
                        </a:rPr>
                        <a:t>o</a:t>
                      </a: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spc="-10" dirty="0">
                          <a:latin typeface="+mn-lt"/>
                          <a:cs typeface="Calibri"/>
                        </a:rPr>
                        <a:t>12</a:t>
                      </a:r>
                      <a:r>
                        <a:rPr lang="en-IN" sz="1200" spc="-25" dirty="0">
                          <a:latin typeface="+mn-lt"/>
                          <a:cs typeface="Calibri"/>
                        </a:rPr>
                        <a:t>:</a:t>
                      </a:r>
                      <a:r>
                        <a:rPr lang="en-IN" sz="1200" dirty="0">
                          <a:latin typeface="+mn-lt"/>
                          <a:cs typeface="Calibri"/>
                        </a:rPr>
                        <a:t>1</a:t>
                      </a: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376555">
                        <a:lnSpc>
                          <a:spcPts val="1430"/>
                        </a:lnSpc>
                        <a:spcBef>
                          <a:spcPts val="395"/>
                        </a:spcBef>
                      </a:pPr>
                      <a:r>
                        <a:rPr sz="1200" spc="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200" spc="2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2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: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12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  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12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7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501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5">
                          <a:latin typeface="Calibri"/>
                          <a:cs typeface="Calibri"/>
                        </a:rPr>
                        <a:t>Max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30">
                          <a:latin typeface="Calibri"/>
                          <a:cs typeface="Calibri"/>
                        </a:rPr>
                        <a:t>torque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524N-m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544N-m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00">
                          <a:latin typeface="Calibri"/>
                          <a:cs typeface="Calibri"/>
                        </a:rPr>
                        <a:t>Overall</a:t>
                      </a:r>
                      <a:r>
                        <a:rPr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>
                          <a:latin typeface="Calibri"/>
                          <a:cs typeface="Calibri"/>
                        </a:rPr>
                        <a:t>length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00" spc="-20">
                          <a:latin typeface="Calibri"/>
                          <a:cs typeface="Calibri"/>
                        </a:rPr>
                        <a:t>1920mm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lang="en-US" sz="1200" spc="-20" dirty="0">
                          <a:latin typeface="Calibri"/>
                          <a:cs typeface="Calibri"/>
                        </a:rPr>
                        <a:t>893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mm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00">
                          <a:latin typeface="Calibri"/>
                          <a:cs typeface="Calibri"/>
                        </a:rPr>
                        <a:t>Overall</a:t>
                      </a:r>
                      <a:r>
                        <a:rPr sz="12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>
                          <a:latin typeface="Calibri"/>
                          <a:cs typeface="Calibri"/>
                        </a:rPr>
                        <a:t>width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00" spc="-20">
                          <a:latin typeface="Calibri"/>
                          <a:cs typeface="Calibri"/>
                        </a:rPr>
                        <a:t>1270mm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00" spc="-15">
                          <a:latin typeface="Calibri"/>
                          <a:cs typeface="Calibri"/>
                        </a:rPr>
                        <a:t>1188.72mm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43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00">
                          <a:latin typeface="Calibri"/>
                          <a:cs typeface="Calibri"/>
                        </a:rPr>
                        <a:t>Overall</a:t>
                      </a:r>
                      <a:r>
                        <a:rPr sz="12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5">
                          <a:latin typeface="Calibri"/>
                          <a:cs typeface="Calibri"/>
                        </a:rPr>
                        <a:t>cost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00" spc="-10">
                          <a:latin typeface="Calibri"/>
                          <a:cs typeface="Calibri"/>
                        </a:rPr>
                        <a:t>3,89,000/-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4,10,000/-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305553" y="855662"/>
            <a:ext cx="1553210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marR="5080" indent="-114935">
              <a:lnSpc>
                <a:spcPct val="100800"/>
              </a:lnSpc>
              <a:spcBef>
                <a:spcPts val="85"/>
              </a:spcBef>
            </a:pPr>
            <a:r>
              <a:rPr sz="1800" b="1" spc="10">
                <a:latin typeface="Calibri"/>
                <a:cs typeface="Calibri"/>
              </a:rPr>
              <a:t>Cost</a:t>
            </a:r>
            <a:r>
              <a:rPr sz="1800" b="1" spc="-95">
                <a:latin typeface="Calibri"/>
                <a:cs typeface="Calibri"/>
              </a:rPr>
              <a:t> </a:t>
            </a:r>
            <a:r>
              <a:rPr sz="1800" b="1" spc="5">
                <a:latin typeface="Calibri"/>
                <a:cs typeface="Calibri"/>
              </a:rPr>
              <a:t>and</a:t>
            </a:r>
            <a:r>
              <a:rPr sz="1800" b="1" spc="-60">
                <a:latin typeface="Calibri"/>
                <a:cs typeface="Calibri"/>
              </a:rPr>
              <a:t> </a:t>
            </a:r>
            <a:r>
              <a:rPr sz="1800" b="1" spc="-5">
                <a:latin typeface="Calibri"/>
                <a:cs typeface="Calibri"/>
              </a:rPr>
              <a:t>weight </a:t>
            </a:r>
            <a:r>
              <a:rPr sz="1800" b="1" spc="-390">
                <a:latin typeface="Calibri"/>
                <a:cs typeface="Calibri"/>
              </a:rPr>
              <a:t> </a:t>
            </a:r>
            <a:r>
              <a:rPr sz="1800" b="1">
                <a:latin typeface="Calibri"/>
                <a:cs typeface="Calibri"/>
              </a:rPr>
              <a:t>optimization: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/>
          <a:stretch>
            <a:fillRect/>
          </a:stretch>
        </p:blipFill>
        <p:spPr>
          <a:xfrm>
            <a:off x="6057900" y="94360"/>
            <a:ext cx="2943225" cy="203923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/>
          <a:stretch>
            <a:fillRect/>
          </a:stretch>
        </p:blipFill>
        <p:spPr>
          <a:xfrm>
            <a:off x="9086850" y="85725"/>
            <a:ext cx="3000375" cy="2047875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137025" y="2207386"/>
          <a:ext cx="7966074" cy="4557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5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2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08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577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30">
                          <a:latin typeface="Calibri"/>
                          <a:cs typeface="Calibri"/>
                        </a:rPr>
                        <a:t>system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-1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b="1" spc="-20">
                          <a:latin typeface="Calibri"/>
                          <a:cs typeface="Calibri"/>
                        </a:rPr>
                        <a:t>nd</a:t>
                      </a:r>
                      <a:r>
                        <a:rPr sz="1400" b="1" spc="2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b="1" spc="-5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b="1" spc="2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b="1" spc="-20">
                          <a:latin typeface="Calibri"/>
                          <a:cs typeface="Calibri"/>
                        </a:rPr>
                        <a:t>du</a:t>
                      </a:r>
                      <a:r>
                        <a:rPr sz="1400" b="1" spc="-3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b="1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5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b="1" spc="-1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b="1" spc="-4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0">
                          <a:latin typeface="Calibri"/>
                          <a:cs typeface="Calibri"/>
                        </a:rPr>
                        <a:t>pon</a:t>
                      </a:r>
                      <a:r>
                        <a:rPr sz="1400" b="1" spc="2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b="1" spc="-2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b="1" spc="25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Cost(Rs)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b="1">
                          <a:latin typeface="Calibri"/>
                          <a:cs typeface="Calibri"/>
                        </a:rPr>
                        <a:t>Weight(Kg)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684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Suspension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ho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Ab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ub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>
                          <a:latin typeface="Calibri"/>
                          <a:cs typeface="Calibri"/>
                        </a:rPr>
                        <a:t>-</a:t>
                      </a: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nuc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gh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102+8+0.5+0.6+5+6=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1,22,100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6+4+2.4+3+1.7+1.5=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17.6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684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b="1" spc="5">
                          <a:latin typeface="Calibri"/>
                          <a:cs typeface="Calibri"/>
                        </a:rPr>
                        <a:t>braking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210820">
                        <a:lnSpc>
                          <a:spcPct val="102800"/>
                        </a:lnSpc>
                        <a:spcBef>
                          <a:spcPts val="22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>
                          <a:latin typeface="Calibri"/>
                          <a:cs typeface="Calibri"/>
                        </a:rPr>
                        <a:t>+ 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e  c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ho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y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nd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2+0.3+4.5+0.9+1=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8,700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2+0.5+2.25+1+0.5=6.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25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683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25">
                          <a:latin typeface="Calibri"/>
                          <a:cs typeface="Calibri"/>
                        </a:rPr>
                        <a:t>steering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337185">
                        <a:lnSpc>
                          <a:spcPct val="102800"/>
                        </a:lnSpc>
                        <a:spcBef>
                          <a:spcPts val="22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Wheel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R&amp;P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Column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Joints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Tie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rods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Hubs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10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8</a:t>
                      </a:r>
                      <a:r>
                        <a:rPr sz="140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15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,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80</a:t>
                      </a: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0.4+1.2+1.5+1+0.5+0.</a:t>
                      </a: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4</a:t>
                      </a:r>
                      <a:r>
                        <a:rPr sz="140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81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b="1">
                          <a:latin typeface="Calibri"/>
                          <a:cs typeface="Calibri"/>
                        </a:rPr>
                        <a:t>frame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403860">
                        <a:lnSpc>
                          <a:spcPct val="102800"/>
                        </a:lnSpc>
                        <a:spcBef>
                          <a:spcPts val="234"/>
                        </a:spcBef>
                      </a:pPr>
                      <a:r>
                        <a:rPr sz="1400" spc="-1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ub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ng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w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ll</a:t>
                      </a:r>
                      <a:r>
                        <a:rPr sz="1400">
                          <a:latin typeface="Calibri"/>
                          <a:cs typeface="Calibri"/>
                        </a:rPr>
                        <a:t>+ 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Welds+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Paneling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Aesthetics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25+1+1.5+0.5+1+0.45+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0.5=29,950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3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8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2</a:t>
                      </a:r>
                      <a:r>
                        <a:rPr sz="140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23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684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transmission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117475">
                        <a:lnSpc>
                          <a:spcPct val="102800"/>
                        </a:lnSpc>
                        <a:spcBef>
                          <a:spcPts val="235"/>
                        </a:spcBef>
                      </a:pPr>
                      <a:r>
                        <a:rPr sz="1400" spc="-2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ng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ng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r 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bo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x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bo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x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ll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87+45+30+0.8+40+30+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8=</a:t>
                      </a:r>
                      <a:r>
                        <a:rPr sz="1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2,40,800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26.3+10+4+0.5+6+2+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49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45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b="1" spc="20">
                          <a:latin typeface="Calibri"/>
                          <a:cs typeface="Calibri"/>
                        </a:rPr>
                        <a:t>wheels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yr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4+92=13,200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8.4+14=22.4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9760">
                <a:tc>
                  <a:txBody>
                    <a:bodyPr/>
                    <a:lstStyle/>
                    <a:p>
                      <a:pPr marL="93980" marR="336550">
                        <a:lnSpc>
                          <a:spcPct val="102800"/>
                        </a:lnSpc>
                        <a:spcBef>
                          <a:spcPts val="245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Safety </a:t>
                      </a:r>
                      <a:r>
                        <a:rPr sz="1400" b="1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3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b="1" spc="-15">
                          <a:latin typeface="Calibri"/>
                          <a:cs typeface="Calibri"/>
                        </a:rPr>
                        <a:t>qu</a:t>
                      </a:r>
                      <a:r>
                        <a:rPr sz="1400" b="1" spc="2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b="1" spc="-1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b="1" spc="-3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3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b="1" spc="-1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318770">
                        <a:lnSpc>
                          <a:spcPct val="102800"/>
                        </a:lnSpc>
                        <a:spcBef>
                          <a:spcPts val="24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Suit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+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Helmet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+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Belts+ Seat+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Gloves+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ck Gu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ho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x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ngu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20+11+4.5+1+3+2+0.5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8</a:t>
                      </a:r>
                      <a:r>
                        <a:rPr sz="140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42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,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80</a:t>
                      </a: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1+2+1.8+1.5+1.2+0.1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25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25</a:t>
                      </a:r>
                      <a:r>
                        <a:rPr sz="140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9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9722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miscellaneous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270510">
                        <a:lnSpc>
                          <a:spcPct val="102800"/>
                        </a:lnSpc>
                        <a:spcBef>
                          <a:spcPts val="25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tt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ry</a:t>
                      </a:r>
                      <a:r>
                        <a:rPr sz="1400">
                          <a:latin typeface="Calibri"/>
                          <a:cs typeface="Calibri"/>
                        </a:rPr>
                        <a:t>+  Fuel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tank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+others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3+1.3+9+3+4+5=25,30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4+3+0.5+0.75+0.5=8.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75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501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b="1" spc="10">
                          <a:latin typeface="Calibri"/>
                          <a:cs typeface="Calibri"/>
                        </a:rPr>
                        <a:t>total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Rs: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3,87,950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142.4kg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35889" y="27622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7E7E7E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8462" y="522351"/>
            <a:ext cx="11127740" cy="6336030"/>
            <a:chOff x="398462" y="522351"/>
            <a:chExt cx="11127740" cy="6336030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8222555" y="2558195"/>
              <a:ext cx="3303212" cy="37005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181475" y="990600"/>
              <a:ext cx="4371975" cy="586739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4812" y="528701"/>
              <a:ext cx="1648460" cy="1333500"/>
            </a:xfrm>
            <a:custGeom>
              <a:avLst/>
              <a:gdLst/>
              <a:ahLst/>
              <a:cxnLst/>
              <a:rect l="l" t="t" r="r" b="b"/>
              <a:pathLst>
                <a:path w="1648460" h="1333500">
                  <a:moveTo>
                    <a:pt x="1425511" y="0"/>
                  </a:moveTo>
                  <a:lnTo>
                    <a:pt x="222250" y="0"/>
                  </a:lnTo>
                  <a:lnTo>
                    <a:pt x="177458" y="4512"/>
                  </a:lnTo>
                  <a:lnTo>
                    <a:pt x="135740" y="17456"/>
                  </a:lnTo>
                  <a:lnTo>
                    <a:pt x="97987" y="37940"/>
                  </a:lnTo>
                  <a:lnTo>
                    <a:pt x="65095" y="65071"/>
                  </a:lnTo>
                  <a:lnTo>
                    <a:pt x="37956" y="97959"/>
                  </a:lnTo>
                  <a:lnTo>
                    <a:pt x="17465" y="135713"/>
                  </a:lnTo>
                  <a:lnTo>
                    <a:pt x="4515" y="177440"/>
                  </a:lnTo>
                  <a:lnTo>
                    <a:pt x="0" y="222250"/>
                  </a:lnTo>
                  <a:lnTo>
                    <a:pt x="0" y="1111123"/>
                  </a:lnTo>
                  <a:lnTo>
                    <a:pt x="4515" y="1155937"/>
                  </a:lnTo>
                  <a:lnTo>
                    <a:pt x="17465" y="1197679"/>
                  </a:lnTo>
                  <a:lnTo>
                    <a:pt x="37956" y="1235453"/>
                  </a:lnTo>
                  <a:lnTo>
                    <a:pt x="65095" y="1268364"/>
                  </a:lnTo>
                  <a:lnTo>
                    <a:pt x="97987" y="1295519"/>
                  </a:lnTo>
                  <a:lnTo>
                    <a:pt x="135740" y="1316023"/>
                  </a:lnTo>
                  <a:lnTo>
                    <a:pt x="177458" y="1328981"/>
                  </a:lnTo>
                  <a:lnTo>
                    <a:pt x="222250" y="1333500"/>
                  </a:lnTo>
                  <a:lnTo>
                    <a:pt x="1425511" y="1333500"/>
                  </a:lnTo>
                  <a:lnTo>
                    <a:pt x="1470326" y="1328981"/>
                  </a:lnTo>
                  <a:lnTo>
                    <a:pt x="1512067" y="1316023"/>
                  </a:lnTo>
                  <a:lnTo>
                    <a:pt x="1549841" y="1295519"/>
                  </a:lnTo>
                  <a:lnTo>
                    <a:pt x="1582753" y="1268364"/>
                  </a:lnTo>
                  <a:lnTo>
                    <a:pt x="1609908" y="1235453"/>
                  </a:lnTo>
                  <a:lnTo>
                    <a:pt x="1630412" y="1197679"/>
                  </a:lnTo>
                  <a:lnTo>
                    <a:pt x="1643370" y="1155937"/>
                  </a:lnTo>
                  <a:lnTo>
                    <a:pt x="1647888" y="1111123"/>
                  </a:lnTo>
                  <a:lnTo>
                    <a:pt x="1647888" y="222250"/>
                  </a:lnTo>
                  <a:lnTo>
                    <a:pt x="1643370" y="177440"/>
                  </a:lnTo>
                  <a:lnTo>
                    <a:pt x="1630412" y="135713"/>
                  </a:lnTo>
                  <a:lnTo>
                    <a:pt x="1609908" y="97959"/>
                  </a:lnTo>
                  <a:lnTo>
                    <a:pt x="1582753" y="65071"/>
                  </a:lnTo>
                  <a:lnTo>
                    <a:pt x="1549841" y="37940"/>
                  </a:lnTo>
                  <a:lnTo>
                    <a:pt x="1512067" y="17456"/>
                  </a:lnTo>
                  <a:lnTo>
                    <a:pt x="1470326" y="4512"/>
                  </a:lnTo>
                  <a:lnTo>
                    <a:pt x="14255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4812" y="528701"/>
              <a:ext cx="1648460" cy="1333500"/>
            </a:xfrm>
            <a:custGeom>
              <a:avLst/>
              <a:gdLst/>
              <a:ahLst/>
              <a:cxnLst/>
              <a:rect l="l" t="t" r="r" b="b"/>
              <a:pathLst>
                <a:path w="1648460" h="1333500">
                  <a:moveTo>
                    <a:pt x="0" y="222250"/>
                  </a:moveTo>
                  <a:lnTo>
                    <a:pt x="4515" y="177440"/>
                  </a:lnTo>
                  <a:lnTo>
                    <a:pt x="17465" y="135713"/>
                  </a:lnTo>
                  <a:lnTo>
                    <a:pt x="37956" y="97959"/>
                  </a:lnTo>
                  <a:lnTo>
                    <a:pt x="65095" y="65071"/>
                  </a:lnTo>
                  <a:lnTo>
                    <a:pt x="97987" y="37940"/>
                  </a:lnTo>
                  <a:lnTo>
                    <a:pt x="135740" y="17456"/>
                  </a:lnTo>
                  <a:lnTo>
                    <a:pt x="177458" y="4512"/>
                  </a:lnTo>
                  <a:lnTo>
                    <a:pt x="222250" y="0"/>
                  </a:lnTo>
                  <a:lnTo>
                    <a:pt x="1425511" y="0"/>
                  </a:lnTo>
                  <a:lnTo>
                    <a:pt x="1470326" y="4512"/>
                  </a:lnTo>
                  <a:lnTo>
                    <a:pt x="1512067" y="17456"/>
                  </a:lnTo>
                  <a:lnTo>
                    <a:pt x="1549841" y="37940"/>
                  </a:lnTo>
                  <a:lnTo>
                    <a:pt x="1582753" y="65071"/>
                  </a:lnTo>
                  <a:lnTo>
                    <a:pt x="1609908" y="97959"/>
                  </a:lnTo>
                  <a:lnTo>
                    <a:pt x="1630412" y="135713"/>
                  </a:lnTo>
                  <a:lnTo>
                    <a:pt x="1643370" y="177440"/>
                  </a:lnTo>
                  <a:lnTo>
                    <a:pt x="1647888" y="222250"/>
                  </a:lnTo>
                  <a:lnTo>
                    <a:pt x="1647888" y="1111123"/>
                  </a:lnTo>
                  <a:lnTo>
                    <a:pt x="1643370" y="1155937"/>
                  </a:lnTo>
                  <a:lnTo>
                    <a:pt x="1630412" y="1197679"/>
                  </a:lnTo>
                  <a:lnTo>
                    <a:pt x="1609908" y="1235453"/>
                  </a:lnTo>
                  <a:lnTo>
                    <a:pt x="1582753" y="1268364"/>
                  </a:lnTo>
                  <a:lnTo>
                    <a:pt x="1549841" y="1295519"/>
                  </a:lnTo>
                  <a:lnTo>
                    <a:pt x="1512067" y="1316023"/>
                  </a:lnTo>
                  <a:lnTo>
                    <a:pt x="1470326" y="1328981"/>
                  </a:lnTo>
                  <a:lnTo>
                    <a:pt x="1425511" y="1333500"/>
                  </a:lnTo>
                  <a:lnTo>
                    <a:pt x="222250" y="1333500"/>
                  </a:lnTo>
                  <a:lnTo>
                    <a:pt x="177458" y="1328981"/>
                  </a:lnTo>
                  <a:lnTo>
                    <a:pt x="135740" y="1316023"/>
                  </a:lnTo>
                  <a:lnTo>
                    <a:pt x="97987" y="1295519"/>
                  </a:lnTo>
                  <a:lnTo>
                    <a:pt x="65095" y="1268364"/>
                  </a:lnTo>
                  <a:lnTo>
                    <a:pt x="37956" y="1235453"/>
                  </a:lnTo>
                  <a:lnTo>
                    <a:pt x="17465" y="1197679"/>
                  </a:lnTo>
                  <a:lnTo>
                    <a:pt x="4515" y="1155937"/>
                  </a:lnTo>
                  <a:lnTo>
                    <a:pt x="0" y="1111123"/>
                  </a:lnTo>
                  <a:lnTo>
                    <a:pt x="0" y="2222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01540" y="86042"/>
            <a:ext cx="39319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"/>
              <a:t>R</a:t>
            </a:r>
            <a:r>
              <a:rPr spc="40"/>
              <a:t>o</a:t>
            </a:r>
            <a:r>
              <a:rPr spc="30"/>
              <a:t>l</a:t>
            </a:r>
            <a:r>
              <a:rPr spc="5"/>
              <a:t>l</a:t>
            </a:r>
            <a:r>
              <a:rPr spc="-130"/>
              <a:t> </a:t>
            </a:r>
            <a:r>
              <a:rPr spc="-15"/>
              <a:t>C</a:t>
            </a:r>
            <a:r>
              <a:rPr spc="-20"/>
              <a:t>a</a:t>
            </a:r>
            <a:r>
              <a:rPr spc="20"/>
              <a:t>g</a:t>
            </a:r>
            <a:r>
              <a:rPr spc="10"/>
              <a:t>e</a:t>
            </a:r>
            <a:r>
              <a:rPr spc="-50"/>
              <a:t> </a:t>
            </a:r>
            <a:r>
              <a:rPr spc="10"/>
              <a:t>D</a:t>
            </a:r>
            <a:r>
              <a:rPr spc="35"/>
              <a:t>e</a:t>
            </a:r>
            <a:r>
              <a:rPr spc="20"/>
              <a:t>s</a:t>
            </a:r>
            <a:r>
              <a:rPr spc="30"/>
              <a:t>i</a:t>
            </a:r>
            <a:r>
              <a:rPr spc="20"/>
              <a:t>g</a:t>
            </a:r>
            <a:r>
              <a:rPr spc="10"/>
              <a:t>n</a:t>
            </a:r>
            <a:r>
              <a:rPr spc="-114"/>
              <a:t> </a:t>
            </a:r>
            <a:r>
              <a:rPr spc="-20"/>
              <a:t>P</a:t>
            </a:r>
            <a:r>
              <a:rPr spc="30"/>
              <a:t>r</a:t>
            </a:r>
            <a:r>
              <a:rPr spc="40"/>
              <a:t>o</a:t>
            </a:r>
            <a:r>
              <a:rPr spc="-15"/>
              <a:t>c</a:t>
            </a:r>
            <a:r>
              <a:rPr spc="35"/>
              <a:t>e</a:t>
            </a:r>
            <a:r>
              <a:rPr spc="20"/>
              <a:t>s</a:t>
            </a:r>
            <a:r>
              <a:rPr spc="60"/>
              <a:t>s</a:t>
            </a:r>
            <a:r>
              <a:rPr spc="-15"/>
              <a:t>-</a:t>
            </a:r>
            <a:r>
              <a:rPr spc="-5"/>
              <a:t>E</a:t>
            </a:r>
            <a:r>
              <a:rPr spc="30"/>
              <a:t>r</a:t>
            </a:r>
            <a:r>
              <a:rPr spc="-55"/>
              <a:t>g</a:t>
            </a:r>
            <a:r>
              <a:rPr spc="-30"/>
              <a:t>on</a:t>
            </a:r>
            <a:r>
              <a:rPr spc="45"/>
              <a:t>o</a:t>
            </a:r>
            <a:r>
              <a:rPr spc="15"/>
              <a:t>m</a:t>
            </a:r>
            <a:r>
              <a:rPr spc="-45"/>
              <a:t>i</a:t>
            </a:r>
            <a:r>
              <a:rPr spc="-15"/>
              <a:t>c</a:t>
            </a:r>
            <a:r>
              <a:rPr spc="10"/>
              <a:t>s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13485">
              <a:lnSpc>
                <a:spcPct val="100000"/>
              </a:lnSpc>
              <a:spcBef>
                <a:spcPts val="260"/>
              </a:spcBef>
            </a:pPr>
            <a:r>
              <a:t>CONSIDERATIONS:</a:t>
            </a:r>
          </a:p>
          <a:p>
            <a:pPr marL="298450" indent="-286385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 spc="-5">
                <a:latin typeface="Calibri"/>
                <a:cs typeface="Calibri"/>
              </a:rPr>
              <a:t>Driver</a:t>
            </a:r>
            <a:r>
              <a:rPr b="0" u="none" spc="135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oriented</a:t>
            </a:r>
            <a:r>
              <a:rPr b="0" u="none" spc="150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Roll</a:t>
            </a:r>
            <a:r>
              <a:rPr b="0" u="none" spc="3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Cage</a:t>
            </a:r>
            <a:r>
              <a:rPr b="0" u="none" spc="50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design</a:t>
            </a:r>
          </a:p>
          <a:p>
            <a:pPr marL="298450" indent="-28638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 spc="5">
                <a:latin typeface="Calibri"/>
                <a:cs typeface="Calibri"/>
              </a:rPr>
              <a:t>All</a:t>
            </a:r>
            <a:r>
              <a:rPr b="0" u="none" spc="35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the</a:t>
            </a:r>
            <a:r>
              <a:rPr b="0" u="none" spc="6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rule</a:t>
            </a:r>
            <a:r>
              <a:rPr b="0" u="none" spc="6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book</a:t>
            </a:r>
            <a:r>
              <a:rPr b="0" u="none" spc="55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conditions</a:t>
            </a:r>
            <a:r>
              <a:rPr b="0" u="none" spc="80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are</a:t>
            </a:r>
            <a:r>
              <a:rPr b="0" u="none" spc="60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satisfied</a:t>
            </a:r>
          </a:p>
          <a:p>
            <a:pPr marL="298450" indent="-2863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 spc="10">
                <a:latin typeface="Calibri"/>
                <a:cs typeface="Calibri"/>
              </a:rPr>
              <a:t>Polar</a:t>
            </a:r>
            <a:r>
              <a:rPr b="0" u="none" spc="-15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moment</a:t>
            </a:r>
            <a:r>
              <a:rPr b="0" u="none" spc="85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of</a:t>
            </a:r>
            <a:r>
              <a:rPr b="0" u="none" spc="5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inertia</a:t>
            </a:r>
            <a:r>
              <a:rPr b="0" u="none" spc="85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is</a:t>
            </a:r>
            <a:r>
              <a:rPr b="0" u="none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maximized</a:t>
            </a:r>
          </a:p>
          <a:p>
            <a:pPr marL="298450" marR="129539" indent="-286385">
              <a:lnSpc>
                <a:spcPct val="101000"/>
              </a:lnSpc>
              <a:spcBef>
                <a:spcPts val="75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 spc="10">
                <a:latin typeface="Calibri"/>
                <a:cs typeface="Calibri"/>
              </a:rPr>
              <a:t>FBM</a:t>
            </a:r>
            <a:r>
              <a:rPr b="0" u="none" spc="1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are</a:t>
            </a:r>
            <a:r>
              <a:rPr b="0" u="none" spc="5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adjusted</a:t>
            </a:r>
            <a:r>
              <a:rPr b="0" u="none" spc="15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wider</a:t>
            </a:r>
            <a:r>
              <a:rPr b="0" u="none" spc="65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for</a:t>
            </a:r>
            <a:r>
              <a:rPr b="0" u="none" spc="6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Ensuring</a:t>
            </a:r>
            <a:r>
              <a:rPr b="0" u="none" spc="90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Good </a:t>
            </a:r>
            <a:r>
              <a:rPr b="0" u="none" spc="-335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Visibility</a:t>
            </a:r>
          </a:p>
          <a:p>
            <a:pPr marL="298450" marR="175895" indent="-286385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>
                <a:latin typeface="Calibri"/>
                <a:cs typeface="Calibri"/>
              </a:rPr>
              <a:t>Roll</a:t>
            </a:r>
            <a:r>
              <a:rPr b="0" u="none" spc="30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cage</a:t>
            </a:r>
            <a:r>
              <a:rPr b="0" u="none" spc="-20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is</a:t>
            </a:r>
            <a:r>
              <a:rPr b="0" u="none" spc="5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made</a:t>
            </a:r>
            <a:r>
              <a:rPr b="0" u="none" spc="50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for</a:t>
            </a:r>
            <a:r>
              <a:rPr b="0" u="none" spc="65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better</a:t>
            </a:r>
            <a:r>
              <a:rPr b="0" u="none" spc="7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turning</a:t>
            </a:r>
            <a:r>
              <a:rPr b="0" u="none" spc="9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radius </a:t>
            </a:r>
            <a:r>
              <a:rPr b="0" u="none" spc="-335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and</a:t>
            </a:r>
            <a:r>
              <a:rPr b="0" u="none" spc="10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vehicle</a:t>
            </a:r>
            <a:r>
              <a:rPr b="0" u="none" spc="13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aesthetics</a:t>
            </a:r>
          </a:p>
          <a:p>
            <a:pPr marL="298450" marR="211454" indent="-286385">
              <a:lnSpc>
                <a:spcPct val="105000"/>
              </a:lnSpc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 spc="-5">
                <a:latin typeface="Calibri"/>
                <a:cs typeface="Calibri"/>
              </a:rPr>
              <a:t>Easy</a:t>
            </a:r>
            <a:r>
              <a:rPr b="0" u="none" spc="50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for</a:t>
            </a:r>
            <a:r>
              <a:rPr b="0" u="none" spc="-10">
                <a:latin typeface="Calibri"/>
                <a:cs typeface="Calibri"/>
              </a:rPr>
              <a:t> egress</a:t>
            </a:r>
            <a:r>
              <a:rPr b="0" u="none" spc="220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test</a:t>
            </a:r>
            <a:r>
              <a:rPr b="0" u="none" spc="15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and</a:t>
            </a:r>
            <a:r>
              <a:rPr b="0" u="none" spc="90">
                <a:latin typeface="Calibri"/>
                <a:cs typeface="Calibri"/>
              </a:rPr>
              <a:t> </a:t>
            </a:r>
            <a:r>
              <a:rPr b="0" u="none" spc="-10">
                <a:latin typeface="Calibri"/>
                <a:cs typeface="Calibri"/>
              </a:rPr>
              <a:t>driver</a:t>
            </a:r>
            <a:r>
              <a:rPr b="0" u="none" spc="140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can </a:t>
            </a:r>
            <a:r>
              <a:rPr b="0" u="none">
                <a:latin typeface="Calibri"/>
                <a:cs typeface="Calibri"/>
              </a:rPr>
              <a:t>escape </a:t>
            </a:r>
            <a:r>
              <a:rPr b="0" u="none" spc="-33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easily</a:t>
            </a:r>
            <a:r>
              <a:rPr b="0" u="none" spc="50">
                <a:latin typeface="Calibri"/>
                <a:cs typeface="Calibri"/>
              </a:rPr>
              <a:t> </a:t>
            </a:r>
            <a:r>
              <a:rPr b="0" u="none" spc="15">
                <a:latin typeface="Calibri"/>
                <a:cs typeface="Calibri"/>
              </a:rPr>
              <a:t>in </a:t>
            </a:r>
            <a:r>
              <a:rPr b="0" u="none" spc="5">
                <a:latin typeface="Calibri"/>
                <a:cs typeface="Calibri"/>
              </a:rPr>
              <a:t>case</a:t>
            </a:r>
            <a:r>
              <a:rPr b="0" u="none" spc="6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of</a:t>
            </a:r>
            <a:r>
              <a:rPr b="0" u="none" spc="6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any</a:t>
            </a:r>
            <a:r>
              <a:rPr b="0" u="none" spc="-25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dangers</a:t>
            </a:r>
          </a:p>
          <a:p>
            <a:pPr marL="298450" indent="-28638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 spc="5">
                <a:latin typeface="Calibri"/>
                <a:cs typeface="Calibri"/>
              </a:rPr>
              <a:t>All</a:t>
            </a:r>
            <a:r>
              <a:rPr b="0" u="none" spc="3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controls</a:t>
            </a:r>
            <a:r>
              <a:rPr b="0" u="none" spc="7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are</a:t>
            </a:r>
            <a:r>
              <a:rPr b="0" u="none" spc="-15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within</a:t>
            </a:r>
            <a:r>
              <a:rPr b="0" u="none" spc="85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the</a:t>
            </a:r>
            <a:r>
              <a:rPr b="0" u="none" spc="60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reach</a:t>
            </a:r>
            <a:r>
              <a:rPr b="0" u="none" spc="85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of</a:t>
            </a:r>
            <a:r>
              <a:rPr b="0" u="none" spc="-1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the</a:t>
            </a:r>
          </a:p>
          <a:p>
            <a:pPr marL="298450">
              <a:lnSpc>
                <a:spcPct val="100000"/>
              </a:lnSpc>
              <a:spcBef>
                <a:spcPts val="95"/>
              </a:spcBef>
            </a:pPr>
            <a:r>
              <a:rPr b="0" u="none" spc="-10">
                <a:latin typeface="Calibri"/>
                <a:cs typeface="Calibri"/>
              </a:rPr>
              <a:t>driver</a:t>
            </a:r>
            <a:r>
              <a:rPr b="0" u="none" spc="130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comfortably</a:t>
            </a:r>
          </a:p>
          <a:p>
            <a:pPr marL="298450" indent="-28638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>
                <a:latin typeface="Calibri"/>
                <a:cs typeface="Calibri"/>
              </a:rPr>
              <a:t>Providing</a:t>
            </a:r>
            <a:r>
              <a:rPr b="0" u="none" spc="100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Necessary</a:t>
            </a:r>
            <a:r>
              <a:rPr b="0" u="none" spc="215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Reinforcements</a:t>
            </a:r>
          </a:p>
          <a:p>
            <a:pPr marL="298450" marR="235585" indent="-286385">
              <a:lnSpc>
                <a:spcPts val="1950"/>
              </a:lnSpc>
              <a:spcBef>
                <a:spcPts val="85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 spc="-10">
                <a:latin typeface="Calibri"/>
                <a:cs typeface="Calibri"/>
              </a:rPr>
              <a:t>After </a:t>
            </a:r>
            <a:r>
              <a:rPr b="0" u="none" spc="-35">
                <a:latin typeface="Calibri"/>
                <a:cs typeface="Calibri"/>
              </a:rPr>
              <a:t>safety,</a:t>
            </a:r>
            <a:r>
              <a:rPr b="0" u="none" spc="-3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weight </a:t>
            </a:r>
            <a:r>
              <a:rPr b="0" u="none" spc="10">
                <a:latin typeface="Calibri"/>
                <a:cs typeface="Calibri"/>
              </a:rPr>
              <a:t>is </a:t>
            </a:r>
            <a:r>
              <a:rPr b="0" u="none" spc="-10">
                <a:latin typeface="Calibri"/>
                <a:cs typeface="Calibri"/>
              </a:rPr>
              <a:t>decreased</a:t>
            </a:r>
            <a:r>
              <a:rPr b="0" u="none" spc="-5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by </a:t>
            </a:r>
            <a:r>
              <a:rPr b="0" u="none" spc="5">
                <a:latin typeface="Calibri"/>
                <a:cs typeface="Calibri"/>
              </a:rPr>
              <a:t>using </a:t>
            </a:r>
            <a:r>
              <a:rPr b="0" u="none" spc="-34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primary</a:t>
            </a:r>
            <a:r>
              <a:rPr b="0" u="none" spc="125">
                <a:latin typeface="Calibri"/>
                <a:cs typeface="Calibri"/>
              </a:rPr>
              <a:t> </a:t>
            </a:r>
            <a:r>
              <a:rPr b="0" u="none" spc="15">
                <a:latin typeface="Calibri"/>
                <a:cs typeface="Calibri"/>
              </a:rPr>
              <a:t>&amp;</a:t>
            </a:r>
            <a:r>
              <a:rPr b="0" u="none" spc="-10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secondary</a:t>
            </a:r>
            <a:r>
              <a:rPr b="0" u="none" spc="200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members</a:t>
            </a:r>
          </a:p>
          <a:p>
            <a:pPr marL="298450" indent="-286385">
              <a:lnSpc>
                <a:spcPts val="1800"/>
              </a:lnSpc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>
                <a:latin typeface="Calibri"/>
                <a:cs typeface="Calibri"/>
              </a:rPr>
              <a:t>Material</a:t>
            </a:r>
            <a:r>
              <a:rPr b="0" u="none" spc="100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is</a:t>
            </a:r>
            <a:r>
              <a:rPr b="0" u="none">
                <a:latin typeface="Calibri"/>
                <a:cs typeface="Calibri"/>
              </a:rPr>
              <a:t> </a:t>
            </a:r>
            <a:r>
              <a:rPr b="0" u="none" spc="-10">
                <a:latin typeface="Calibri"/>
                <a:cs typeface="Calibri"/>
              </a:rPr>
              <a:t>kept</a:t>
            </a:r>
            <a:r>
              <a:rPr b="0" u="none" spc="90">
                <a:latin typeface="Calibri"/>
                <a:cs typeface="Calibri"/>
              </a:rPr>
              <a:t> </a:t>
            </a:r>
            <a:r>
              <a:rPr b="0" u="none" spc="-10">
                <a:latin typeface="Calibri"/>
                <a:cs typeface="Calibri"/>
              </a:rPr>
              <a:t>farther</a:t>
            </a:r>
            <a:r>
              <a:rPr b="0" u="none" spc="140">
                <a:latin typeface="Calibri"/>
                <a:cs typeface="Calibri"/>
              </a:rPr>
              <a:t> </a:t>
            </a:r>
            <a:r>
              <a:rPr b="0" u="none" spc="-5">
                <a:latin typeface="Calibri"/>
                <a:cs typeface="Calibri"/>
              </a:rPr>
              <a:t>from</a:t>
            </a:r>
            <a:r>
              <a:rPr b="0" u="none" spc="11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rotating</a:t>
            </a:r>
            <a:r>
              <a:rPr b="0" u="none" spc="2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axis </a:t>
            </a:r>
            <a:r>
              <a:rPr b="0" u="none" spc="10">
                <a:latin typeface="Calibri"/>
                <a:cs typeface="Calibri"/>
              </a:rPr>
              <a:t>to</a:t>
            </a:r>
          </a:p>
          <a:p>
            <a:pPr marL="298450">
              <a:lnSpc>
                <a:spcPct val="100000"/>
              </a:lnSpc>
              <a:spcBef>
                <a:spcPts val="90"/>
              </a:spcBef>
            </a:pPr>
            <a:r>
              <a:rPr b="0" u="none" spc="-5">
                <a:latin typeface="Calibri"/>
                <a:cs typeface="Calibri"/>
              </a:rPr>
              <a:t>increase</a:t>
            </a:r>
            <a:r>
              <a:rPr b="0" u="none" spc="135">
                <a:latin typeface="Calibri"/>
                <a:cs typeface="Calibri"/>
              </a:rPr>
              <a:t> </a:t>
            </a:r>
            <a:r>
              <a:rPr b="0" u="none" spc="-20">
                <a:latin typeface="Calibri"/>
                <a:cs typeface="Calibri"/>
              </a:rPr>
              <a:t>Torsional</a:t>
            </a:r>
            <a:r>
              <a:rPr b="0" u="none" spc="110">
                <a:latin typeface="Calibri"/>
                <a:cs typeface="Calibri"/>
              </a:rPr>
              <a:t> </a:t>
            </a:r>
            <a:r>
              <a:rPr b="0" u="none" spc="5">
                <a:latin typeface="Calibri"/>
                <a:cs typeface="Calibri"/>
              </a:rPr>
              <a:t>rigidity</a:t>
            </a:r>
          </a:p>
          <a:p>
            <a:pPr marL="298450" indent="-28638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  <a:tab pos="299085" algn="l"/>
              </a:tabLst>
            </a:pPr>
            <a:r>
              <a:rPr b="0" u="none">
                <a:latin typeface="Calibri"/>
                <a:cs typeface="Calibri"/>
              </a:rPr>
              <a:t>Strength</a:t>
            </a:r>
            <a:r>
              <a:rPr b="0" u="none" spc="85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to </a:t>
            </a:r>
            <a:r>
              <a:rPr b="0" u="none" spc="5">
                <a:latin typeface="Calibri"/>
                <a:cs typeface="Calibri"/>
              </a:rPr>
              <a:t>weight</a:t>
            </a:r>
            <a:r>
              <a:rPr b="0" u="none" spc="90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ratio</a:t>
            </a:r>
            <a:r>
              <a:rPr b="0" u="none" spc="15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is</a:t>
            </a:r>
            <a:r>
              <a:rPr b="0" u="none">
                <a:latin typeface="Calibri"/>
                <a:cs typeface="Calibri"/>
              </a:rPr>
              <a:t> </a:t>
            </a:r>
            <a:r>
              <a:rPr b="0" u="none" spc="10">
                <a:latin typeface="Calibri"/>
                <a:cs typeface="Calibri"/>
              </a:rPr>
              <a:t>to be</a:t>
            </a:r>
            <a:r>
              <a:rPr b="0" u="none" spc="55">
                <a:latin typeface="Calibri"/>
                <a:cs typeface="Calibri"/>
              </a:rPr>
              <a:t> </a:t>
            </a:r>
            <a:r>
              <a:rPr b="0" u="none">
                <a:latin typeface="Calibri"/>
                <a:cs typeface="Calibri"/>
              </a:rPr>
              <a:t>improved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1832" y="494982"/>
            <a:ext cx="1072515" cy="13112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" marR="5080" indent="-47625" algn="ctr">
              <a:lnSpc>
                <a:spcPct val="100099"/>
              </a:lnSpc>
              <a:spcBef>
                <a:spcPts val="125"/>
              </a:spcBef>
            </a:pPr>
            <a:r>
              <a:rPr sz="1400" spc="-5">
                <a:solidFill>
                  <a:srgbClr val="FFFFFF"/>
                </a:solidFill>
                <a:latin typeface="Calibri"/>
                <a:cs typeface="Calibri"/>
              </a:rPr>
              <a:t>Accepting 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>
                <a:solidFill>
                  <a:srgbClr val="FFFFFF"/>
                </a:solidFill>
                <a:latin typeface="Calibri"/>
                <a:cs typeface="Calibri"/>
              </a:rPr>
              <a:t>clearances 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>
                <a:solidFill>
                  <a:srgbClr val="FFFFFF"/>
                </a:solidFill>
                <a:latin typeface="Calibri"/>
                <a:cs typeface="Calibri"/>
              </a:rPr>
              <a:t>Rulebook</a:t>
            </a:r>
            <a:r>
              <a:rPr sz="1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sz="1400" spc="-3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driver’s </a:t>
            </a:r>
            <a:r>
              <a:rPr sz="14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comfortable 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positions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22601" y="531876"/>
            <a:ext cx="1584325" cy="1355725"/>
            <a:chOff x="2522601" y="531876"/>
            <a:chExt cx="1584325" cy="1355725"/>
          </a:xfrm>
        </p:grpSpPr>
        <p:sp>
          <p:nvSpPr>
            <p:cNvPr id="10" name="object 10"/>
            <p:cNvSpPr/>
            <p:nvPr/>
          </p:nvSpPr>
          <p:spPr>
            <a:xfrm>
              <a:off x="2528951" y="538226"/>
              <a:ext cx="1571625" cy="1343025"/>
            </a:xfrm>
            <a:custGeom>
              <a:avLst/>
              <a:gdLst/>
              <a:ahLst/>
              <a:cxnLst/>
              <a:rect l="l" t="t" r="r" b="b"/>
              <a:pathLst>
                <a:path w="1571625" h="1343025">
                  <a:moveTo>
                    <a:pt x="1347724" y="0"/>
                  </a:moveTo>
                  <a:lnTo>
                    <a:pt x="223774" y="0"/>
                  </a:lnTo>
                  <a:lnTo>
                    <a:pt x="178680" y="4546"/>
                  </a:lnTo>
                  <a:lnTo>
                    <a:pt x="136677" y="17587"/>
                  </a:lnTo>
                  <a:lnTo>
                    <a:pt x="98666" y="38221"/>
                  </a:lnTo>
                  <a:lnTo>
                    <a:pt x="65547" y="65547"/>
                  </a:lnTo>
                  <a:lnTo>
                    <a:pt x="38221" y="98666"/>
                  </a:lnTo>
                  <a:lnTo>
                    <a:pt x="17587" y="136677"/>
                  </a:lnTo>
                  <a:lnTo>
                    <a:pt x="4546" y="178680"/>
                  </a:lnTo>
                  <a:lnTo>
                    <a:pt x="0" y="223774"/>
                  </a:lnTo>
                  <a:lnTo>
                    <a:pt x="0" y="1119124"/>
                  </a:lnTo>
                  <a:lnTo>
                    <a:pt x="4546" y="1164223"/>
                  </a:lnTo>
                  <a:lnTo>
                    <a:pt x="17587" y="1206240"/>
                  </a:lnTo>
                  <a:lnTo>
                    <a:pt x="38221" y="1244271"/>
                  </a:lnTo>
                  <a:lnTo>
                    <a:pt x="65547" y="1277413"/>
                  </a:lnTo>
                  <a:lnTo>
                    <a:pt x="98666" y="1304763"/>
                  </a:lnTo>
                  <a:lnTo>
                    <a:pt x="136677" y="1325417"/>
                  </a:lnTo>
                  <a:lnTo>
                    <a:pt x="178680" y="1338472"/>
                  </a:lnTo>
                  <a:lnTo>
                    <a:pt x="223774" y="1343025"/>
                  </a:lnTo>
                  <a:lnTo>
                    <a:pt x="1347724" y="1343025"/>
                  </a:lnTo>
                  <a:lnTo>
                    <a:pt x="1392823" y="1338472"/>
                  </a:lnTo>
                  <a:lnTo>
                    <a:pt x="1434840" y="1325417"/>
                  </a:lnTo>
                  <a:lnTo>
                    <a:pt x="1472871" y="1304763"/>
                  </a:lnTo>
                  <a:lnTo>
                    <a:pt x="1506013" y="1277413"/>
                  </a:lnTo>
                  <a:lnTo>
                    <a:pt x="1533363" y="1244271"/>
                  </a:lnTo>
                  <a:lnTo>
                    <a:pt x="1554017" y="1206240"/>
                  </a:lnTo>
                  <a:lnTo>
                    <a:pt x="1567072" y="1164223"/>
                  </a:lnTo>
                  <a:lnTo>
                    <a:pt x="1571625" y="1119124"/>
                  </a:lnTo>
                  <a:lnTo>
                    <a:pt x="1571625" y="223774"/>
                  </a:lnTo>
                  <a:lnTo>
                    <a:pt x="1567072" y="178680"/>
                  </a:lnTo>
                  <a:lnTo>
                    <a:pt x="1554017" y="136677"/>
                  </a:lnTo>
                  <a:lnTo>
                    <a:pt x="1533363" y="98666"/>
                  </a:lnTo>
                  <a:lnTo>
                    <a:pt x="1506013" y="65547"/>
                  </a:lnTo>
                  <a:lnTo>
                    <a:pt x="1472871" y="38221"/>
                  </a:lnTo>
                  <a:lnTo>
                    <a:pt x="1434840" y="17587"/>
                  </a:lnTo>
                  <a:lnTo>
                    <a:pt x="1392823" y="4546"/>
                  </a:lnTo>
                  <a:lnTo>
                    <a:pt x="13477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28951" y="538226"/>
              <a:ext cx="1571625" cy="1343025"/>
            </a:xfrm>
            <a:custGeom>
              <a:avLst/>
              <a:gdLst/>
              <a:ahLst/>
              <a:cxnLst/>
              <a:rect l="l" t="t" r="r" b="b"/>
              <a:pathLst>
                <a:path w="1571625" h="1343025">
                  <a:moveTo>
                    <a:pt x="0" y="223774"/>
                  </a:moveTo>
                  <a:lnTo>
                    <a:pt x="4546" y="178680"/>
                  </a:lnTo>
                  <a:lnTo>
                    <a:pt x="17587" y="136677"/>
                  </a:lnTo>
                  <a:lnTo>
                    <a:pt x="38221" y="98666"/>
                  </a:lnTo>
                  <a:lnTo>
                    <a:pt x="65547" y="65547"/>
                  </a:lnTo>
                  <a:lnTo>
                    <a:pt x="98666" y="38221"/>
                  </a:lnTo>
                  <a:lnTo>
                    <a:pt x="136677" y="17587"/>
                  </a:lnTo>
                  <a:lnTo>
                    <a:pt x="178680" y="4546"/>
                  </a:lnTo>
                  <a:lnTo>
                    <a:pt x="223774" y="0"/>
                  </a:lnTo>
                  <a:lnTo>
                    <a:pt x="1347724" y="0"/>
                  </a:lnTo>
                  <a:lnTo>
                    <a:pt x="1392823" y="4546"/>
                  </a:lnTo>
                  <a:lnTo>
                    <a:pt x="1434840" y="17587"/>
                  </a:lnTo>
                  <a:lnTo>
                    <a:pt x="1472871" y="38221"/>
                  </a:lnTo>
                  <a:lnTo>
                    <a:pt x="1506013" y="65547"/>
                  </a:lnTo>
                  <a:lnTo>
                    <a:pt x="1533363" y="98666"/>
                  </a:lnTo>
                  <a:lnTo>
                    <a:pt x="1554017" y="136677"/>
                  </a:lnTo>
                  <a:lnTo>
                    <a:pt x="1567072" y="178680"/>
                  </a:lnTo>
                  <a:lnTo>
                    <a:pt x="1571625" y="223774"/>
                  </a:lnTo>
                  <a:lnTo>
                    <a:pt x="1571625" y="1119124"/>
                  </a:lnTo>
                  <a:lnTo>
                    <a:pt x="1567072" y="1164223"/>
                  </a:lnTo>
                  <a:lnTo>
                    <a:pt x="1554017" y="1206240"/>
                  </a:lnTo>
                  <a:lnTo>
                    <a:pt x="1533363" y="1244271"/>
                  </a:lnTo>
                  <a:lnTo>
                    <a:pt x="1506013" y="1277413"/>
                  </a:lnTo>
                  <a:lnTo>
                    <a:pt x="1472871" y="1304763"/>
                  </a:lnTo>
                  <a:lnTo>
                    <a:pt x="1434840" y="1325417"/>
                  </a:lnTo>
                  <a:lnTo>
                    <a:pt x="1392823" y="1338472"/>
                  </a:lnTo>
                  <a:lnTo>
                    <a:pt x="1347724" y="1343025"/>
                  </a:lnTo>
                  <a:lnTo>
                    <a:pt x="223774" y="1343025"/>
                  </a:lnTo>
                  <a:lnTo>
                    <a:pt x="178680" y="1338472"/>
                  </a:lnTo>
                  <a:lnTo>
                    <a:pt x="136677" y="1325417"/>
                  </a:lnTo>
                  <a:lnTo>
                    <a:pt x="98666" y="1304763"/>
                  </a:lnTo>
                  <a:lnTo>
                    <a:pt x="65547" y="1277413"/>
                  </a:lnTo>
                  <a:lnTo>
                    <a:pt x="38221" y="1244271"/>
                  </a:lnTo>
                  <a:lnTo>
                    <a:pt x="17587" y="1206240"/>
                  </a:lnTo>
                  <a:lnTo>
                    <a:pt x="4546" y="1164223"/>
                  </a:lnTo>
                  <a:lnTo>
                    <a:pt x="0" y="1119124"/>
                  </a:lnTo>
                  <a:lnTo>
                    <a:pt x="0" y="22377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720975" y="634047"/>
            <a:ext cx="1189990" cy="11207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 indent="1270" algn="ctr">
              <a:lnSpc>
                <a:spcPct val="100099"/>
              </a:lnSpc>
              <a:spcBef>
                <a:spcPts val="125"/>
              </a:spcBef>
            </a:pPr>
            <a:r>
              <a:rPr sz="1550" spc="-5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400" spc="45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400" spc="-3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spc="3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4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he  p</a:t>
            </a:r>
            <a:r>
              <a:rPr sz="1400" spc="35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spc="4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te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400" spc="-55">
                <a:solidFill>
                  <a:srgbClr val="FFFFFF"/>
                </a:solidFill>
                <a:latin typeface="Calibri"/>
                <a:cs typeface="Calibri"/>
              </a:rPr>
              <a:t>’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s  design and 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failures </a:t>
            </a:r>
            <a:r>
              <a:rPr sz="1400" spc="-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fix 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 op</a:t>
            </a:r>
            <a:r>
              <a:rPr sz="1400" spc="-2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mu</a:t>
            </a:r>
            <a:r>
              <a:rPr sz="1400" spc="2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400" spc="15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13326" y="531876"/>
            <a:ext cx="1584325" cy="1355725"/>
            <a:chOff x="4513326" y="531876"/>
            <a:chExt cx="1584325" cy="1355725"/>
          </a:xfrm>
        </p:grpSpPr>
        <p:sp>
          <p:nvSpPr>
            <p:cNvPr id="14" name="object 14"/>
            <p:cNvSpPr/>
            <p:nvPr/>
          </p:nvSpPr>
          <p:spPr>
            <a:xfrm>
              <a:off x="4519676" y="538226"/>
              <a:ext cx="1571625" cy="1343025"/>
            </a:xfrm>
            <a:custGeom>
              <a:avLst/>
              <a:gdLst/>
              <a:ahLst/>
              <a:cxnLst/>
              <a:rect l="l" t="t" r="r" b="b"/>
              <a:pathLst>
                <a:path w="1571625" h="1343025">
                  <a:moveTo>
                    <a:pt x="1347724" y="0"/>
                  </a:moveTo>
                  <a:lnTo>
                    <a:pt x="223774" y="0"/>
                  </a:lnTo>
                  <a:lnTo>
                    <a:pt x="178680" y="4546"/>
                  </a:lnTo>
                  <a:lnTo>
                    <a:pt x="136677" y="17587"/>
                  </a:lnTo>
                  <a:lnTo>
                    <a:pt x="98666" y="38221"/>
                  </a:lnTo>
                  <a:lnTo>
                    <a:pt x="65547" y="65547"/>
                  </a:lnTo>
                  <a:lnTo>
                    <a:pt x="38221" y="98666"/>
                  </a:lnTo>
                  <a:lnTo>
                    <a:pt x="17587" y="136677"/>
                  </a:lnTo>
                  <a:lnTo>
                    <a:pt x="4546" y="178680"/>
                  </a:lnTo>
                  <a:lnTo>
                    <a:pt x="0" y="223774"/>
                  </a:lnTo>
                  <a:lnTo>
                    <a:pt x="0" y="1119124"/>
                  </a:lnTo>
                  <a:lnTo>
                    <a:pt x="4546" y="1164223"/>
                  </a:lnTo>
                  <a:lnTo>
                    <a:pt x="17587" y="1206240"/>
                  </a:lnTo>
                  <a:lnTo>
                    <a:pt x="38221" y="1244271"/>
                  </a:lnTo>
                  <a:lnTo>
                    <a:pt x="65547" y="1277413"/>
                  </a:lnTo>
                  <a:lnTo>
                    <a:pt x="98666" y="1304763"/>
                  </a:lnTo>
                  <a:lnTo>
                    <a:pt x="136677" y="1325417"/>
                  </a:lnTo>
                  <a:lnTo>
                    <a:pt x="178680" y="1338472"/>
                  </a:lnTo>
                  <a:lnTo>
                    <a:pt x="223774" y="1343025"/>
                  </a:lnTo>
                  <a:lnTo>
                    <a:pt x="1347724" y="1343025"/>
                  </a:lnTo>
                  <a:lnTo>
                    <a:pt x="1392823" y="1338472"/>
                  </a:lnTo>
                  <a:lnTo>
                    <a:pt x="1434840" y="1325417"/>
                  </a:lnTo>
                  <a:lnTo>
                    <a:pt x="1472871" y="1304763"/>
                  </a:lnTo>
                  <a:lnTo>
                    <a:pt x="1506013" y="1277413"/>
                  </a:lnTo>
                  <a:lnTo>
                    <a:pt x="1533363" y="1244271"/>
                  </a:lnTo>
                  <a:lnTo>
                    <a:pt x="1554017" y="1206240"/>
                  </a:lnTo>
                  <a:lnTo>
                    <a:pt x="1567072" y="1164223"/>
                  </a:lnTo>
                  <a:lnTo>
                    <a:pt x="1571625" y="1119124"/>
                  </a:lnTo>
                  <a:lnTo>
                    <a:pt x="1571625" y="223774"/>
                  </a:lnTo>
                  <a:lnTo>
                    <a:pt x="1567072" y="178680"/>
                  </a:lnTo>
                  <a:lnTo>
                    <a:pt x="1554017" y="136677"/>
                  </a:lnTo>
                  <a:lnTo>
                    <a:pt x="1533363" y="98666"/>
                  </a:lnTo>
                  <a:lnTo>
                    <a:pt x="1506013" y="65547"/>
                  </a:lnTo>
                  <a:lnTo>
                    <a:pt x="1472871" y="38221"/>
                  </a:lnTo>
                  <a:lnTo>
                    <a:pt x="1434840" y="17587"/>
                  </a:lnTo>
                  <a:lnTo>
                    <a:pt x="1392823" y="4546"/>
                  </a:lnTo>
                  <a:lnTo>
                    <a:pt x="13477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19676" y="538226"/>
              <a:ext cx="1571625" cy="1343025"/>
            </a:xfrm>
            <a:custGeom>
              <a:avLst/>
              <a:gdLst/>
              <a:ahLst/>
              <a:cxnLst/>
              <a:rect l="l" t="t" r="r" b="b"/>
              <a:pathLst>
                <a:path w="1571625" h="1343025">
                  <a:moveTo>
                    <a:pt x="0" y="223774"/>
                  </a:moveTo>
                  <a:lnTo>
                    <a:pt x="4546" y="178680"/>
                  </a:lnTo>
                  <a:lnTo>
                    <a:pt x="17587" y="136677"/>
                  </a:lnTo>
                  <a:lnTo>
                    <a:pt x="38221" y="98666"/>
                  </a:lnTo>
                  <a:lnTo>
                    <a:pt x="65547" y="65547"/>
                  </a:lnTo>
                  <a:lnTo>
                    <a:pt x="98666" y="38221"/>
                  </a:lnTo>
                  <a:lnTo>
                    <a:pt x="136677" y="17587"/>
                  </a:lnTo>
                  <a:lnTo>
                    <a:pt x="178680" y="4546"/>
                  </a:lnTo>
                  <a:lnTo>
                    <a:pt x="223774" y="0"/>
                  </a:lnTo>
                  <a:lnTo>
                    <a:pt x="1347724" y="0"/>
                  </a:lnTo>
                  <a:lnTo>
                    <a:pt x="1392823" y="4546"/>
                  </a:lnTo>
                  <a:lnTo>
                    <a:pt x="1434840" y="17587"/>
                  </a:lnTo>
                  <a:lnTo>
                    <a:pt x="1472871" y="38221"/>
                  </a:lnTo>
                  <a:lnTo>
                    <a:pt x="1506013" y="65547"/>
                  </a:lnTo>
                  <a:lnTo>
                    <a:pt x="1533363" y="98666"/>
                  </a:lnTo>
                  <a:lnTo>
                    <a:pt x="1554017" y="136677"/>
                  </a:lnTo>
                  <a:lnTo>
                    <a:pt x="1567072" y="178680"/>
                  </a:lnTo>
                  <a:lnTo>
                    <a:pt x="1571625" y="223774"/>
                  </a:lnTo>
                  <a:lnTo>
                    <a:pt x="1571625" y="1119124"/>
                  </a:lnTo>
                  <a:lnTo>
                    <a:pt x="1567072" y="1164223"/>
                  </a:lnTo>
                  <a:lnTo>
                    <a:pt x="1554017" y="1206240"/>
                  </a:lnTo>
                  <a:lnTo>
                    <a:pt x="1533363" y="1244271"/>
                  </a:lnTo>
                  <a:lnTo>
                    <a:pt x="1506013" y="1277413"/>
                  </a:lnTo>
                  <a:lnTo>
                    <a:pt x="1472871" y="1304763"/>
                  </a:lnTo>
                  <a:lnTo>
                    <a:pt x="1434840" y="1325417"/>
                  </a:lnTo>
                  <a:lnTo>
                    <a:pt x="1392823" y="1338472"/>
                  </a:lnTo>
                  <a:lnTo>
                    <a:pt x="1347724" y="1343025"/>
                  </a:lnTo>
                  <a:lnTo>
                    <a:pt x="223774" y="1343025"/>
                  </a:lnTo>
                  <a:lnTo>
                    <a:pt x="178680" y="1338472"/>
                  </a:lnTo>
                  <a:lnTo>
                    <a:pt x="136677" y="1325417"/>
                  </a:lnTo>
                  <a:lnTo>
                    <a:pt x="98666" y="1304763"/>
                  </a:lnTo>
                  <a:lnTo>
                    <a:pt x="65547" y="1277413"/>
                  </a:lnTo>
                  <a:lnTo>
                    <a:pt x="38221" y="1244271"/>
                  </a:lnTo>
                  <a:lnTo>
                    <a:pt x="17587" y="1206240"/>
                  </a:lnTo>
                  <a:lnTo>
                    <a:pt x="4546" y="1164223"/>
                  </a:lnTo>
                  <a:lnTo>
                    <a:pt x="0" y="1119124"/>
                  </a:lnTo>
                  <a:lnTo>
                    <a:pt x="0" y="22377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799710" y="825817"/>
            <a:ext cx="1004569" cy="6724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 algn="just">
              <a:lnSpc>
                <a:spcPct val="100600"/>
              </a:lnSpc>
              <a:spcBef>
                <a:spcPts val="114"/>
              </a:spcBef>
            </a:pP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Drafting 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CAD </a:t>
            </a:r>
            <a:r>
              <a:rPr sz="1400" spc="-3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14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5">
                <a:solidFill>
                  <a:srgbClr val="FFFFFF"/>
                </a:solidFill>
                <a:latin typeface="Calibri"/>
                <a:cs typeface="Calibri"/>
              </a:rPr>
              <a:t>its </a:t>
            </a:r>
            <a:r>
              <a:rPr sz="1400" spc="-3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verification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437376" y="522351"/>
            <a:ext cx="1584325" cy="1355725"/>
            <a:chOff x="6437376" y="522351"/>
            <a:chExt cx="1584325" cy="1355725"/>
          </a:xfrm>
        </p:grpSpPr>
        <p:sp>
          <p:nvSpPr>
            <p:cNvPr id="18" name="object 18"/>
            <p:cNvSpPr/>
            <p:nvPr/>
          </p:nvSpPr>
          <p:spPr>
            <a:xfrm>
              <a:off x="6443726" y="528701"/>
              <a:ext cx="1571625" cy="1343025"/>
            </a:xfrm>
            <a:custGeom>
              <a:avLst/>
              <a:gdLst/>
              <a:ahLst/>
              <a:cxnLst/>
              <a:rect l="l" t="t" r="r" b="b"/>
              <a:pathLst>
                <a:path w="1571625" h="1343025">
                  <a:moveTo>
                    <a:pt x="1347724" y="0"/>
                  </a:moveTo>
                  <a:lnTo>
                    <a:pt x="223774" y="0"/>
                  </a:lnTo>
                  <a:lnTo>
                    <a:pt x="178680" y="4546"/>
                  </a:lnTo>
                  <a:lnTo>
                    <a:pt x="136677" y="17587"/>
                  </a:lnTo>
                  <a:lnTo>
                    <a:pt x="98666" y="38221"/>
                  </a:lnTo>
                  <a:lnTo>
                    <a:pt x="65547" y="65547"/>
                  </a:lnTo>
                  <a:lnTo>
                    <a:pt x="38221" y="98666"/>
                  </a:lnTo>
                  <a:lnTo>
                    <a:pt x="17587" y="136677"/>
                  </a:lnTo>
                  <a:lnTo>
                    <a:pt x="4546" y="178680"/>
                  </a:lnTo>
                  <a:lnTo>
                    <a:pt x="0" y="223774"/>
                  </a:lnTo>
                  <a:lnTo>
                    <a:pt x="0" y="1119124"/>
                  </a:lnTo>
                  <a:lnTo>
                    <a:pt x="4546" y="1164223"/>
                  </a:lnTo>
                  <a:lnTo>
                    <a:pt x="17587" y="1206240"/>
                  </a:lnTo>
                  <a:lnTo>
                    <a:pt x="38221" y="1244271"/>
                  </a:lnTo>
                  <a:lnTo>
                    <a:pt x="65547" y="1277413"/>
                  </a:lnTo>
                  <a:lnTo>
                    <a:pt x="98666" y="1304763"/>
                  </a:lnTo>
                  <a:lnTo>
                    <a:pt x="136677" y="1325417"/>
                  </a:lnTo>
                  <a:lnTo>
                    <a:pt x="178680" y="1338472"/>
                  </a:lnTo>
                  <a:lnTo>
                    <a:pt x="223774" y="1343025"/>
                  </a:lnTo>
                  <a:lnTo>
                    <a:pt x="1347724" y="1343025"/>
                  </a:lnTo>
                  <a:lnTo>
                    <a:pt x="1392823" y="1338472"/>
                  </a:lnTo>
                  <a:lnTo>
                    <a:pt x="1434840" y="1325417"/>
                  </a:lnTo>
                  <a:lnTo>
                    <a:pt x="1472871" y="1304763"/>
                  </a:lnTo>
                  <a:lnTo>
                    <a:pt x="1506013" y="1277413"/>
                  </a:lnTo>
                  <a:lnTo>
                    <a:pt x="1533363" y="1244271"/>
                  </a:lnTo>
                  <a:lnTo>
                    <a:pt x="1554017" y="1206240"/>
                  </a:lnTo>
                  <a:lnTo>
                    <a:pt x="1567072" y="1164223"/>
                  </a:lnTo>
                  <a:lnTo>
                    <a:pt x="1571625" y="1119124"/>
                  </a:lnTo>
                  <a:lnTo>
                    <a:pt x="1571625" y="223774"/>
                  </a:lnTo>
                  <a:lnTo>
                    <a:pt x="1567072" y="178680"/>
                  </a:lnTo>
                  <a:lnTo>
                    <a:pt x="1554017" y="136677"/>
                  </a:lnTo>
                  <a:lnTo>
                    <a:pt x="1533363" y="98666"/>
                  </a:lnTo>
                  <a:lnTo>
                    <a:pt x="1506013" y="65547"/>
                  </a:lnTo>
                  <a:lnTo>
                    <a:pt x="1472871" y="38221"/>
                  </a:lnTo>
                  <a:lnTo>
                    <a:pt x="1434840" y="17587"/>
                  </a:lnTo>
                  <a:lnTo>
                    <a:pt x="1392823" y="4546"/>
                  </a:lnTo>
                  <a:lnTo>
                    <a:pt x="13477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43726" y="528701"/>
              <a:ext cx="1571625" cy="1343025"/>
            </a:xfrm>
            <a:custGeom>
              <a:avLst/>
              <a:gdLst/>
              <a:ahLst/>
              <a:cxnLst/>
              <a:rect l="l" t="t" r="r" b="b"/>
              <a:pathLst>
                <a:path w="1571625" h="1343025">
                  <a:moveTo>
                    <a:pt x="0" y="223774"/>
                  </a:moveTo>
                  <a:lnTo>
                    <a:pt x="4546" y="178680"/>
                  </a:lnTo>
                  <a:lnTo>
                    <a:pt x="17587" y="136677"/>
                  </a:lnTo>
                  <a:lnTo>
                    <a:pt x="38221" y="98666"/>
                  </a:lnTo>
                  <a:lnTo>
                    <a:pt x="65547" y="65547"/>
                  </a:lnTo>
                  <a:lnTo>
                    <a:pt x="98666" y="38221"/>
                  </a:lnTo>
                  <a:lnTo>
                    <a:pt x="136677" y="17587"/>
                  </a:lnTo>
                  <a:lnTo>
                    <a:pt x="178680" y="4546"/>
                  </a:lnTo>
                  <a:lnTo>
                    <a:pt x="223774" y="0"/>
                  </a:lnTo>
                  <a:lnTo>
                    <a:pt x="1347724" y="0"/>
                  </a:lnTo>
                  <a:lnTo>
                    <a:pt x="1392823" y="4546"/>
                  </a:lnTo>
                  <a:lnTo>
                    <a:pt x="1434840" y="17587"/>
                  </a:lnTo>
                  <a:lnTo>
                    <a:pt x="1472871" y="38221"/>
                  </a:lnTo>
                  <a:lnTo>
                    <a:pt x="1506013" y="65547"/>
                  </a:lnTo>
                  <a:lnTo>
                    <a:pt x="1533363" y="98666"/>
                  </a:lnTo>
                  <a:lnTo>
                    <a:pt x="1554017" y="136677"/>
                  </a:lnTo>
                  <a:lnTo>
                    <a:pt x="1567072" y="178680"/>
                  </a:lnTo>
                  <a:lnTo>
                    <a:pt x="1571625" y="223774"/>
                  </a:lnTo>
                  <a:lnTo>
                    <a:pt x="1571625" y="1119124"/>
                  </a:lnTo>
                  <a:lnTo>
                    <a:pt x="1567072" y="1164223"/>
                  </a:lnTo>
                  <a:lnTo>
                    <a:pt x="1554017" y="1206240"/>
                  </a:lnTo>
                  <a:lnTo>
                    <a:pt x="1533363" y="1244271"/>
                  </a:lnTo>
                  <a:lnTo>
                    <a:pt x="1506013" y="1277413"/>
                  </a:lnTo>
                  <a:lnTo>
                    <a:pt x="1472871" y="1304763"/>
                  </a:lnTo>
                  <a:lnTo>
                    <a:pt x="1434840" y="1325417"/>
                  </a:lnTo>
                  <a:lnTo>
                    <a:pt x="1392823" y="1338472"/>
                  </a:lnTo>
                  <a:lnTo>
                    <a:pt x="1347724" y="1343025"/>
                  </a:lnTo>
                  <a:lnTo>
                    <a:pt x="223774" y="1343025"/>
                  </a:lnTo>
                  <a:lnTo>
                    <a:pt x="178680" y="1338472"/>
                  </a:lnTo>
                  <a:lnTo>
                    <a:pt x="136677" y="1325417"/>
                  </a:lnTo>
                  <a:lnTo>
                    <a:pt x="98666" y="1304763"/>
                  </a:lnTo>
                  <a:lnTo>
                    <a:pt x="65547" y="1277413"/>
                  </a:lnTo>
                  <a:lnTo>
                    <a:pt x="38221" y="1244271"/>
                  </a:lnTo>
                  <a:lnTo>
                    <a:pt x="17587" y="1206240"/>
                  </a:lnTo>
                  <a:lnTo>
                    <a:pt x="4546" y="1164223"/>
                  </a:lnTo>
                  <a:lnTo>
                    <a:pt x="0" y="1119124"/>
                  </a:lnTo>
                  <a:lnTo>
                    <a:pt x="0" y="22377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607809" y="715962"/>
            <a:ext cx="1239520" cy="8826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575" marR="140335" algn="ctr">
              <a:lnSpc>
                <a:spcPts val="1650"/>
              </a:lnSpc>
              <a:spcBef>
                <a:spcPts val="204"/>
              </a:spcBef>
            </a:pP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400" spc="55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spc="3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uc</a:t>
            </a:r>
            <a:r>
              <a:rPr sz="1400" spc="-2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ng  </a:t>
            </a:r>
            <a:r>
              <a:rPr sz="1400" spc="20">
                <a:solidFill>
                  <a:srgbClr val="FFFFFF"/>
                </a:solidFill>
                <a:latin typeface="Calibri"/>
                <a:cs typeface="Calibri"/>
              </a:rPr>
              <a:t>PVC</a:t>
            </a:r>
            <a:r>
              <a:rPr sz="1400" spc="1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Mock-</a:t>
            </a:r>
            <a:endParaRPr sz="1400">
              <a:latin typeface="Calibri"/>
              <a:cs typeface="Calibri"/>
            </a:endParaRPr>
          </a:p>
          <a:p>
            <a:pPr marL="12700" marR="5080" indent="390525">
              <a:lnSpc>
                <a:spcPts val="1650"/>
              </a:lnSpc>
              <a:spcBef>
                <a:spcPts val="80"/>
              </a:spcBef>
            </a:pP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Up  </a:t>
            </a:r>
            <a:r>
              <a:rPr sz="1400" spc="-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35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400" spc="-3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spc="3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15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400" spc="-3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3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nc</a:t>
            </a:r>
            <a:r>
              <a:rPr sz="1400" spc="-3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409051" y="522351"/>
            <a:ext cx="1574800" cy="1365250"/>
            <a:chOff x="8409051" y="522351"/>
            <a:chExt cx="1574800" cy="1365250"/>
          </a:xfrm>
        </p:grpSpPr>
        <p:sp>
          <p:nvSpPr>
            <p:cNvPr id="22" name="object 22"/>
            <p:cNvSpPr/>
            <p:nvPr/>
          </p:nvSpPr>
          <p:spPr>
            <a:xfrm>
              <a:off x="8415401" y="528701"/>
              <a:ext cx="1562100" cy="1352550"/>
            </a:xfrm>
            <a:custGeom>
              <a:avLst/>
              <a:gdLst/>
              <a:ahLst/>
              <a:cxnLst/>
              <a:rect l="l" t="t" r="r" b="b"/>
              <a:pathLst>
                <a:path w="1562100" h="1352550">
                  <a:moveTo>
                    <a:pt x="1336548" y="0"/>
                  </a:moveTo>
                  <a:lnTo>
                    <a:pt x="225425" y="0"/>
                  </a:lnTo>
                  <a:lnTo>
                    <a:pt x="179968" y="4576"/>
                  </a:lnTo>
                  <a:lnTo>
                    <a:pt x="137642" y="17702"/>
                  </a:lnTo>
                  <a:lnTo>
                    <a:pt x="99348" y="38475"/>
                  </a:lnTo>
                  <a:lnTo>
                    <a:pt x="65992" y="65992"/>
                  </a:lnTo>
                  <a:lnTo>
                    <a:pt x="38475" y="99348"/>
                  </a:lnTo>
                  <a:lnTo>
                    <a:pt x="17702" y="137642"/>
                  </a:lnTo>
                  <a:lnTo>
                    <a:pt x="4576" y="179968"/>
                  </a:lnTo>
                  <a:lnTo>
                    <a:pt x="0" y="225425"/>
                  </a:lnTo>
                  <a:lnTo>
                    <a:pt x="0" y="1126998"/>
                  </a:lnTo>
                  <a:lnTo>
                    <a:pt x="4576" y="1172459"/>
                  </a:lnTo>
                  <a:lnTo>
                    <a:pt x="17702" y="1214800"/>
                  </a:lnTo>
                  <a:lnTo>
                    <a:pt x="38475" y="1253114"/>
                  </a:lnTo>
                  <a:lnTo>
                    <a:pt x="65992" y="1286494"/>
                  </a:lnTo>
                  <a:lnTo>
                    <a:pt x="99348" y="1314034"/>
                  </a:lnTo>
                  <a:lnTo>
                    <a:pt x="137642" y="1334827"/>
                  </a:lnTo>
                  <a:lnTo>
                    <a:pt x="179968" y="1347968"/>
                  </a:lnTo>
                  <a:lnTo>
                    <a:pt x="225425" y="1352550"/>
                  </a:lnTo>
                  <a:lnTo>
                    <a:pt x="1336548" y="1352550"/>
                  </a:lnTo>
                  <a:lnTo>
                    <a:pt x="1382009" y="1347968"/>
                  </a:lnTo>
                  <a:lnTo>
                    <a:pt x="1424350" y="1334827"/>
                  </a:lnTo>
                  <a:lnTo>
                    <a:pt x="1462664" y="1314034"/>
                  </a:lnTo>
                  <a:lnTo>
                    <a:pt x="1496044" y="1286494"/>
                  </a:lnTo>
                  <a:lnTo>
                    <a:pt x="1523584" y="1253114"/>
                  </a:lnTo>
                  <a:lnTo>
                    <a:pt x="1544377" y="1214800"/>
                  </a:lnTo>
                  <a:lnTo>
                    <a:pt x="1557518" y="1172459"/>
                  </a:lnTo>
                  <a:lnTo>
                    <a:pt x="1562100" y="1126998"/>
                  </a:lnTo>
                  <a:lnTo>
                    <a:pt x="1562100" y="225425"/>
                  </a:lnTo>
                  <a:lnTo>
                    <a:pt x="1557518" y="179968"/>
                  </a:lnTo>
                  <a:lnTo>
                    <a:pt x="1544377" y="137642"/>
                  </a:lnTo>
                  <a:lnTo>
                    <a:pt x="1523584" y="99348"/>
                  </a:lnTo>
                  <a:lnTo>
                    <a:pt x="1496044" y="65992"/>
                  </a:lnTo>
                  <a:lnTo>
                    <a:pt x="1462664" y="38475"/>
                  </a:lnTo>
                  <a:lnTo>
                    <a:pt x="1424350" y="17702"/>
                  </a:lnTo>
                  <a:lnTo>
                    <a:pt x="1382009" y="4576"/>
                  </a:lnTo>
                  <a:lnTo>
                    <a:pt x="13365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415401" y="528701"/>
              <a:ext cx="1562100" cy="1352550"/>
            </a:xfrm>
            <a:custGeom>
              <a:avLst/>
              <a:gdLst/>
              <a:ahLst/>
              <a:cxnLst/>
              <a:rect l="l" t="t" r="r" b="b"/>
              <a:pathLst>
                <a:path w="1562100" h="1352550">
                  <a:moveTo>
                    <a:pt x="0" y="225425"/>
                  </a:moveTo>
                  <a:lnTo>
                    <a:pt x="4576" y="179968"/>
                  </a:lnTo>
                  <a:lnTo>
                    <a:pt x="17702" y="137642"/>
                  </a:lnTo>
                  <a:lnTo>
                    <a:pt x="38475" y="99348"/>
                  </a:lnTo>
                  <a:lnTo>
                    <a:pt x="65992" y="65992"/>
                  </a:lnTo>
                  <a:lnTo>
                    <a:pt x="99348" y="38475"/>
                  </a:lnTo>
                  <a:lnTo>
                    <a:pt x="137642" y="17702"/>
                  </a:lnTo>
                  <a:lnTo>
                    <a:pt x="179968" y="4576"/>
                  </a:lnTo>
                  <a:lnTo>
                    <a:pt x="225425" y="0"/>
                  </a:lnTo>
                  <a:lnTo>
                    <a:pt x="1336548" y="0"/>
                  </a:lnTo>
                  <a:lnTo>
                    <a:pt x="1382009" y="4576"/>
                  </a:lnTo>
                  <a:lnTo>
                    <a:pt x="1424350" y="17702"/>
                  </a:lnTo>
                  <a:lnTo>
                    <a:pt x="1462664" y="38475"/>
                  </a:lnTo>
                  <a:lnTo>
                    <a:pt x="1496044" y="65992"/>
                  </a:lnTo>
                  <a:lnTo>
                    <a:pt x="1523584" y="99348"/>
                  </a:lnTo>
                  <a:lnTo>
                    <a:pt x="1544377" y="137642"/>
                  </a:lnTo>
                  <a:lnTo>
                    <a:pt x="1557518" y="179968"/>
                  </a:lnTo>
                  <a:lnTo>
                    <a:pt x="1562100" y="225425"/>
                  </a:lnTo>
                  <a:lnTo>
                    <a:pt x="1562100" y="1126998"/>
                  </a:lnTo>
                  <a:lnTo>
                    <a:pt x="1557518" y="1172459"/>
                  </a:lnTo>
                  <a:lnTo>
                    <a:pt x="1544377" y="1214800"/>
                  </a:lnTo>
                  <a:lnTo>
                    <a:pt x="1523584" y="1253114"/>
                  </a:lnTo>
                  <a:lnTo>
                    <a:pt x="1496044" y="1286494"/>
                  </a:lnTo>
                  <a:lnTo>
                    <a:pt x="1462664" y="1314034"/>
                  </a:lnTo>
                  <a:lnTo>
                    <a:pt x="1424350" y="1334827"/>
                  </a:lnTo>
                  <a:lnTo>
                    <a:pt x="1382009" y="1347968"/>
                  </a:lnTo>
                  <a:lnTo>
                    <a:pt x="1336548" y="1352550"/>
                  </a:lnTo>
                  <a:lnTo>
                    <a:pt x="225425" y="1352550"/>
                  </a:lnTo>
                  <a:lnTo>
                    <a:pt x="179968" y="1347968"/>
                  </a:lnTo>
                  <a:lnTo>
                    <a:pt x="137642" y="1334827"/>
                  </a:lnTo>
                  <a:lnTo>
                    <a:pt x="99348" y="1314034"/>
                  </a:lnTo>
                  <a:lnTo>
                    <a:pt x="65992" y="1286494"/>
                  </a:lnTo>
                  <a:lnTo>
                    <a:pt x="38475" y="1253114"/>
                  </a:lnTo>
                  <a:lnTo>
                    <a:pt x="17702" y="1214800"/>
                  </a:lnTo>
                  <a:lnTo>
                    <a:pt x="4576" y="1172459"/>
                  </a:lnTo>
                  <a:lnTo>
                    <a:pt x="0" y="1126998"/>
                  </a:lnTo>
                  <a:lnTo>
                    <a:pt x="0" y="22542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715756" y="932116"/>
            <a:ext cx="968375" cy="453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0">
              <a:lnSpc>
                <a:spcPts val="1664"/>
              </a:lnSpc>
              <a:spcBef>
                <a:spcPts val="125"/>
              </a:spcBef>
            </a:pPr>
            <a:r>
              <a:rPr sz="1400" spc="15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400" spc="35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400" spc="45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nd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64"/>
              </a:lnSpc>
            </a:pPr>
            <a:r>
              <a:rPr sz="1400" spc="4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4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361676" y="531876"/>
            <a:ext cx="1593850" cy="1346200"/>
            <a:chOff x="10361676" y="531876"/>
            <a:chExt cx="1593850" cy="1346200"/>
          </a:xfrm>
        </p:grpSpPr>
        <p:sp>
          <p:nvSpPr>
            <p:cNvPr id="26" name="object 26"/>
            <p:cNvSpPr/>
            <p:nvPr/>
          </p:nvSpPr>
          <p:spPr>
            <a:xfrm>
              <a:off x="10368026" y="538226"/>
              <a:ext cx="1581150" cy="1333500"/>
            </a:xfrm>
            <a:custGeom>
              <a:avLst/>
              <a:gdLst/>
              <a:ahLst/>
              <a:cxnLst/>
              <a:rect l="l" t="t" r="r" b="b"/>
              <a:pathLst>
                <a:path w="1581150" h="1333500">
                  <a:moveTo>
                    <a:pt x="1358773" y="0"/>
                  </a:moveTo>
                  <a:lnTo>
                    <a:pt x="222250" y="0"/>
                  </a:lnTo>
                  <a:lnTo>
                    <a:pt x="177440" y="4512"/>
                  </a:lnTo>
                  <a:lnTo>
                    <a:pt x="135713" y="17456"/>
                  </a:lnTo>
                  <a:lnTo>
                    <a:pt x="97959" y="37940"/>
                  </a:lnTo>
                  <a:lnTo>
                    <a:pt x="65071" y="65071"/>
                  </a:lnTo>
                  <a:lnTo>
                    <a:pt x="37940" y="97959"/>
                  </a:lnTo>
                  <a:lnTo>
                    <a:pt x="17456" y="135713"/>
                  </a:lnTo>
                  <a:lnTo>
                    <a:pt x="4512" y="177440"/>
                  </a:lnTo>
                  <a:lnTo>
                    <a:pt x="0" y="222250"/>
                  </a:lnTo>
                  <a:lnTo>
                    <a:pt x="0" y="1111123"/>
                  </a:lnTo>
                  <a:lnTo>
                    <a:pt x="4512" y="1155937"/>
                  </a:lnTo>
                  <a:lnTo>
                    <a:pt x="17456" y="1197679"/>
                  </a:lnTo>
                  <a:lnTo>
                    <a:pt x="37940" y="1235453"/>
                  </a:lnTo>
                  <a:lnTo>
                    <a:pt x="65071" y="1268364"/>
                  </a:lnTo>
                  <a:lnTo>
                    <a:pt x="97959" y="1295519"/>
                  </a:lnTo>
                  <a:lnTo>
                    <a:pt x="135713" y="1316023"/>
                  </a:lnTo>
                  <a:lnTo>
                    <a:pt x="177440" y="1328981"/>
                  </a:lnTo>
                  <a:lnTo>
                    <a:pt x="222250" y="1333500"/>
                  </a:lnTo>
                  <a:lnTo>
                    <a:pt x="1358773" y="1333500"/>
                  </a:lnTo>
                  <a:lnTo>
                    <a:pt x="1403587" y="1328981"/>
                  </a:lnTo>
                  <a:lnTo>
                    <a:pt x="1445329" y="1316023"/>
                  </a:lnTo>
                  <a:lnTo>
                    <a:pt x="1483103" y="1295519"/>
                  </a:lnTo>
                  <a:lnTo>
                    <a:pt x="1516014" y="1268364"/>
                  </a:lnTo>
                  <a:lnTo>
                    <a:pt x="1543169" y="1235453"/>
                  </a:lnTo>
                  <a:lnTo>
                    <a:pt x="1563673" y="1197679"/>
                  </a:lnTo>
                  <a:lnTo>
                    <a:pt x="1576631" y="1155937"/>
                  </a:lnTo>
                  <a:lnTo>
                    <a:pt x="1581150" y="1111123"/>
                  </a:lnTo>
                  <a:lnTo>
                    <a:pt x="1581150" y="222250"/>
                  </a:lnTo>
                  <a:lnTo>
                    <a:pt x="1576631" y="177440"/>
                  </a:lnTo>
                  <a:lnTo>
                    <a:pt x="1563673" y="135713"/>
                  </a:lnTo>
                  <a:lnTo>
                    <a:pt x="1543169" y="97959"/>
                  </a:lnTo>
                  <a:lnTo>
                    <a:pt x="1516014" y="65071"/>
                  </a:lnTo>
                  <a:lnTo>
                    <a:pt x="1483103" y="37940"/>
                  </a:lnTo>
                  <a:lnTo>
                    <a:pt x="1445329" y="17456"/>
                  </a:lnTo>
                  <a:lnTo>
                    <a:pt x="1403587" y="4512"/>
                  </a:lnTo>
                  <a:lnTo>
                    <a:pt x="13587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368026" y="538226"/>
              <a:ext cx="1581150" cy="1333500"/>
            </a:xfrm>
            <a:custGeom>
              <a:avLst/>
              <a:gdLst/>
              <a:ahLst/>
              <a:cxnLst/>
              <a:rect l="l" t="t" r="r" b="b"/>
              <a:pathLst>
                <a:path w="1581150" h="1333500">
                  <a:moveTo>
                    <a:pt x="0" y="222250"/>
                  </a:moveTo>
                  <a:lnTo>
                    <a:pt x="4512" y="177440"/>
                  </a:lnTo>
                  <a:lnTo>
                    <a:pt x="17456" y="135713"/>
                  </a:lnTo>
                  <a:lnTo>
                    <a:pt x="37940" y="97959"/>
                  </a:lnTo>
                  <a:lnTo>
                    <a:pt x="65071" y="65071"/>
                  </a:lnTo>
                  <a:lnTo>
                    <a:pt x="97959" y="37940"/>
                  </a:lnTo>
                  <a:lnTo>
                    <a:pt x="135713" y="17456"/>
                  </a:lnTo>
                  <a:lnTo>
                    <a:pt x="177440" y="4512"/>
                  </a:lnTo>
                  <a:lnTo>
                    <a:pt x="222250" y="0"/>
                  </a:lnTo>
                  <a:lnTo>
                    <a:pt x="1358773" y="0"/>
                  </a:lnTo>
                  <a:lnTo>
                    <a:pt x="1403587" y="4512"/>
                  </a:lnTo>
                  <a:lnTo>
                    <a:pt x="1445329" y="17456"/>
                  </a:lnTo>
                  <a:lnTo>
                    <a:pt x="1483103" y="37940"/>
                  </a:lnTo>
                  <a:lnTo>
                    <a:pt x="1516014" y="65071"/>
                  </a:lnTo>
                  <a:lnTo>
                    <a:pt x="1543169" y="97959"/>
                  </a:lnTo>
                  <a:lnTo>
                    <a:pt x="1563673" y="135713"/>
                  </a:lnTo>
                  <a:lnTo>
                    <a:pt x="1576631" y="177440"/>
                  </a:lnTo>
                  <a:lnTo>
                    <a:pt x="1581150" y="222250"/>
                  </a:lnTo>
                  <a:lnTo>
                    <a:pt x="1581150" y="1111123"/>
                  </a:lnTo>
                  <a:lnTo>
                    <a:pt x="1576631" y="1155937"/>
                  </a:lnTo>
                  <a:lnTo>
                    <a:pt x="1563673" y="1197679"/>
                  </a:lnTo>
                  <a:lnTo>
                    <a:pt x="1543169" y="1235453"/>
                  </a:lnTo>
                  <a:lnTo>
                    <a:pt x="1516014" y="1268364"/>
                  </a:lnTo>
                  <a:lnTo>
                    <a:pt x="1483103" y="1295519"/>
                  </a:lnTo>
                  <a:lnTo>
                    <a:pt x="1445329" y="1316023"/>
                  </a:lnTo>
                  <a:lnTo>
                    <a:pt x="1403587" y="1328981"/>
                  </a:lnTo>
                  <a:lnTo>
                    <a:pt x="1358773" y="1333500"/>
                  </a:lnTo>
                  <a:lnTo>
                    <a:pt x="222250" y="1333500"/>
                  </a:lnTo>
                  <a:lnTo>
                    <a:pt x="177440" y="1328981"/>
                  </a:lnTo>
                  <a:lnTo>
                    <a:pt x="135713" y="1316023"/>
                  </a:lnTo>
                  <a:lnTo>
                    <a:pt x="97959" y="1295519"/>
                  </a:lnTo>
                  <a:lnTo>
                    <a:pt x="65071" y="1268364"/>
                  </a:lnTo>
                  <a:lnTo>
                    <a:pt x="37940" y="1235453"/>
                  </a:lnTo>
                  <a:lnTo>
                    <a:pt x="17456" y="1197679"/>
                  </a:lnTo>
                  <a:lnTo>
                    <a:pt x="4512" y="1155937"/>
                  </a:lnTo>
                  <a:lnTo>
                    <a:pt x="0" y="1111123"/>
                  </a:lnTo>
                  <a:lnTo>
                    <a:pt x="0" y="22225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0530585" y="1068704"/>
            <a:ext cx="127317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35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400" spc="45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gn</a:t>
            </a:r>
            <a:r>
              <a:rPr sz="14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67525" y="1965261"/>
            <a:ext cx="5012055" cy="892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 algn="just">
              <a:lnSpc>
                <a:spcPct val="101299"/>
              </a:lnSpc>
              <a:spcBef>
                <a:spcPts val="105"/>
              </a:spcBef>
            </a:pPr>
            <a:r>
              <a:rPr sz="1400" spc="20">
                <a:latin typeface="Calibri"/>
                <a:cs typeface="Calibri"/>
              </a:rPr>
              <a:t>PVC </a:t>
            </a:r>
            <a:r>
              <a:rPr sz="1400">
                <a:latin typeface="Calibri"/>
                <a:cs typeface="Calibri"/>
              </a:rPr>
              <a:t>Mock-Up </a:t>
            </a:r>
            <a:r>
              <a:rPr sz="1400" spc="-10">
                <a:latin typeface="Calibri"/>
                <a:cs typeface="Calibri"/>
              </a:rPr>
              <a:t>was </a:t>
            </a:r>
            <a:r>
              <a:rPr sz="1400" spc="5">
                <a:latin typeface="Calibri"/>
                <a:cs typeface="Calibri"/>
              </a:rPr>
              <a:t>made </a:t>
            </a:r>
            <a:r>
              <a:rPr sz="1400" spc="-5">
                <a:latin typeface="Calibri"/>
                <a:cs typeface="Calibri"/>
              </a:rPr>
              <a:t>to </a:t>
            </a:r>
            <a:r>
              <a:rPr sz="1400">
                <a:latin typeface="Calibri"/>
                <a:cs typeface="Calibri"/>
              </a:rPr>
              <a:t>check the </a:t>
            </a:r>
            <a:r>
              <a:rPr sz="1400" spc="-5">
                <a:latin typeface="Calibri"/>
                <a:cs typeface="Calibri"/>
              </a:rPr>
              <a:t>clearances between </a:t>
            </a:r>
            <a:r>
              <a:rPr sz="1400" spc="5">
                <a:latin typeface="Calibri"/>
                <a:cs typeface="Calibri"/>
              </a:rPr>
              <a:t>driver and </a:t>
            </a:r>
            <a:r>
              <a:rPr sz="1400" spc="-30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roll cage </a:t>
            </a:r>
            <a:r>
              <a:rPr sz="1400">
                <a:latin typeface="Calibri"/>
                <a:cs typeface="Calibri"/>
              </a:rPr>
              <a:t>with</a:t>
            </a:r>
            <a:r>
              <a:rPr sz="1400" spc="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mentioned</a:t>
            </a:r>
            <a:r>
              <a:rPr sz="1400" spc="29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values </a:t>
            </a:r>
            <a:r>
              <a:rPr sz="1400" spc="-5">
                <a:latin typeface="Calibri"/>
                <a:cs typeface="Calibri"/>
              </a:rPr>
              <a:t>in</a:t>
            </a:r>
            <a:r>
              <a:rPr sz="1400" spc="30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the </a:t>
            </a:r>
            <a:r>
              <a:rPr sz="1400" spc="-5">
                <a:latin typeface="Calibri"/>
                <a:cs typeface="Calibri"/>
              </a:rPr>
              <a:t>rulebook, </a:t>
            </a:r>
            <a:r>
              <a:rPr sz="1400">
                <a:latin typeface="Calibri"/>
                <a:cs typeface="Calibri"/>
              </a:rPr>
              <a:t>while the </a:t>
            </a:r>
            <a:r>
              <a:rPr sz="1400" spc="5">
                <a:latin typeface="Calibri"/>
                <a:cs typeface="Calibri"/>
              </a:rPr>
              <a:t>driver </a:t>
            </a:r>
            <a:r>
              <a:rPr sz="1400" spc="-25">
                <a:latin typeface="Calibri"/>
                <a:cs typeface="Calibri"/>
              </a:rPr>
              <a:t>is 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in </a:t>
            </a:r>
            <a:r>
              <a:rPr sz="1400" spc="5">
                <a:latin typeface="Calibri"/>
                <a:cs typeface="Calibri"/>
              </a:rPr>
              <a:t>comfortable </a:t>
            </a:r>
            <a:r>
              <a:rPr sz="1400">
                <a:latin typeface="Calibri"/>
                <a:cs typeface="Calibri"/>
              </a:rPr>
              <a:t>postures </a:t>
            </a:r>
            <a:r>
              <a:rPr sz="1400" spc="5">
                <a:latin typeface="Calibri"/>
                <a:cs typeface="Calibri"/>
              </a:rPr>
              <a:t>and </a:t>
            </a:r>
            <a:r>
              <a:rPr sz="1400" spc="-5">
                <a:latin typeface="Calibri"/>
                <a:cs typeface="Calibri"/>
              </a:rPr>
              <a:t>all </a:t>
            </a:r>
            <a:r>
              <a:rPr sz="1400">
                <a:latin typeface="Calibri"/>
                <a:cs typeface="Calibri"/>
              </a:rPr>
              <a:t>the controls </a:t>
            </a:r>
            <a:r>
              <a:rPr sz="1400" spc="15">
                <a:latin typeface="Calibri"/>
                <a:cs typeface="Calibri"/>
              </a:rPr>
              <a:t>are </a:t>
            </a:r>
            <a:r>
              <a:rPr sz="1400">
                <a:latin typeface="Calibri"/>
                <a:cs typeface="Calibri"/>
              </a:rPr>
              <a:t>within the </a:t>
            </a:r>
            <a:r>
              <a:rPr sz="1400" spc="5">
                <a:latin typeface="Calibri"/>
                <a:cs typeface="Calibri"/>
              </a:rPr>
              <a:t>reach of 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driver.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095373" y="1153033"/>
            <a:ext cx="8246745" cy="86360"/>
            <a:chOff x="2095373" y="1153033"/>
            <a:chExt cx="8246745" cy="86360"/>
          </a:xfrm>
        </p:grpSpPr>
        <p:sp>
          <p:nvSpPr>
            <p:cNvPr id="32" name="object 32"/>
            <p:cNvSpPr/>
            <p:nvPr/>
          </p:nvSpPr>
          <p:spPr>
            <a:xfrm>
              <a:off x="2095373" y="1162558"/>
              <a:ext cx="391160" cy="76200"/>
            </a:xfrm>
            <a:custGeom>
              <a:avLst/>
              <a:gdLst/>
              <a:ahLst/>
              <a:cxnLst/>
              <a:rect l="l" t="t" r="r" b="b"/>
              <a:pathLst>
                <a:path w="391160" h="76200">
                  <a:moveTo>
                    <a:pt x="372563" y="28447"/>
                  </a:moveTo>
                  <a:lnTo>
                    <a:pt x="327532" y="28447"/>
                  </a:lnTo>
                  <a:lnTo>
                    <a:pt x="327659" y="47497"/>
                  </a:lnTo>
                  <a:lnTo>
                    <a:pt x="315023" y="47586"/>
                  </a:lnTo>
                  <a:lnTo>
                    <a:pt x="315213" y="76200"/>
                  </a:lnTo>
                  <a:lnTo>
                    <a:pt x="391159" y="37591"/>
                  </a:lnTo>
                  <a:lnTo>
                    <a:pt x="372563" y="28447"/>
                  </a:lnTo>
                  <a:close/>
                </a:path>
                <a:path w="391160" h="76200">
                  <a:moveTo>
                    <a:pt x="314896" y="28536"/>
                  </a:moveTo>
                  <a:lnTo>
                    <a:pt x="0" y="30733"/>
                  </a:lnTo>
                  <a:lnTo>
                    <a:pt x="253" y="49783"/>
                  </a:lnTo>
                  <a:lnTo>
                    <a:pt x="315023" y="47586"/>
                  </a:lnTo>
                  <a:lnTo>
                    <a:pt x="314896" y="28536"/>
                  </a:lnTo>
                  <a:close/>
                </a:path>
                <a:path w="391160" h="76200">
                  <a:moveTo>
                    <a:pt x="327532" y="28447"/>
                  </a:moveTo>
                  <a:lnTo>
                    <a:pt x="314896" y="28536"/>
                  </a:lnTo>
                  <a:lnTo>
                    <a:pt x="315023" y="47586"/>
                  </a:lnTo>
                  <a:lnTo>
                    <a:pt x="327659" y="47497"/>
                  </a:lnTo>
                  <a:lnTo>
                    <a:pt x="327532" y="28447"/>
                  </a:lnTo>
                  <a:close/>
                </a:path>
                <a:path w="391160" h="76200">
                  <a:moveTo>
                    <a:pt x="314706" y="0"/>
                  </a:moveTo>
                  <a:lnTo>
                    <a:pt x="314896" y="28536"/>
                  </a:lnTo>
                  <a:lnTo>
                    <a:pt x="372563" y="28447"/>
                  </a:lnTo>
                  <a:lnTo>
                    <a:pt x="314706" y="0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114800" y="1153032"/>
              <a:ext cx="6227445" cy="86360"/>
            </a:xfrm>
            <a:custGeom>
              <a:avLst/>
              <a:gdLst/>
              <a:ahLst/>
              <a:cxnLst/>
              <a:rect l="l" t="t" r="r" b="b"/>
              <a:pathLst>
                <a:path w="6227445" h="86359">
                  <a:moveTo>
                    <a:pt x="403098" y="48006"/>
                  </a:moveTo>
                  <a:lnTo>
                    <a:pt x="326898" y="9779"/>
                  </a:lnTo>
                  <a:lnTo>
                    <a:pt x="326847" y="38328"/>
                  </a:lnTo>
                  <a:lnTo>
                    <a:pt x="0" y="37592"/>
                  </a:lnTo>
                  <a:lnTo>
                    <a:pt x="0" y="56642"/>
                  </a:lnTo>
                  <a:lnTo>
                    <a:pt x="326809" y="57378"/>
                  </a:lnTo>
                  <a:lnTo>
                    <a:pt x="326771" y="85979"/>
                  </a:lnTo>
                  <a:lnTo>
                    <a:pt x="384200" y="57404"/>
                  </a:lnTo>
                  <a:lnTo>
                    <a:pt x="403098" y="48006"/>
                  </a:lnTo>
                  <a:close/>
                </a:path>
                <a:path w="6227445" h="86359">
                  <a:moveTo>
                    <a:pt x="2313940" y="37592"/>
                  </a:moveTo>
                  <a:lnTo>
                    <a:pt x="2296769" y="29464"/>
                  </a:lnTo>
                  <a:lnTo>
                    <a:pt x="2236978" y="1143"/>
                  </a:lnTo>
                  <a:lnTo>
                    <a:pt x="2237587" y="29743"/>
                  </a:lnTo>
                  <a:lnTo>
                    <a:pt x="1980946" y="35306"/>
                  </a:lnTo>
                  <a:lnTo>
                    <a:pt x="1981454" y="54356"/>
                  </a:lnTo>
                  <a:lnTo>
                    <a:pt x="2238006" y="48793"/>
                  </a:lnTo>
                  <a:lnTo>
                    <a:pt x="2238629" y="77343"/>
                  </a:lnTo>
                  <a:lnTo>
                    <a:pt x="2313940" y="37592"/>
                  </a:lnTo>
                  <a:close/>
                </a:path>
                <a:path w="6227445" h="86359">
                  <a:moveTo>
                    <a:pt x="4250436" y="37592"/>
                  </a:moveTo>
                  <a:lnTo>
                    <a:pt x="4232033" y="28575"/>
                  </a:lnTo>
                  <a:lnTo>
                    <a:pt x="4173982" y="127"/>
                  </a:lnTo>
                  <a:lnTo>
                    <a:pt x="4174210" y="28676"/>
                  </a:lnTo>
                  <a:lnTo>
                    <a:pt x="3924173" y="30607"/>
                  </a:lnTo>
                  <a:lnTo>
                    <a:pt x="3924427" y="49657"/>
                  </a:lnTo>
                  <a:lnTo>
                    <a:pt x="4174375" y="47726"/>
                  </a:lnTo>
                  <a:lnTo>
                    <a:pt x="4174617" y="76327"/>
                  </a:lnTo>
                  <a:lnTo>
                    <a:pt x="4250436" y="37592"/>
                  </a:lnTo>
                  <a:close/>
                </a:path>
                <a:path w="6227445" h="86359">
                  <a:moveTo>
                    <a:pt x="6227191" y="37592"/>
                  </a:moveTo>
                  <a:lnTo>
                    <a:pt x="6208585" y="28448"/>
                  </a:lnTo>
                  <a:lnTo>
                    <a:pt x="6150737" y="0"/>
                  </a:lnTo>
                  <a:lnTo>
                    <a:pt x="6150915" y="28549"/>
                  </a:lnTo>
                  <a:lnTo>
                    <a:pt x="5895848" y="30353"/>
                  </a:lnTo>
                  <a:lnTo>
                    <a:pt x="5895975" y="49403"/>
                  </a:lnTo>
                  <a:lnTo>
                    <a:pt x="6151042" y="47599"/>
                  </a:lnTo>
                  <a:lnTo>
                    <a:pt x="6151245" y="76200"/>
                  </a:lnTo>
                  <a:lnTo>
                    <a:pt x="6227191" y="3759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35889" y="27622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7E7E7E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1F89D-CD42-24F5-66E0-3CB4C3373B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IN">
                <a:latin typeface="Arial" pitchFamily="34" charset="0"/>
              </a:rPr>
            </a:b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45DE4F-4A6C-D78F-5591-42C33E2FA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74971" cy="13639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BAD238-29A5-2B12-B386-E94FB27CC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92" y="1614406"/>
            <a:ext cx="2481263" cy="14708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1E23EDC-4602-8B07-3FE3-01D7F1C2AA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3347626"/>
            <a:ext cx="2481263" cy="14488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0C48B11-7C66-026E-670A-73924A62F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" y="5058853"/>
            <a:ext cx="2481263" cy="147276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82D5969-2016-1B17-8BFD-32808444AC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103" y="1626396"/>
            <a:ext cx="2481264" cy="138273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528B86E-E812-13F3-0EE8-D240541309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101" y="3347627"/>
            <a:ext cx="2481263" cy="139867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2452B9F-E93F-5CAD-5C2C-DE5AFB8C11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84" y="5035979"/>
            <a:ext cx="2481263" cy="1578181"/>
          </a:xfrm>
          <a:prstGeom prst="rect">
            <a:avLst/>
          </a:prstGeom>
        </p:spPr>
      </p:pic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73428521-0246-C030-F043-44C80949F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084745"/>
              </p:ext>
            </p:extLst>
          </p:nvPr>
        </p:nvGraphicFramePr>
        <p:xfrm>
          <a:off x="2474971" y="0"/>
          <a:ext cx="2132132" cy="1626395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169321">
                  <a:extLst>
                    <a:ext uri="{9D8B030D-6E8A-4147-A177-3AD203B41FA5}">
                      <a16:colId xmlns:a16="http://schemas.microsoft.com/office/drawing/2014/main" val="3771323998"/>
                    </a:ext>
                  </a:extLst>
                </a:gridCol>
                <a:gridCol w="962811">
                  <a:extLst>
                    <a:ext uri="{9D8B030D-6E8A-4147-A177-3AD203B41FA5}">
                      <a16:colId xmlns:a16="http://schemas.microsoft.com/office/drawing/2014/main" val="2856763842"/>
                    </a:ext>
                  </a:extLst>
                </a:gridCol>
              </a:tblGrid>
              <a:tr h="394188">
                <a:tc>
                  <a:txBody>
                    <a:bodyPr/>
                    <a:lstStyle/>
                    <a:p>
                      <a:r>
                        <a:rPr lang="en-IN" sz="140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6G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305144"/>
                  </a:ext>
                </a:extLst>
              </a:tr>
              <a:tr h="394188">
                <a:tc>
                  <a:txBody>
                    <a:bodyPr/>
                    <a:lstStyle/>
                    <a:p>
                      <a:r>
                        <a:rPr lang="en-IN" sz="1400"/>
                        <a:t>Stress</a:t>
                      </a:r>
                      <a:r>
                        <a:rPr lang="en-IN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422.8 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909586"/>
                  </a:ext>
                </a:extLst>
              </a:tr>
              <a:tr h="443831">
                <a:tc>
                  <a:txBody>
                    <a:bodyPr/>
                    <a:lstStyle/>
                    <a:p>
                      <a:r>
                        <a:rPr lang="en-IN" sz="1400"/>
                        <a:t>Deformation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6.5885mm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155282"/>
                  </a:ext>
                </a:extLst>
              </a:tr>
              <a:tr h="394188">
                <a:tc>
                  <a:txBody>
                    <a:bodyPr/>
                    <a:lstStyle/>
                    <a:p>
                      <a:r>
                        <a:rPr lang="en-IN" sz="1400"/>
                        <a:t>F.O.S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04090"/>
                  </a:ext>
                </a:extLst>
              </a:tr>
            </a:tbl>
          </a:graphicData>
        </a:graphic>
      </p:graphicFrame>
      <p:graphicFrame>
        <p:nvGraphicFramePr>
          <p:cNvPr id="35" name="Table 33">
            <a:extLst>
              <a:ext uri="{FF2B5EF4-FFF2-40B4-BE49-F238E27FC236}">
                <a16:creationId xmlns:a16="http://schemas.microsoft.com/office/drawing/2014/main" id="{3BC78B99-E7A0-F145-03F3-B212FA33A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124936"/>
              </p:ext>
            </p:extLst>
          </p:nvPr>
        </p:nvGraphicFramePr>
        <p:xfrm>
          <a:off x="2468679" y="1645107"/>
          <a:ext cx="2132132" cy="1699758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169321">
                  <a:extLst>
                    <a:ext uri="{9D8B030D-6E8A-4147-A177-3AD203B41FA5}">
                      <a16:colId xmlns:a16="http://schemas.microsoft.com/office/drawing/2014/main" val="3771323998"/>
                    </a:ext>
                  </a:extLst>
                </a:gridCol>
                <a:gridCol w="962811">
                  <a:extLst>
                    <a:ext uri="{9D8B030D-6E8A-4147-A177-3AD203B41FA5}">
                      <a16:colId xmlns:a16="http://schemas.microsoft.com/office/drawing/2014/main" val="2856763842"/>
                    </a:ext>
                  </a:extLst>
                </a:gridCol>
              </a:tblGrid>
              <a:tr h="411969">
                <a:tc>
                  <a:txBody>
                    <a:bodyPr/>
                    <a:lstStyle/>
                    <a:p>
                      <a:r>
                        <a:rPr lang="en-IN" sz="140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305144"/>
                  </a:ext>
                </a:extLst>
              </a:tr>
              <a:tr h="411969">
                <a:tc>
                  <a:txBody>
                    <a:bodyPr/>
                    <a:lstStyle/>
                    <a:p>
                      <a:r>
                        <a:rPr lang="en-IN" sz="1400"/>
                        <a:t>Stress</a:t>
                      </a:r>
                      <a:r>
                        <a:rPr lang="en-IN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387.9Mpa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909586"/>
                  </a:ext>
                </a:extLst>
              </a:tr>
              <a:tr h="463851">
                <a:tc>
                  <a:txBody>
                    <a:bodyPr/>
                    <a:lstStyle/>
                    <a:p>
                      <a:r>
                        <a:rPr lang="en-IN" sz="1400"/>
                        <a:t>Deformation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11.009mm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155282"/>
                  </a:ext>
                </a:extLst>
              </a:tr>
              <a:tr h="411969">
                <a:tc>
                  <a:txBody>
                    <a:bodyPr/>
                    <a:lstStyle/>
                    <a:p>
                      <a:r>
                        <a:rPr lang="en-IN" sz="1400"/>
                        <a:t>F.O.S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1.18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04090"/>
                  </a:ext>
                </a:extLst>
              </a:tr>
            </a:tbl>
          </a:graphicData>
        </a:graphic>
      </p:graphicFrame>
      <p:graphicFrame>
        <p:nvGraphicFramePr>
          <p:cNvPr id="36" name="Table 33">
            <a:extLst>
              <a:ext uri="{FF2B5EF4-FFF2-40B4-BE49-F238E27FC236}">
                <a16:creationId xmlns:a16="http://schemas.microsoft.com/office/drawing/2014/main" id="{6474B42D-55A5-2389-44DB-A6C5EFD62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109028"/>
              </p:ext>
            </p:extLst>
          </p:nvPr>
        </p:nvGraphicFramePr>
        <p:xfrm>
          <a:off x="2481261" y="3361577"/>
          <a:ext cx="2132132" cy="1723478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169321">
                  <a:extLst>
                    <a:ext uri="{9D8B030D-6E8A-4147-A177-3AD203B41FA5}">
                      <a16:colId xmlns:a16="http://schemas.microsoft.com/office/drawing/2014/main" val="3771323998"/>
                    </a:ext>
                  </a:extLst>
                </a:gridCol>
                <a:gridCol w="962811">
                  <a:extLst>
                    <a:ext uri="{9D8B030D-6E8A-4147-A177-3AD203B41FA5}">
                      <a16:colId xmlns:a16="http://schemas.microsoft.com/office/drawing/2014/main" val="2856763842"/>
                    </a:ext>
                  </a:extLst>
                </a:gridCol>
              </a:tblGrid>
              <a:tr h="417718">
                <a:tc>
                  <a:txBody>
                    <a:bodyPr/>
                    <a:lstStyle/>
                    <a:p>
                      <a:r>
                        <a:rPr lang="en-IN" sz="140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305144"/>
                  </a:ext>
                </a:extLst>
              </a:tr>
              <a:tr h="417718">
                <a:tc>
                  <a:txBody>
                    <a:bodyPr/>
                    <a:lstStyle/>
                    <a:p>
                      <a:r>
                        <a:rPr lang="en-IN" sz="1400"/>
                        <a:t>Stress</a:t>
                      </a:r>
                      <a:r>
                        <a:rPr lang="en-IN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199.9Mpa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909586"/>
                  </a:ext>
                </a:extLst>
              </a:tr>
              <a:tr h="470324">
                <a:tc>
                  <a:txBody>
                    <a:bodyPr/>
                    <a:lstStyle/>
                    <a:p>
                      <a:r>
                        <a:rPr lang="en-IN" sz="1400"/>
                        <a:t>Deformation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3.5094mm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155282"/>
                  </a:ext>
                </a:extLst>
              </a:tr>
              <a:tr h="417718">
                <a:tc>
                  <a:txBody>
                    <a:bodyPr/>
                    <a:lstStyle/>
                    <a:p>
                      <a:r>
                        <a:rPr lang="en-IN" sz="1400"/>
                        <a:t>F.O.S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04090"/>
                  </a:ext>
                </a:extLst>
              </a:tr>
            </a:tbl>
          </a:graphicData>
        </a:graphic>
      </p:graphicFrame>
      <p:graphicFrame>
        <p:nvGraphicFramePr>
          <p:cNvPr id="37" name="Table 33">
            <a:extLst>
              <a:ext uri="{FF2B5EF4-FFF2-40B4-BE49-F238E27FC236}">
                <a16:creationId xmlns:a16="http://schemas.microsoft.com/office/drawing/2014/main" id="{782F226E-E36D-6AE8-DB6E-04C7C6235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874335"/>
              </p:ext>
            </p:extLst>
          </p:nvPr>
        </p:nvGraphicFramePr>
        <p:xfrm>
          <a:off x="2478116" y="5085057"/>
          <a:ext cx="2132132" cy="1754105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169321">
                  <a:extLst>
                    <a:ext uri="{9D8B030D-6E8A-4147-A177-3AD203B41FA5}">
                      <a16:colId xmlns:a16="http://schemas.microsoft.com/office/drawing/2014/main" val="3771323998"/>
                    </a:ext>
                  </a:extLst>
                </a:gridCol>
                <a:gridCol w="962811">
                  <a:extLst>
                    <a:ext uri="{9D8B030D-6E8A-4147-A177-3AD203B41FA5}">
                      <a16:colId xmlns:a16="http://schemas.microsoft.com/office/drawing/2014/main" val="2856763842"/>
                    </a:ext>
                  </a:extLst>
                </a:gridCol>
              </a:tblGrid>
              <a:tr h="425141">
                <a:tc>
                  <a:txBody>
                    <a:bodyPr/>
                    <a:lstStyle/>
                    <a:p>
                      <a:r>
                        <a:rPr lang="en-IN" sz="140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305144"/>
                  </a:ext>
                </a:extLst>
              </a:tr>
              <a:tr h="425141">
                <a:tc>
                  <a:txBody>
                    <a:bodyPr/>
                    <a:lstStyle/>
                    <a:p>
                      <a:r>
                        <a:rPr lang="en-IN" sz="1400"/>
                        <a:t>Stress</a:t>
                      </a:r>
                      <a:r>
                        <a:rPr lang="en-IN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154 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909586"/>
                  </a:ext>
                </a:extLst>
              </a:tr>
              <a:tr h="478682">
                <a:tc>
                  <a:txBody>
                    <a:bodyPr/>
                    <a:lstStyle/>
                    <a:p>
                      <a:r>
                        <a:rPr lang="en-IN" sz="1400"/>
                        <a:t>Deformation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1.7712mm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155282"/>
                  </a:ext>
                </a:extLst>
              </a:tr>
              <a:tr h="425141">
                <a:tc>
                  <a:txBody>
                    <a:bodyPr/>
                    <a:lstStyle/>
                    <a:p>
                      <a:r>
                        <a:rPr lang="en-IN" sz="1400"/>
                        <a:t>F.O.S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04090"/>
                  </a:ext>
                </a:extLst>
              </a:tr>
            </a:tbl>
          </a:graphicData>
        </a:graphic>
      </p:graphicFrame>
      <p:graphicFrame>
        <p:nvGraphicFramePr>
          <p:cNvPr id="39" name="Table 33">
            <a:extLst>
              <a:ext uri="{FF2B5EF4-FFF2-40B4-BE49-F238E27FC236}">
                <a16:creationId xmlns:a16="http://schemas.microsoft.com/office/drawing/2014/main" id="{368CA041-C0D1-85FE-4CF5-F8A44456D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949159"/>
              </p:ext>
            </p:extLst>
          </p:nvPr>
        </p:nvGraphicFramePr>
        <p:xfrm>
          <a:off x="7094654" y="3296995"/>
          <a:ext cx="2132132" cy="1754105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169321">
                  <a:extLst>
                    <a:ext uri="{9D8B030D-6E8A-4147-A177-3AD203B41FA5}">
                      <a16:colId xmlns:a16="http://schemas.microsoft.com/office/drawing/2014/main" val="3771323998"/>
                    </a:ext>
                  </a:extLst>
                </a:gridCol>
                <a:gridCol w="962811">
                  <a:extLst>
                    <a:ext uri="{9D8B030D-6E8A-4147-A177-3AD203B41FA5}">
                      <a16:colId xmlns:a16="http://schemas.microsoft.com/office/drawing/2014/main" val="2856763842"/>
                    </a:ext>
                  </a:extLst>
                </a:gridCol>
              </a:tblGrid>
              <a:tr h="425141">
                <a:tc>
                  <a:txBody>
                    <a:bodyPr/>
                    <a:lstStyle/>
                    <a:p>
                      <a:r>
                        <a:rPr lang="en-IN" sz="140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305144"/>
                  </a:ext>
                </a:extLst>
              </a:tr>
              <a:tr h="425141">
                <a:tc>
                  <a:txBody>
                    <a:bodyPr/>
                    <a:lstStyle/>
                    <a:p>
                      <a:r>
                        <a:rPr lang="en-IN" sz="1400"/>
                        <a:t>Stress</a:t>
                      </a:r>
                      <a:r>
                        <a:rPr lang="en-IN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307.4Mpa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909586"/>
                  </a:ext>
                </a:extLst>
              </a:tr>
              <a:tr h="478682">
                <a:tc>
                  <a:txBody>
                    <a:bodyPr/>
                    <a:lstStyle/>
                    <a:p>
                      <a:r>
                        <a:rPr lang="en-IN" sz="1400"/>
                        <a:t>Deformation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17.218mm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155282"/>
                  </a:ext>
                </a:extLst>
              </a:tr>
              <a:tr h="425141">
                <a:tc>
                  <a:txBody>
                    <a:bodyPr/>
                    <a:lstStyle/>
                    <a:p>
                      <a:r>
                        <a:rPr lang="en-IN" sz="1400"/>
                        <a:t>F.O.S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04090"/>
                  </a:ext>
                </a:extLst>
              </a:tr>
            </a:tbl>
          </a:graphicData>
        </a:graphic>
      </p:graphicFrame>
      <p:graphicFrame>
        <p:nvGraphicFramePr>
          <p:cNvPr id="40" name="Table 33">
            <a:extLst>
              <a:ext uri="{FF2B5EF4-FFF2-40B4-BE49-F238E27FC236}">
                <a16:creationId xmlns:a16="http://schemas.microsoft.com/office/drawing/2014/main" id="{18BAB93A-50EA-5698-FCF3-4F87700FE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152349"/>
              </p:ext>
            </p:extLst>
          </p:nvPr>
        </p:nvGraphicFramePr>
        <p:xfrm>
          <a:off x="7088364" y="1575765"/>
          <a:ext cx="2132132" cy="1754105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169321">
                  <a:extLst>
                    <a:ext uri="{9D8B030D-6E8A-4147-A177-3AD203B41FA5}">
                      <a16:colId xmlns:a16="http://schemas.microsoft.com/office/drawing/2014/main" val="3771323998"/>
                    </a:ext>
                  </a:extLst>
                </a:gridCol>
                <a:gridCol w="962811">
                  <a:extLst>
                    <a:ext uri="{9D8B030D-6E8A-4147-A177-3AD203B41FA5}">
                      <a16:colId xmlns:a16="http://schemas.microsoft.com/office/drawing/2014/main" val="2856763842"/>
                    </a:ext>
                  </a:extLst>
                </a:gridCol>
              </a:tblGrid>
              <a:tr h="425141">
                <a:tc>
                  <a:txBody>
                    <a:bodyPr/>
                    <a:lstStyle/>
                    <a:p>
                      <a:r>
                        <a:rPr lang="en-IN" sz="140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305144"/>
                  </a:ext>
                </a:extLst>
              </a:tr>
              <a:tr h="425141">
                <a:tc>
                  <a:txBody>
                    <a:bodyPr/>
                    <a:lstStyle/>
                    <a:p>
                      <a:r>
                        <a:rPr lang="en-IN" sz="1400"/>
                        <a:t>Stress</a:t>
                      </a:r>
                      <a:r>
                        <a:rPr lang="en-IN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331.3Mpa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909586"/>
                  </a:ext>
                </a:extLst>
              </a:tr>
              <a:tr h="478682">
                <a:tc>
                  <a:txBody>
                    <a:bodyPr/>
                    <a:lstStyle/>
                    <a:p>
                      <a:r>
                        <a:rPr lang="en-IN" sz="1400"/>
                        <a:t>Deformation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14.076mm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155282"/>
                  </a:ext>
                </a:extLst>
              </a:tr>
              <a:tr h="425141">
                <a:tc>
                  <a:txBody>
                    <a:bodyPr/>
                    <a:lstStyle/>
                    <a:p>
                      <a:r>
                        <a:rPr lang="en-IN" sz="1400"/>
                        <a:t>F.O.S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04090"/>
                  </a:ext>
                </a:extLst>
              </a:tr>
            </a:tbl>
          </a:graphicData>
        </a:graphic>
      </p:graphicFrame>
      <p:graphicFrame>
        <p:nvGraphicFramePr>
          <p:cNvPr id="41" name="Table 33">
            <a:extLst>
              <a:ext uri="{FF2B5EF4-FFF2-40B4-BE49-F238E27FC236}">
                <a16:creationId xmlns:a16="http://schemas.microsoft.com/office/drawing/2014/main" id="{6ADF4508-6E67-4AA6-E722-56EA5A52A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939961"/>
              </p:ext>
            </p:extLst>
          </p:nvPr>
        </p:nvGraphicFramePr>
        <p:xfrm>
          <a:off x="7088364" y="0"/>
          <a:ext cx="2132132" cy="1590886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169321">
                  <a:extLst>
                    <a:ext uri="{9D8B030D-6E8A-4147-A177-3AD203B41FA5}">
                      <a16:colId xmlns:a16="http://schemas.microsoft.com/office/drawing/2014/main" val="3771323998"/>
                    </a:ext>
                  </a:extLst>
                </a:gridCol>
                <a:gridCol w="962811">
                  <a:extLst>
                    <a:ext uri="{9D8B030D-6E8A-4147-A177-3AD203B41FA5}">
                      <a16:colId xmlns:a16="http://schemas.microsoft.com/office/drawing/2014/main" val="2856763842"/>
                    </a:ext>
                  </a:extLst>
                </a:gridCol>
              </a:tblGrid>
              <a:tr h="385582">
                <a:tc>
                  <a:txBody>
                    <a:bodyPr/>
                    <a:lstStyle/>
                    <a:p>
                      <a:r>
                        <a:rPr lang="en-IN" sz="140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305144"/>
                  </a:ext>
                </a:extLst>
              </a:tr>
              <a:tr h="385582">
                <a:tc>
                  <a:txBody>
                    <a:bodyPr/>
                    <a:lstStyle/>
                    <a:p>
                      <a:r>
                        <a:rPr lang="en-IN" sz="1400"/>
                        <a:t>Stress</a:t>
                      </a:r>
                      <a:r>
                        <a:rPr lang="en-IN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177.1Mpa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909586"/>
                  </a:ext>
                </a:extLst>
              </a:tr>
              <a:tr h="434140">
                <a:tc>
                  <a:txBody>
                    <a:bodyPr/>
                    <a:lstStyle/>
                    <a:p>
                      <a:r>
                        <a:rPr lang="en-IN" sz="1400"/>
                        <a:t>Deformation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5.3329mm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155282"/>
                  </a:ext>
                </a:extLst>
              </a:tr>
              <a:tr h="385582">
                <a:tc>
                  <a:txBody>
                    <a:bodyPr/>
                    <a:lstStyle/>
                    <a:p>
                      <a:r>
                        <a:rPr lang="en-IN" sz="1400"/>
                        <a:t>F.O.S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004090"/>
                  </a:ext>
                </a:extLst>
              </a:tr>
            </a:tbl>
          </a:graphicData>
        </a:graphic>
      </p:graphicFrame>
      <p:pic>
        <p:nvPicPr>
          <p:cNvPr id="43" name="Picture 42">
            <a:extLst>
              <a:ext uri="{FF2B5EF4-FFF2-40B4-BE49-F238E27FC236}">
                <a16:creationId xmlns:a16="http://schemas.microsoft.com/office/drawing/2014/main" id="{59CB5300-A953-F7AA-5B70-814D17AFAA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811" y="15792"/>
            <a:ext cx="2487553" cy="1287230"/>
          </a:xfrm>
          <a:prstGeom prst="rect">
            <a:avLst/>
          </a:prstGeom>
        </p:spPr>
      </p:pic>
      <p:graphicFrame>
        <p:nvGraphicFramePr>
          <p:cNvPr id="44" name="Table 44">
            <a:extLst>
              <a:ext uri="{FF2B5EF4-FFF2-40B4-BE49-F238E27FC236}">
                <a16:creationId xmlns:a16="http://schemas.microsoft.com/office/drawing/2014/main" id="{A7D53BDF-F992-36E9-3864-D5004F597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858521"/>
              </p:ext>
            </p:extLst>
          </p:nvPr>
        </p:nvGraphicFramePr>
        <p:xfrm>
          <a:off x="-12582" y="1303022"/>
          <a:ext cx="2490698" cy="30480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490698">
                  <a:extLst>
                    <a:ext uri="{9D8B030D-6E8A-4147-A177-3AD203B41FA5}">
                      <a16:colId xmlns:a16="http://schemas.microsoft.com/office/drawing/2014/main" val="2249682088"/>
                    </a:ext>
                  </a:extLst>
                </a:gridCol>
              </a:tblGrid>
              <a:tr h="231935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Front impact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387110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CAF74C8A-6DA8-B96B-7294-B31D10B7C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883848"/>
              </p:ext>
            </p:extLst>
          </p:nvPr>
        </p:nvGraphicFramePr>
        <p:xfrm>
          <a:off x="-12585" y="3077970"/>
          <a:ext cx="2487555" cy="30480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487555">
                  <a:extLst>
                    <a:ext uri="{9D8B030D-6E8A-4147-A177-3AD203B41FA5}">
                      <a16:colId xmlns:a16="http://schemas.microsoft.com/office/drawing/2014/main" val="2249682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Side impact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387110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B3E86696-13B6-6932-A511-A927ED2F8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674053"/>
              </p:ext>
            </p:extLst>
          </p:nvPr>
        </p:nvGraphicFramePr>
        <p:xfrm>
          <a:off x="0" y="4746300"/>
          <a:ext cx="2468681" cy="30480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468681">
                  <a:extLst>
                    <a:ext uri="{9D8B030D-6E8A-4147-A177-3AD203B41FA5}">
                      <a16:colId xmlns:a16="http://schemas.microsoft.com/office/drawing/2014/main" val="2249682088"/>
                    </a:ext>
                  </a:extLst>
                </a:gridCol>
              </a:tblGrid>
              <a:tr h="231935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Roll over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387110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F7EFBE88-D53E-E04D-812B-6E725D7C6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526621"/>
              </p:ext>
            </p:extLst>
          </p:nvPr>
        </p:nvGraphicFramePr>
        <p:xfrm>
          <a:off x="4625973" y="1285636"/>
          <a:ext cx="2468681" cy="30480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468681">
                  <a:extLst>
                    <a:ext uri="{9D8B030D-6E8A-4147-A177-3AD203B41FA5}">
                      <a16:colId xmlns:a16="http://schemas.microsoft.com/office/drawing/2014/main" val="2249682088"/>
                    </a:ext>
                  </a:extLst>
                </a:gridCol>
              </a:tblGrid>
              <a:tr h="231935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Torsional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387110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0DD896B5-3584-98A7-27E7-64FC90A63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045465"/>
              </p:ext>
            </p:extLst>
          </p:nvPr>
        </p:nvGraphicFramePr>
        <p:xfrm>
          <a:off x="4619684" y="6577116"/>
          <a:ext cx="2468681" cy="30480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468681">
                  <a:extLst>
                    <a:ext uri="{9D8B030D-6E8A-4147-A177-3AD203B41FA5}">
                      <a16:colId xmlns:a16="http://schemas.microsoft.com/office/drawing/2014/main" val="2249682088"/>
                    </a:ext>
                  </a:extLst>
                </a:gridCol>
              </a:tblGrid>
              <a:tr h="231935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Modal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387110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45B39D8F-B47B-1A5D-A2BF-8AAF2289E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431097"/>
              </p:ext>
            </p:extLst>
          </p:nvPr>
        </p:nvGraphicFramePr>
        <p:xfrm>
          <a:off x="4600811" y="2972022"/>
          <a:ext cx="2493843" cy="370717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493843">
                  <a:extLst>
                    <a:ext uri="{9D8B030D-6E8A-4147-A177-3AD203B41FA5}">
                      <a16:colId xmlns:a16="http://schemas.microsoft.com/office/drawing/2014/main" val="2249682088"/>
                    </a:ext>
                  </a:extLst>
                </a:gridCol>
              </a:tblGrid>
              <a:tr h="370717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Front bump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387110"/>
                  </a:ext>
                </a:extLst>
              </a:tr>
            </a:tbl>
          </a:graphicData>
        </a:graphic>
      </p:graphicFrame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5AE9F7D1-8B50-460F-1678-CA0BD1FC2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805314"/>
              </p:ext>
            </p:extLst>
          </p:nvPr>
        </p:nvGraphicFramePr>
        <p:xfrm>
          <a:off x="18872" y="6515435"/>
          <a:ext cx="2468681" cy="342564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468681">
                  <a:extLst>
                    <a:ext uri="{9D8B030D-6E8A-4147-A177-3AD203B41FA5}">
                      <a16:colId xmlns:a16="http://schemas.microsoft.com/office/drawing/2014/main" val="2249682088"/>
                    </a:ext>
                  </a:extLst>
                </a:gridCol>
              </a:tblGrid>
              <a:tr h="342564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rear impact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387110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86AD45DE-DB44-33CB-6ADA-212833E45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057758"/>
              </p:ext>
            </p:extLst>
          </p:nvPr>
        </p:nvGraphicFramePr>
        <p:xfrm>
          <a:off x="4625973" y="4685777"/>
          <a:ext cx="2468681" cy="378192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468681">
                  <a:extLst>
                    <a:ext uri="{9D8B030D-6E8A-4147-A177-3AD203B41FA5}">
                      <a16:colId xmlns:a16="http://schemas.microsoft.com/office/drawing/2014/main" val="2249682088"/>
                    </a:ext>
                  </a:extLst>
                </a:gridCol>
              </a:tblGrid>
              <a:tr h="378192">
                <a:tc>
                  <a:txBody>
                    <a:bodyPr/>
                    <a:lstStyle/>
                    <a:p>
                      <a:pPr algn="ctr"/>
                      <a:r>
                        <a:rPr lang="en-IN" sz="1400"/>
                        <a:t>Rear bump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387110"/>
                  </a:ext>
                </a:extLst>
              </a:tr>
            </a:tbl>
          </a:graphicData>
        </a:graphic>
      </p:graphicFrame>
      <p:graphicFrame>
        <p:nvGraphicFramePr>
          <p:cNvPr id="52" name="Table 52">
            <a:extLst>
              <a:ext uri="{FF2B5EF4-FFF2-40B4-BE49-F238E27FC236}">
                <a16:creationId xmlns:a16="http://schemas.microsoft.com/office/drawing/2014/main" id="{C94D6055-FBBD-0500-0EEC-ECC11EE7E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77118"/>
              </p:ext>
            </p:extLst>
          </p:nvPr>
        </p:nvGraphicFramePr>
        <p:xfrm>
          <a:off x="7110383" y="5060918"/>
          <a:ext cx="2110113" cy="1797080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1233517">
                  <a:extLst>
                    <a:ext uri="{9D8B030D-6E8A-4147-A177-3AD203B41FA5}">
                      <a16:colId xmlns:a16="http://schemas.microsoft.com/office/drawing/2014/main" val="4206181072"/>
                    </a:ext>
                  </a:extLst>
                </a:gridCol>
                <a:gridCol w="876596">
                  <a:extLst>
                    <a:ext uri="{9D8B030D-6E8A-4147-A177-3AD203B41FA5}">
                      <a16:colId xmlns:a16="http://schemas.microsoft.com/office/drawing/2014/main" val="1976393703"/>
                    </a:ext>
                  </a:extLst>
                </a:gridCol>
              </a:tblGrid>
              <a:tr h="359416">
                <a:tc>
                  <a:txBody>
                    <a:bodyPr/>
                    <a:lstStyle/>
                    <a:p>
                      <a:r>
                        <a:rPr lang="en-IN" sz="1400"/>
                        <a:t>Frequency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29.48Hz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354666"/>
                  </a:ext>
                </a:extLst>
              </a:tr>
              <a:tr h="359416">
                <a:tc>
                  <a:txBody>
                    <a:bodyPr/>
                    <a:lstStyle/>
                    <a:p>
                      <a:r>
                        <a:rPr lang="en-IN" sz="1400"/>
                        <a:t>Frequency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51.59Hz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797971"/>
                  </a:ext>
                </a:extLst>
              </a:tr>
              <a:tr h="359416">
                <a:tc>
                  <a:txBody>
                    <a:bodyPr/>
                    <a:lstStyle/>
                    <a:p>
                      <a:r>
                        <a:rPr lang="en-IN" sz="1400"/>
                        <a:t>Frequency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54.26Hz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996643"/>
                  </a:ext>
                </a:extLst>
              </a:tr>
              <a:tr h="359416">
                <a:tc>
                  <a:txBody>
                    <a:bodyPr/>
                    <a:lstStyle/>
                    <a:p>
                      <a:r>
                        <a:rPr lang="en-IN" sz="1400"/>
                        <a:t>Frequency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68.60Hz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920432"/>
                  </a:ext>
                </a:extLst>
              </a:tr>
              <a:tr h="359416">
                <a:tc>
                  <a:txBody>
                    <a:bodyPr/>
                    <a:lstStyle/>
                    <a:p>
                      <a:r>
                        <a:rPr lang="en-IN" sz="1400"/>
                        <a:t>deformation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11.02mm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182309"/>
                  </a:ext>
                </a:extLst>
              </a:tr>
            </a:tbl>
          </a:graphicData>
        </a:graphic>
      </p:graphicFrame>
      <p:graphicFrame>
        <p:nvGraphicFramePr>
          <p:cNvPr id="55" name="Table 55">
            <a:extLst>
              <a:ext uri="{FF2B5EF4-FFF2-40B4-BE49-F238E27FC236}">
                <a16:creationId xmlns:a16="http://schemas.microsoft.com/office/drawing/2014/main" id="{6159A556-A180-37A5-0A08-593797560F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614281"/>
              </p:ext>
            </p:extLst>
          </p:nvPr>
        </p:nvGraphicFramePr>
        <p:xfrm>
          <a:off x="9211058" y="-1"/>
          <a:ext cx="2993524" cy="259080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1086828">
                  <a:extLst>
                    <a:ext uri="{9D8B030D-6E8A-4147-A177-3AD203B41FA5}">
                      <a16:colId xmlns:a16="http://schemas.microsoft.com/office/drawing/2014/main" val="911984927"/>
                    </a:ext>
                  </a:extLst>
                </a:gridCol>
                <a:gridCol w="598714">
                  <a:extLst>
                    <a:ext uri="{9D8B030D-6E8A-4147-A177-3AD203B41FA5}">
                      <a16:colId xmlns:a16="http://schemas.microsoft.com/office/drawing/2014/main" val="1378387420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02442637"/>
                    </a:ext>
                  </a:extLst>
                </a:gridCol>
                <a:gridCol w="654839">
                  <a:extLst>
                    <a:ext uri="{9D8B030D-6E8A-4147-A177-3AD203B41FA5}">
                      <a16:colId xmlns:a16="http://schemas.microsoft.com/office/drawing/2014/main" val="3564086495"/>
                    </a:ext>
                  </a:extLst>
                </a:gridCol>
              </a:tblGrid>
              <a:tr h="402104">
                <a:tc>
                  <a:txBody>
                    <a:bodyPr/>
                    <a:lstStyle/>
                    <a:p>
                      <a:r>
                        <a:rPr lang="en-IN" sz="1400"/>
                        <a:t>Property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AISI 4130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AISI</a:t>
                      </a:r>
                    </a:p>
                    <a:p>
                      <a:r>
                        <a:rPr lang="en-IN" sz="1400"/>
                        <a:t>1018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AISI</a:t>
                      </a:r>
                    </a:p>
                    <a:p>
                      <a:r>
                        <a:rPr lang="en-IN" sz="1400"/>
                        <a:t>1020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138025"/>
                  </a:ext>
                </a:extLst>
              </a:tr>
              <a:tr h="402104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Ultimate T.S (Mpa)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782801"/>
                  </a:ext>
                </a:extLst>
              </a:tr>
              <a:tr h="402104">
                <a:tc>
                  <a:txBody>
                    <a:bodyPr/>
                    <a:lstStyle/>
                    <a:p>
                      <a:r>
                        <a:rPr lang="en-IN" sz="1400" b="1" err="1">
                          <a:solidFill>
                            <a:schemeClr val="bg1"/>
                          </a:solidFill>
                        </a:rPr>
                        <a:t>Yeild S.T (Mpa)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978542"/>
                  </a:ext>
                </a:extLst>
              </a:tr>
              <a:tr h="402104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Carbon content (%)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0.28-0.33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0.14-0.20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0.17-0.23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739057"/>
                  </a:ext>
                </a:extLst>
              </a:tr>
              <a:tr h="402104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Elongation</a:t>
                      </a:r>
                    </a:p>
                    <a:p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(%)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36.50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305108"/>
                  </a:ext>
                </a:extLst>
              </a:tr>
            </a:tbl>
          </a:graphicData>
        </a:graphic>
      </p:graphicFrame>
      <p:graphicFrame>
        <p:nvGraphicFramePr>
          <p:cNvPr id="57" name="Table 57">
            <a:extLst>
              <a:ext uri="{FF2B5EF4-FFF2-40B4-BE49-F238E27FC236}">
                <a16:creationId xmlns:a16="http://schemas.microsoft.com/office/drawing/2014/main" id="{E0EC2540-D5C8-2D69-A789-44B274211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28545"/>
              </p:ext>
            </p:extLst>
          </p:nvPr>
        </p:nvGraphicFramePr>
        <p:xfrm>
          <a:off x="9226785" y="2597964"/>
          <a:ext cx="2993523" cy="149270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97841">
                  <a:extLst>
                    <a:ext uri="{9D8B030D-6E8A-4147-A177-3AD203B41FA5}">
                      <a16:colId xmlns:a16="http://schemas.microsoft.com/office/drawing/2014/main" val="4214660520"/>
                    </a:ext>
                  </a:extLst>
                </a:gridCol>
                <a:gridCol w="997841">
                  <a:extLst>
                    <a:ext uri="{9D8B030D-6E8A-4147-A177-3AD203B41FA5}">
                      <a16:colId xmlns:a16="http://schemas.microsoft.com/office/drawing/2014/main" val="4230460016"/>
                    </a:ext>
                  </a:extLst>
                </a:gridCol>
                <a:gridCol w="997841">
                  <a:extLst>
                    <a:ext uri="{9D8B030D-6E8A-4147-A177-3AD203B41FA5}">
                      <a16:colId xmlns:a16="http://schemas.microsoft.com/office/drawing/2014/main" val="209782559"/>
                    </a:ext>
                  </a:extLst>
                </a:gridCol>
              </a:tblGrid>
              <a:tr h="311524">
                <a:tc>
                  <a:txBody>
                    <a:bodyPr/>
                    <a:lstStyle/>
                    <a:p>
                      <a:r>
                        <a:rPr lang="en-IN" sz="1400"/>
                        <a:t>Pipe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secondary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944324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External</a:t>
                      </a:r>
                    </a:p>
                    <a:p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diameter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29.2mm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25.4mm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021427"/>
                  </a:ext>
                </a:extLst>
              </a:tr>
              <a:tr h="340064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Thickness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1.65mm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078286"/>
                  </a:ext>
                </a:extLst>
              </a:tr>
              <a:tr h="311524">
                <a:tc>
                  <a:txBody>
                    <a:bodyPr/>
                    <a:lstStyle/>
                    <a:p>
                      <a:r>
                        <a:rPr lang="en-IN" sz="1400" b="1">
                          <a:solidFill>
                            <a:schemeClr val="bg1"/>
                          </a:solidFill>
                        </a:rPr>
                        <a:t>welding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TIG welding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093031"/>
                  </a:ext>
                </a:extLst>
              </a:tr>
            </a:tbl>
          </a:graphicData>
        </a:graphic>
      </p:graphicFrame>
      <p:graphicFrame>
        <p:nvGraphicFramePr>
          <p:cNvPr id="58" name="Table 58">
            <a:extLst>
              <a:ext uri="{FF2B5EF4-FFF2-40B4-BE49-F238E27FC236}">
                <a16:creationId xmlns:a16="http://schemas.microsoft.com/office/drawing/2014/main" id="{F02CC314-8321-F7DF-FD0D-F799123C4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587185"/>
              </p:ext>
            </p:extLst>
          </p:nvPr>
        </p:nvGraphicFramePr>
        <p:xfrm>
          <a:off x="9198477" y="4103535"/>
          <a:ext cx="2993525" cy="275446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93525">
                  <a:extLst>
                    <a:ext uri="{9D8B030D-6E8A-4147-A177-3AD203B41FA5}">
                      <a16:colId xmlns:a16="http://schemas.microsoft.com/office/drawing/2014/main" val="915804854"/>
                    </a:ext>
                  </a:extLst>
                </a:gridCol>
              </a:tblGrid>
              <a:tr h="316063">
                <a:tc>
                  <a:txBody>
                    <a:bodyPr/>
                    <a:lstStyle/>
                    <a:p>
                      <a:pPr algn="ctr"/>
                      <a:r>
                        <a:rPr lang="en-IN" sz="1400" b="1"/>
                        <a:t>CAE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82001"/>
                  </a:ext>
                </a:extLst>
              </a:tr>
              <a:tr h="2240518">
                <a:tc>
                  <a:txBody>
                    <a:bodyPr/>
                    <a:lstStyle/>
                    <a:p>
                      <a:pPr algn="just"/>
                      <a:r>
                        <a:rPr lang="en-IN" sz="1400" b="1"/>
                        <a:t>Element Size: An element of size nearest to smallest dimension is considered (2mm) to reduce percentage error.</a:t>
                      </a:r>
                    </a:p>
                    <a:p>
                      <a:pPr algn="just"/>
                      <a:r>
                        <a:rPr lang="en-IN" sz="1400" b="1"/>
                        <a:t>1D analysis is performed to reduce computational time and to get good results with least complications.</a:t>
                      </a:r>
                    </a:p>
                    <a:p>
                      <a:pPr algn="just"/>
                      <a:r>
                        <a:rPr lang="en-IN" sz="1400" b="1"/>
                        <a:t>Modal analysis is done to understand the effect of vibrations from the engine on the roll cage.</a:t>
                      </a:r>
                    </a:p>
                    <a:p>
                      <a:pPr algn="just"/>
                      <a:endParaRPr lang="en-IN" sz="14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591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140209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00370" y="133286"/>
            <a:ext cx="124015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"/>
              <a:t>Suspension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915129"/>
              </p:ext>
            </p:extLst>
          </p:nvPr>
        </p:nvGraphicFramePr>
        <p:xfrm>
          <a:off x="124625" y="3988561"/>
          <a:ext cx="4424044" cy="2743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0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6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b="1" spc="20">
                          <a:latin typeface="Calibri"/>
                          <a:cs typeface="Calibri"/>
                        </a:rPr>
                        <a:t>Design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b="1" spc="10">
                          <a:latin typeface="Calibri"/>
                          <a:cs typeface="Calibri"/>
                        </a:rPr>
                        <a:t>Front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Rear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qu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</a:t>
                      </a:r>
                      <a:r>
                        <a:rPr sz="1400">
                          <a:latin typeface="Calibri"/>
                          <a:cs typeface="Calibri"/>
                        </a:rPr>
                        <a:t>y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z</a:t>
                      </a:r>
                      <a:r>
                        <a:rPr sz="140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1.75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2.4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Ride Rate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(N/mm)</a:t>
                      </a: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11.77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17.89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/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mm</a:t>
                      </a:r>
                      <a:r>
                        <a:rPr sz="140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IN" sz="1400" spc="30">
                          <a:latin typeface="Calibri"/>
                          <a:cs typeface="Calibri"/>
                        </a:rPr>
                        <a:t>9.1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IN" sz="1400" spc="30">
                          <a:latin typeface="Calibri"/>
                          <a:cs typeface="Calibri"/>
                        </a:rPr>
                        <a:t>25.9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IN" sz="1400">
                          <a:latin typeface="Calibri"/>
                          <a:cs typeface="Calibri"/>
                        </a:rPr>
                        <a:t>Wheel Rate(N/mm)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IN" sz="1400">
                          <a:latin typeface="Calibri"/>
                          <a:cs typeface="Calibri"/>
                        </a:rPr>
                        <a:t>2.03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lang="en-IN" sz="1400">
                          <a:latin typeface="Calibri"/>
                          <a:cs typeface="Calibri"/>
                        </a:rPr>
                        <a:t>16.57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y</a:t>
                      </a: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1.73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1.73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114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nch)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9</a:t>
                      </a:r>
                      <a:r>
                        <a:rPr sz="1400">
                          <a:latin typeface="Calibri"/>
                          <a:cs typeface="Calibri"/>
                        </a:rPr>
                        <a:t>+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61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5.9+1.48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nch)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6.2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4.5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3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/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87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1417.77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1791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908917"/>
              </p:ext>
            </p:extLst>
          </p:nvPr>
        </p:nvGraphicFramePr>
        <p:xfrm>
          <a:off x="6214871" y="2672460"/>
          <a:ext cx="2976244" cy="2513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10">
                          <a:latin typeface="Calibri"/>
                          <a:cs typeface="Calibri"/>
                        </a:rPr>
                        <a:t>Parameter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10">
                          <a:latin typeface="Calibri"/>
                          <a:cs typeface="Calibri"/>
                        </a:rPr>
                        <a:t>Front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Rear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523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spc="-10">
                          <a:latin typeface="Calibri"/>
                          <a:cs typeface="Calibri"/>
                        </a:rPr>
                        <a:t>Roll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Centre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(mm)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n-IN" sz="1400" spc="35">
                          <a:latin typeface="Calibri"/>
                          <a:cs typeface="Calibri"/>
                        </a:rPr>
                        <a:t>259.11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181.45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Motion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Ratio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0.</a:t>
                      </a:r>
                      <a:r>
                        <a:rPr lang="en-IN" sz="1400" spc="20">
                          <a:latin typeface="Calibri"/>
                          <a:cs typeface="Calibri"/>
                        </a:rPr>
                        <a:t>473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0.8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Camber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Caster</a:t>
                      </a: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lang="en-IN" sz="1400" spc="30">
                          <a:latin typeface="Calibri"/>
                          <a:cs typeface="Calibri"/>
                        </a:rPr>
                        <a:t>4.41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KPI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lang="en-IN" sz="1400" spc="30">
                          <a:latin typeface="Calibri"/>
                          <a:cs typeface="Calibri"/>
                        </a:rPr>
                        <a:t>5.1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mm</a:t>
                      </a:r>
                      <a:r>
                        <a:rPr sz="140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28.27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0">
                          <a:latin typeface="Calibri"/>
                          <a:cs typeface="Calibri"/>
                        </a:rPr>
                        <a:t>Toe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9700" y="469900"/>
          <a:ext cx="2772408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4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Front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Double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Wishbone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400" spc="-10">
                          <a:latin typeface="Calibri"/>
                          <a:cs typeface="Calibri"/>
                        </a:rPr>
                        <a:t>Rear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77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28575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79375">
                        <a:lnSpc>
                          <a:spcPct val="102899"/>
                        </a:lnSpc>
                        <a:spcBef>
                          <a:spcPts val="19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arm</a:t>
                      </a:r>
                      <a:r>
                        <a:rPr sz="140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an</a:t>
                      </a:r>
                      <a:r>
                        <a:rPr sz="140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upper </a:t>
                      </a:r>
                      <a:r>
                        <a:rPr sz="1400" spc="-3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link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28575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309100" y="469900"/>
          <a:ext cx="2726054" cy="12744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1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8642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CG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Height</a:t>
                      </a: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</a:t>
                      </a:r>
                      <a:r>
                        <a:rPr sz="1400">
                          <a:latin typeface="Calibri"/>
                          <a:cs typeface="Calibri"/>
                        </a:rPr>
                        <a:t>9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516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oun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28575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>
                          <a:latin typeface="Calibri"/>
                          <a:cs typeface="Calibri"/>
                        </a:rPr>
                        <a:t>4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28575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642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</a:p>
                  </a:txBody>
                  <a:tcPr marL="0" marR="0" marT="387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110kg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643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-20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-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>
                          <a:latin typeface="Calibri"/>
                          <a:cs typeface="Calibri"/>
                        </a:rPr>
                        <a:t>ng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</a:p>
                  </a:txBody>
                  <a:tcPr marL="0" marR="0" marT="387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50kg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/>
          <a:stretch>
            <a:fillRect/>
          </a:stretch>
        </p:blipFill>
        <p:spPr>
          <a:xfrm>
            <a:off x="4619625" y="5248275"/>
            <a:ext cx="7429500" cy="14192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/>
          <a:stretch>
            <a:fillRect/>
          </a:stretch>
        </p:blipFill>
        <p:spPr>
          <a:xfrm>
            <a:off x="142875" y="2676525"/>
            <a:ext cx="2781300" cy="12477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/>
          <a:stretch>
            <a:fillRect/>
          </a:stretch>
        </p:blipFill>
        <p:spPr>
          <a:xfrm>
            <a:off x="142875" y="1371600"/>
            <a:ext cx="2781300" cy="119062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/>
          <a:stretch>
            <a:fillRect/>
          </a:stretch>
        </p:blipFill>
        <p:spPr>
          <a:xfrm>
            <a:off x="4619625" y="2638425"/>
            <a:ext cx="1524000" cy="241935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/>
          <a:stretch>
            <a:fillRect/>
          </a:stretch>
        </p:blipFill>
        <p:spPr>
          <a:xfrm>
            <a:off x="6219825" y="476250"/>
            <a:ext cx="2952750" cy="211455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/>
          <a:stretch>
            <a:fillRect/>
          </a:stretch>
        </p:blipFill>
        <p:spPr>
          <a:xfrm>
            <a:off x="3009900" y="2676525"/>
            <a:ext cx="1514475" cy="124777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/>
          <a:stretch>
            <a:fillRect/>
          </a:stretch>
        </p:blipFill>
        <p:spPr>
          <a:xfrm>
            <a:off x="4629150" y="485775"/>
            <a:ext cx="1514475" cy="207645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/>
          <a:stretch>
            <a:fillRect/>
          </a:stretch>
        </p:blipFill>
        <p:spPr>
          <a:xfrm>
            <a:off x="3009900" y="476250"/>
            <a:ext cx="1514475" cy="208597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35889" y="27622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7E7E7E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34A6685-E7F7-901B-4EA1-438EE3AF6B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831" y="3454691"/>
            <a:ext cx="2765294" cy="173109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A93BC64-4E04-0D2A-20C4-358DB01BFF4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831" y="2050231"/>
            <a:ext cx="2765294" cy="14044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249087"/>
              </p:ext>
            </p:extLst>
          </p:nvPr>
        </p:nvGraphicFramePr>
        <p:xfrm>
          <a:off x="34291" y="614061"/>
          <a:ext cx="3255645" cy="3756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3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038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split</a:t>
                      </a: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-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li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398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y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nd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560070">
                        <a:lnSpc>
                          <a:spcPts val="1650"/>
                        </a:lnSpc>
                        <a:spcBef>
                          <a:spcPts val="39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Bore </a:t>
                      </a:r>
                      <a:r>
                        <a:rPr sz="1400">
                          <a:latin typeface="Calibri"/>
                          <a:cs typeface="Calibri"/>
                        </a:rPr>
                        <a:t>size*stroke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19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05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mm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*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25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</a:p>
                  </a:txBody>
                  <a:tcPr marL="0" marR="0" marT="501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849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>
                          <a:latin typeface="Calibri"/>
                          <a:cs typeface="Calibri"/>
                        </a:rPr>
                        <a:t>Caliper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cylinder</a:t>
                      </a: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bo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:</a:t>
                      </a:r>
                      <a:r>
                        <a:rPr sz="140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>
                          <a:latin typeface="Calibri"/>
                          <a:cs typeface="Calibri"/>
                        </a:rPr>
                        <a:t>”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2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po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758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474345" algn="just">
                        <a:lnSpc>
                          <a:spcPct val="100600"/>
                        </a:lnSpc>
                        <a:spcBef>
                          <a:spcPts val="31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: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lang="en-IN" sz="1400" spc="20">
                          <a:latin typeface="Calibri"/>
                          <a:cs typeface="Calibri"/>
                        </a:rPr>
                        <a:t>8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>
                          <a:latin typeface="Calibri"/>
                          <a:cs typeface="Calibri"/>
                        </a:rPr>
                        <a:t>m 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: 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220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>
                          <a:latin typeface="Calibri"/>
                          <a:cs typeface="Calibri"/>
                        </a:rPr>
                        <a:t>m 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Thickness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: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3mm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4197">
                <a:tc>
                  <a:txBody>
                    <a:bodyPr/>
                    <a:lstStyle/>
                    <a:p>
                      <a:pPr marL="75565" marR="330835">
                        <a:lnSpc>
                          <a:spcPts val="1650"/>
                        </a:lnSpc>
                        <a:spcBef>
                          <a:spcPts val="415"/>
                        </a:spcBef>
                      </a:pP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 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pad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194945">
                        <a:lnSpc>
                          <a:spcPct val="100600"/>
                        </a:lnSpc>
                        <a:spcBef>
                          <a:spcPts val="325"/>
                        </a:spcBef>
                      </a:pP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:  </a:t>
                      </a:r>
                      <a:r>
                        <a:rPr lang="en-IN" sz="1400" spc="20">
                          <a:latin typeface="Calibri"/>
                          <a:cs typeface="Calibri"/>
                        </a:rPr>
                        <a:t>83.5mm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8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),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>
                          <a:latin typeface="Calibri"/>
                          <a:cs typeface="Calibri"/>
                        </a:rPr>
                        <a:t>5 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mm(rear)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76200">
                        <a:lnSpc>
                          <a:spcPts val="1655"/>
                        </a:lnSpc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Area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: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506.7mm²(front)</a:t>
                      </a:r>
                    </a:p>
                    <a:p>
                      <a:pPr marL="76200" marR="246379">
                        <a:lnSpc>
                          <a:spcPts val="1650"/>
                        </a:lnSpc>
                        <a:spcBef>
                          <a:spcPts val="125"/>
                        </a:spcBef>
                      </a:pPr>
                      <a:r>
                        <a:rPr lang="en-IN" sz="1400" spc="10">
                          <a:latin typeface="Calibri"/>
                          <a:cs typeface="Calibri"/>
                        </a:rPr>
                        <a:t>839.81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mm²(rear)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Coefficient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friction: </a:t>
                      </a:r>
                      <a:r>
                        <a:rPr sz="1400" spc="-3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0.4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038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14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207514"/>
              </p:ext>
            </p:extLst>
          </p:nvPr>
        </p:nvGraphicFramePr>
        <p:xfrm>
          <a:off x="3403599" y="607350"/>
          <a:ext cx="4347845" cy="30107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4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3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spc="25">
                          <a:latin typeface="Calibri"/>
                          <a:cs typeface="Calibri"/>
                        </a:rPr>
                        <a:t>Field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b="1" spc="20">
                          <a:latin typeface="Calibri"/>
                          <a:cs typeface="Calibri"/>
                        </a:rPr>
                        <a:t>Result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19">
                <a:tc>
                  <a:txBody>
                    <a:bodyPr/>
                    <a:lstStyle/>
                    <a:p>
                      <a:pPr marL="93980" marR="203200">
                        <a:lnSpc>
                          <a:spcPct val="102800"/>
                        </a:lnSpc>
                        <a:spcBef>
                          <a:spcPts val="200"/>
                        </a:spcBef>
                      </a:pPr>
                      <a:r>
                        <a:rPr sz="1400" spc="-70">
                          <a:latin typeface="Calibri"/>
                          <a:cs typeface="Calibri"/>
                        </a:rPr>
                        <a:t>W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ght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4</a:t>
                      </a: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ph  to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Kmph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marR="426084" algn="just">
                        <a:lnSpc>
                          <a:spcPct val="100600"/>
                        </a:lnSpc>
                        <a:spcBef>
                          <a:spcPts val="235"/>
                        </a:spcBef>
                      </a:pPr>
                      <a:r>
                        <a:rPr lang="en-IN" sz="1400" spc="20">
                          <a:latin typeface="Calibri"/>
                          <a:cs typeface="Calibri"/>
                        </a:rPr>
                        <a:t>228.98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114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lang="en-IN" sz="1400" spc="20">
                          <a:latin typeface="Calibri"/>
                          <a:cs typeface="Calibri"/>
                        </a:rPr>
                        <a:t>15.76%</a:t>
                      </a:r>
                      <a:r>
                        <a:rPr sz="1400" spc="-1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of 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weight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>
                          <a:latin typeface="Calibri"/>
                          <a:cs typeface="Calibri"/>
                        </a:rPr>
                        <a:t> transferred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1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298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Static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rolling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radius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292.1mm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3980" marR="394970">
                        <a:lnSpc>
                          <a:spcPct val="102899"/>
                        </a:lnSpc>
                        <a:spcBef>
                          <a:spcPts val="210"/>
                        </a:spcBef>
                      </a:pPr>
                      <a:r>
                        <a:rPr sz="1400" spc="-15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ff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of  </a:t>
                      </a:r>
                      <a:r>
                        <a:rPr sz="1400">
                          <a:latin typeface="Calibri"/>
                          <a:cs typeface="Calibri"/>
                        </a:rPr>
                        <a:t>friction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road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0.7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035">
                <a:tc>
                  <a:txBody>
                    <a:bodyPr/>
                    <a:lstStyle/>
                    <a:p>
                      <a:pPr marL="93980" marR="330200">
                        <a:lnSpc>
                          <a:spcPct val="102899"/>
                        </a:lnSpc>
                        <a:spcBef>
                          <a:spcPts val="215"/>
                        </a:spcBef>
                      </a:pP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qu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qu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  wheel</a:t>
                      </a:r>
                    </a:p>
                  </a:txBody>
                  <a:tcPr marL="0" marR="0" marT="273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577215">
                        <a:lnSpc>
                          <a:spcPct val="102899"/>
                        </a:lnSpc>
                        <a:spcBef>
                          <a:spcPts val="21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: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1400" spc="20">
                          <a:latin typeface="Calibri"/>
                          <a:cs typeface="Calibri"/>
                        </a:rPr>
                        <a:t>315.464Nm</a:t>
                      </a:r>
                      <a:r>
                        <a:rPr sz="1400">
                          <a:latin typeface="Calibri"/>
                          <a:cs typeface="Calibri"/>
                        </a:rPr>
                        <a:t> 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: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1400" spc="20">
                          <a:latin typeface="Calibri"/>
                          <a:cs typeface="Calibri"/>
                        </a:rPr>
                        <a:t>185.996Nm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7662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ce</a:t>
                      </a: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marR="662305">
                        <a:lnSpc>
                          <a:spcPct val="102899"/>
                        </a:lnSpc>
                        <a:spcBef>
                          <a:spcPts val="22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: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1400" spc="20">
                          <a:latin typeface="Calibri"/>
                          <a:cs typeface="Calibri"/>
                        </a:rPr>
                        <a:t>2844.44N</a:t>
                      </a:r>
                      <a:r>
                        <a:rPr sz="14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: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</a:t>
                      </a:r>
                      <a:r>
                        <a:rPr lang="en-IN" sz="1400" spc="20">
                          <a:latin typeface="Calibri"/>
                          <a:cs typeface="Calibri"/>
                        </a:rPr>
                        <a:t>357.11N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287144" y="249237"/>
            <a:ext cx="10966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35">
                <a:latin typeface="Calibri"/>
                <a:cs typeface="Calibri"/>
              </a:rPr>
              <a:t>B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>
                <a:latin typeface="Calibri"/>
                <a:cs typeface="Calibri"/>
              </a:rPr>
              <a:t>k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g</a:t>
            </a:r>
            <a:r>
              <a:rPr sz="1400" b="1" spc="-95">
                <a:latin typeface="Calibri"/>
                <a:cs typeface="Calibri"/>
              </a:rPr>
              <a:t> </a:t>
            </a:r>
            <a:r>
              <a:rPr sz="1400" b="1" spc="5">
                <a:latin typeface="Calibri"/>
                <a:cs typeface="Calibri"/>
              </a:rPr>
              <a:t>c</a:t>
            </a:r>
            <a:r>
              <a:rPr sz="1400" b="1" spc="30">
                <a:latin typeface="Calibri"/>
                <a:cs typeface="Calibri"/>
              </a:rPr>
              <a:t>i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5">
                <a:latin typeface="Calibri"/>
                <a:cs typeface="Calibri"/>
              </a:rPr>
              <a:t>c</a:t>
            </a:r>
            <a:r>
              <a:rPr sz="1400" b="1" spc="-5">
                <a:latin typeface="Calibri"/>
                <a:cs typeface="Calibri"/>
              </a:rPr>
              <a:t>u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5">
                <a:latin typeface="Calibri"/>
                <a:cs typeface="Calibri"/>
              </a:rPr>
              <a:t>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860866" y="-100965"/>
            <a:ext cx="1520825" cy="68453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735"/>
              </a:spcBef>
            </a:pPr>
            <a:r>
              <a:rPr spc="-5"/>
              <a:t>Braking</a:t>
            </a: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400" u="none" spc="40"/>
              <a:t>B</a:t>
            </a:r>
            <a:r>
              <a:rPr sz="1400" u="none" spc="20"/>
              <a:t>r</a:t>
            </a:r>
            <a:r>
              <a:rPr sz="1400" u="none" spc="-20"/>
              <a:t>a</a:t>
            </a:r>
            <a:r>
              <a:rPr sz="1400" u="none"/>
              <a:t>k</a:t>
            </a:r>
            <a:r>
              <a:rPr sz="1400" u="none" spc="25"/>
              <a:t>i</a:t>
            </a:r>
            <a:r>
              <a:rPr sz="1400" u="none" spc="-5"/>
              <a:t>n</a:t>
            </a:r>
            <a:r>
              <a:rPr sz="1400" u="none" spc="10"/>
              <a:t>g</a:t>
            </a:r>
            <a:r>
              <a:rPr sz="1400" u="none" spc="-95"/>
              <a:t> </a:t>
            </a:r>
            <a:r>
              <a:rPr sz="1400" u="none" spc="10"/>
              <a:t>c</a:t>
            </a:r>
            <a:r>
              <a:rPr sz="1400" u="none" spc="-20"/>
              <a:t>a</a:t>
            </a:r>
            <a:r>
              <a:rPr sz="1400" u="none" spc="25"/>
              <a:t>l</a:t>
            </a:r>
            <a:r>
              <a:rPr sz="1400" u="none" spc="10"/>
              <a:t>c</a:t>
            </a:r>
            <a:r>
              <a:rPr sz="1400" u="none" spc="-5"/>
              <a:t>u</a:t>
            </a:r>
            <a:r>
              <a:rPr sz="1400" u="none" spc="25"/>
              <a:t>l</a:t>
            </a:r>
            <a:r>
              <a:rPr sz="1400" u="none" spc="-20"/>
              <a:t>a</a:t>
            </a:r>
            <a:r>
              <a:rPr sz="1400" u="none" spc="35"/>
              <a:t>t</a:t>
            </a:r>
            <a:r>
              <a:rPr sz="1400" u="none" spc="25"/>
              <a:t>i</a:t>
            </a:r>
            <a:r>
              <a:rPr sz="1400" u="none" spc="-10"/>
              <a:t>o</a:t>
            </a:r>
            <a:r>
              <a:rPr sz="1400" u="none" spc="-5"/>
              <a:t>n</a:t>
            </a:r>
            <a:r>
              <a:rPr sz="1400" u="none" spc="10"/>
              <a:t>s</a:t>
            </a:r>
            <a:endParaRPr sz="1400"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050023"/>
              </p:ext>
            </p:extLst>
          </p:nvPr>
        </p:nvGraphicFramePr>
        <p:xfrm>
          <a:off x="7849615" y="2578645"/>
          <a:ext cx="4156709" cy="12279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1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74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25">
                          <a:latin typeface="Calibri"/>
                          <a:cs typeface="Calibri"/>
                        </a:rPr>
                        <a:t>Field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25">
                          <a:latin typeface="Calibri"/>
                          <a:cs typeface="Calibri"/>
                        </a:rPr>
                        <a:t>Result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914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da</a:t>
                      </a:r>
                      <a:r>
                        <a:rPr sz="140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ce</a:t>
                      </a: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20</a:t>
                      </a: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pp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ng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nce</a:t>
                      </a: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en-IN" sz="1400" spc="25">
                          <a:latin typeface="Calibri"/>
                          <a:cs typeface="Calibri"/>
                        </a:rPr>
                        <a:t>2.96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  <a:r>
                        <a:rPr lang="en-IN" sz="1400">
                          <a:latin typeface="Calibri"/>
                          <a:cs typeface="Calibri"/>
                        </a:rPr>
                        <a:t>/s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4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da</a:t>
                      </a:r>
                      <a:r>
                        <a:rPr sz="140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l</a:t>
                      </a: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12</a:t>
                      </a:r>
                      <a:r>
                        <a:rPr sz="140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7751444" y="157017"/>
            <a:ext cx="278447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75">
                <a:latin typeface="Calibri"/>
                <a:cs typeface="Calibri"/>
              </a:rPr>
              <a:t>W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5">
                <a:latin typeface="Calibri"/>
                <a:cs typeface="Calibri"/>
              </a:rPr>
              <a:t>g</a:t>
            </a:r>
            <a:r>
              <a:rPr sz="1400" b="1" spc="-10">
                <a:latin typeface="Calibri"/>
                <a:cs typeface="Calibri"/>
              </a:rPr>
              <a:t>h</a:t>
            </a:r>
            <a:r>
              <a:rPr sz="1400" b="1" spc="5">
                <a:latin typeface="Calibri"/>
                <a:cs typeface="Calibri"/>
              </a:rPr>
              <a:t>t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 spc="30">
                <a:latin typeface="Calibri"/>
                <a:cs typeface="Calibri"/>
              </a:rPr>
              <a:t>t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35">
                <a:latin typeface="Calibri"/>
                <a:cs typeface="Calibri"/>
              </a:rPr>
              <a:t>s</a:t>
            </a:r>
            <a:r>
              <a:rPr sz="1400" b="1">
                <a:latin typeface="Calibri"/>
                <a:cs typeface="Calibri"/>
              </a:rPr>
              <a:t>f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5">
                <a:latin typeface="Calibri"/>
                <a:cs typeface="Calibri"/>
              </a:rPr>
              <a:t>r</a:t>
            </a:r>
            <a:r>
              <a:rPr sz="1400" b="1" spc="-75">
                <a:latin typeface="Calibri"/>
                <a:cs typeface="Calibri"/>
              </a:rPr>
              <a:t> </a:t>
            </a:r>
            <a:r>
              <a:rPr sz="1400" b="1" spc="20">
                <a:latin typeface="Calibri"/>
                <a:cs typeface="Calibri"/>
              </a:rPr>
              <a:t>%</a:t>
            </a:r>
            <a:r>
              <a:rPr sz="1400" b="1" spc="-85">
                <a:latin typeface="Calibri"/>
                <a:cs typeface="Calibri"/>
              </a:rPr>
              <a:t> </a:t>
            </a:r>
            <a:r>
              <a:rPr sz="1400" b="1" spc="-80">
                <a:latin typeface="Calibri"/>
                <a:cs typeface="Calibri"/>
              </a:rPr>
              <a:t>V</a:t>
            </a: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 spc="10">
                <a:latin typeface="Calibri"/>
                <a:cs typeface="Calibri"/>
              </a:rPr>
              <a:t>D</a:t>
            </a:r>
            <a:r>
              <a:rPr sz="1400" b="1" spc="40">
                <a:latin typeface="Calibri"/>
                <a:cs typeface="Calibri"/>
              </a:rPr>
              <a:t>e</a:t>
            </a:r>
            <a:r>
              <a:rPr sz="1400" b="1" spc="5">
                <a:latin typeface="Calibri"/>
                <a:cs typeface="Calibri"/>
              </a:rPr>
              <a:t>c</a:t>
            </a:r>
            <a:r>
              <a:rPr sz="1400" b="1" spc="40">
                <a:latin typeface="Calibri"/>
                <a:cs typeface="Calibri"/>
              </a:rPr>
              <a:t>e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-55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-45">
                <a:latin typeface="Calibri"/>
                <a:cs typeface="Calibri"/>
              </a:rPr>
              <a:t>t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 spc="10">
                <a:latin typeface="Calibri"/>
                <a:cs typeface="Calibri"/>
              </a:rPr>
              <a:t>n</a:t>
            </a:r>
            <a:r>
              <a:rPr sz="1400" b="1" spc="-110">
                <a:latin typeface="Calibri"/>
                <a:cs typeface="Calibri"/>
              </a:rPr>
              <a:t> </a:t>
            </a:r>
            <a:r>
              <a:rPr sz="1400" b="1" spc="5">
                <a:latin typeface="Calibri"/>
                <a:cs typeface="Calibri"/>
              </a:rPr>
              <a:t>(g)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/>
          <a:stretch>
            <a:fillRect/>
          </a:stretch>
        </p:blipFill>
        <p:spPr>
          <a:xfrm>
            <a:off x="7822842" y="459029"/>
            <a:ext cx="2312156" cy="183888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/>
          <a:stretch>
            <a:fillRect/>
          </a:stretch>
        </p:blipFill>
        <p:spPr>
          <a:xfrm>
            <a:off x="148931" y="4491959"/>
            <a:ext cx="3089911" cy="188979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/>
          <a:stretch>
            <a:fillRect/>
          </a:stretch>
        </p:blipFill>
        <p:spPr>
          <a:xfrm>
            <a:off x="5893863" y="3840298"/>
            <a:ext cx="2183338" cy="116741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/>
          <a:stretch>
            <a:fillRect/>
          </a:stretch>
        </p:blipFill>
        <p:spPr>
          <a:xfrm>
            <a:off x="10459155" y="486195"/>
            <a:ext cx="1543050" cy="148590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610610" y="5389650"/>
            <a:ext cx="285686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 spc="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Advantages</a:t>
            </a:r>
            <a:r>
              <a:rPr sz="1400" b="1" u="sng" spc="-6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400" b="1" u="sng" spc="-9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inboard</a:t>
            </a:r>
            <a:r>
              <a:rPr sz="1400" b="1" u="sng" spc="-1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spc="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braking</a:t>
            </a:r>
            <a:r>
              <a:rPr sz="1400" b="1" u="sng" spc="-9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b="1" u="sng" spc="1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system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8334" y="5646935"/>
            <a:ext cx="3837304" cy="109220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8450" marR="5080" indent="-285750">
              <a:lnSpc>
                <a:spcPts val="1650"/>
              </a:lnSpc>
              <a:spcBef>
                <a:spcPts val="204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1400" spc="-20">
                <a:latin typeface="Calibri"/>
                <a:cs typeface="Calibri"/>
              </a:rPr>
              <a:t>R</a:t>
            </a:r>
            <a:r>
              <a:rPr sz="1400" spc="-30">
                <a:latin typeface="Calibri"/>
                <a:cs typeface="Calibri"/>
              </a:rPr>
              <a:t>e</a:t>
            </a:r>
            <a:r>
              <a:rPr sz="1400" spc="5">
                <a:latin typeface="Calibri"/>
                <a:cs typeface="Calibri"/>
              </a:rPr>
              <a:t>duc</a:t>
            </a:r>
            <a:r>
              <a:rPr sz="1400" spc="-30">
                <a:latin typeface="Calibri"/>
                <a:cs typeface="Calibri"/>
              </a:rPr>
              <a:t>t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 spc="5">
                <a:latin typeface="Calibri"/>
                <a:cs typeface="Calibri"/>
              </a:rPr>
              <a:t>o</a:t>
            </a:r>
            <a:r>
              <a:rPr sz="1400" spc="10">
                <a:latin typeface="Calibri"/>
                <a:cs typeface="Calibri"/>
              </a:rPr>
              <a:t>n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 spc="10">
                <a:latin typeface="Calibri"/>
                <a:cs typeface="Calibri"/>
              </a:rPr>
              <a:t>n</a:t>
            </a:r>
            <a:r>
              <a:rPr sz="1400" spc="55">
                <a:latin typeface="Calibri"/>
                <a:cs typeface="Calibri"/>
              </a:rPr>
              <a:t> </a:t>
            </a:r>
            <a:r>
              <a:rPr sz="1400" spc="45">
                <a:latin typeface="Calibri"/>
                <a:cs typeface="Calibri"/>
              </a:rPr>
              <a:t>s</a:t>
            </a:r>
            <a:r>
              <a:rPr sz="1400" spc="5">
                <a:latin typeface="Calibri"/>
                <a:cs typeface="Calibri"/>
              </a:rPr>
              <a:t>p</a:t>
            </a:r>
            <a:r>
              <a:rPr sz="1400" spc="30">
                <a:latin typeface="Calibri"/>
                <a:cs typeface="Calibri"/>
              </a:rPr>
              <a:t>r</a:t>
            </a:r>
            <a:r>
              <a:rPr sz="1400" spc="5">
                <a:latin typeface="Calibri"/>
                <a:cs typeface="Calibri"/>
              </a:rPr>
              <a:t>un</a:t>
            </a:r>
            <a:r>
              <a:rPr sz="1400" spc="10">
                <a:latin typeface="Calibri"/>
                <a:cs typeface="Calibri"/>
              </a:rPr>
              <a:t>g</a:t>
            </a:r>
            <a:r>
              <a:rPr sz="1400" spc="-90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m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45">
                <a:latin typeface="Calibri"/>
                <a:cs typeface="Calibri"/>
              </a:rPr>
              <a:t>s</a:t>
            </a:r>
            <a:r>
              <a:rPr sz="1400" spc="10">
                <a:latin typeface="Calibri"/>
                <a:cs typeface="Calibri"/>
              </a:rPr>
              <a:t>s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5">
                <a:latin typeface="Calibri"/>
                <a:cs typeface="Calibri"/>
              </a:rPr>
              <a:t>n</a:t>
            </a:r>
            <a:r>
              <a:rPr sz="1400" spc="10">
                <a:latin typeface="Calibri"/>
                <a:cs typeface="Calibri"/>
              </a:rPr>
              <a:t>d</a:t>
            </a:r>
            <a:r>
              <a:rPr sz="1400" spc="-95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l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30">
                <a:latin typeface="Calibri"/>
                <a:cs typeface="Calibri"/>
              </a:rPr>
              <a:t>r</a:t>
            </a:r>
            <a:r>
              <a:rPr sz="1400" spc="10">
                <a:latin typeface="Calibri"/>
                <a:cs typeface="Calibri"/>
              </a:rPr>
              <a:t>g</a:t>
            </a:r>
            <a:r>
              <a:rPr sz="1400" spc="-25">
                <a:latin typeface="Calibri"/>
                <a:cs typeface="Calibri"/>
              </a:rPr>
              <a:t>e</a:t>
            </a:r>
            <a:r>
              <a:rPr sz="1400" spc="5">
                <a:latin typeface="Calibri"/>
                <a:cs typeface="Calibri"/>
              </a:rPr>
              <a:t>r</a:t>
            </a:r>
            <a:r>
              <a:rPr sz="1400" spc="-6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d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 spc="45">
                <a:latin typeface="Calibri"/>
                <a:cs typeface="Calibri"/>
              </a:rPr>
              <a:t>s</a:t>
            </a:r>
            <a:r>
              <a:rPr sz="1400" spc="10">
                <a:latin typeface="Calibri"/>
                <a:cs typeface="Calibri"/>
              </a:rPr>
              <a:t>cs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 spc="10">
                <a:latin typeface="Calibri"/>
                <a:cs typeface="Calibri"/>
              </a:rPr>
              <a:t>c</a:t>
            </a:r>
            <a:r>
              <a:rPr sz="1400" spc="-5">
                <a:latin typeface="Calibri"/>
                <a:cs typeface="Calibri"/>
              </a:rPr>
              <a:t>a</a:t>
            </a:r>
            <a:r>
              <a:rPr sz="1400" spc="10">
                <a:latin typeface="Calibri"/>
                <a:cs typeface="Calibri"/>
              </a:rPr>
              <a:t>n</a:t>
            </a:r>
            <a:r>
              <a:rPr sz="1400" spc="-9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be  </a:t>
            </a:r>
            <a:r>
              <a:rPr sz="1400">
                <a:latin typeface="Calibri"/>
                <a:cs typeface="Calibri"/>
              </a:rPr>
              <a:t>accommodated</a:t>
            </a:r>
          </a:p>
          <a:p>
            <a:pPr marL="298450" indent="-285750">
              <a:lnSpc>
                <a:spcPts val="1664"/>
              </a:lnSpc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1400" spc="-20">
                <a:latin typeface="Calibri"/>
                <a:cs typeface="Calibri"/>
              </a:rPr>
              <a:t>R</a:t>
            </a:r>
            <a:r>
              <a:rPr sz="1400" spc="-30">
                <a:latin typeface="Calibri"/>
                <a:cs typeface="Calibri"/>
              </a:rPr>
              <a:t>e</a:t>
            </a:r>
            <a:r>
              <a:rPr sz="1400" spc="5">
                <a:latin typeface="Calibri"/>
                <a:cs typeface="Calibri"/>
              </a:rPr>
              <a:t>duc</a:t>
            </a:r>
            <a:r>
              <a:rPr sz="1400" spc="-30">
                <a:latin typeface="Calibri"/>
                <a:cs typeface="Calibri"/>
              </a:rPr>
              <a:t>t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 spc="5">
                <a:latin typeface="Calibri"/>
                <a:cs typeface="Calibri"/>
              </a:rPr>
              <a:t>o</a:t>
            </a:r>
            <a:r>
              <a:rPr sz="1400" spc="10">
                <a:latin typeface="Calibri"/>
                <a:cs typeface="Calibri"/>
              </a:rPr>
              <a:t>n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of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 spc="15">
                <a:latin typeface="Calibri"/>
                <a:cs typeface="Calibri"/>
              </a:rPr>
              <a:t>f</a:t>
            </a:r>
            <a:r>
              <a:rPr sz="1400" spc="5">
                <a:latin typeface="Calibri"/>
                <a:cs typeface="Calibri"/>
              </a:rPr>
              <a:t>o</a:t>
            </a:r>
            <a:r>
              <a:rPr sz="1400" spc="25">
                <a:latin typeface="Calibri"/>
                <a:cs typeface="Calibri"/>
              </a:rPr>
              <a:t>r</a:t>
            </a:r>
            <a:r>
              <a:rPr sz="1400" spc="10">
                <a:latin typeface="Calibri"/>
                <a:cs typeface="Calibri"/>
              </a:rPr>
              <a:t>ce</a:t>
            </a:r>
            <a:r>
              <a:rPr sz="1400" spc="-13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o</a:t>
            </a:r>
            <a:r>
              <a:rPr sz="1400" spc="10">
                <a:latin typeface="Calibri"/>
                <a:cs typeface="Calibri"/>
              </a:rPr>
              <a:t>n</a:t>
            </a:r>
            <a:r>
              <a:rPr sz="1400" spc="-95">
                <a:latin typeface="Calibri"/>
                <a:cs typeface="Calibri"/>
              </a:rPr>
              <a:t> </a:t>
            </a:r>
            <a:r>
              <a:rPr sz="1400" spc="45">
                <a:latin typeface="Calibri"/>
                <a:cs typeface="Calibri"/>
              </a:rPr>
              <a:t>s</a:t>
            </a:r>
            <a:r>
              <a:rPr sz="1400" spc="5">
                <a:latin typeface="Calibri"/>
                <a:cs typeface="Calibri"/>
              </a:rPr>
              <a:t>u</a:t>
            </a:r>
            <a:r>
              <a:rPr sz="1400" spc="50">
                <a:latin typeface="Calibri"/>
                <a:cs typeface="Calibri"/>
              </a:rPr>
              <a:t>s</a:t>
            </a:r>
            <a:r>
              <a:rPr sz="1400" spc="5">
                <a:latin typeface="Calibri"/>
                <a:cs typeface="Calibri"/>
              </a:rPr>
              <a:t>p</a:t>
            </a:r>
            <a:r>
              <a:rPr sz="1400" spc="-30">
                <a:latin typeface="Calibri"/>
                <a:cs typeface="Calibri"/>
              </a:rPr>
              <a:t>e</a:t>
            </a:r>
            <a:r>
              <a:rPr sz="1400" spc="5">
                <a:latin typeface="Calibri"/>
                <a:cs typeface="Calibri"/>
              </a:rPr>
              <a:t>n</a:t>
            </a:r>
            <a:r>
              <a:rPr sz="1400" spc="50">
                <a:latin typeface="Calibri"/>
                <a:cs typeface="Calibri"/>
              </a:rPr>
              <a:t>s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 spc="5">
                <a:latin typeface="Calibri"/>
                <a:cs typeface="Calibri"/>
              </a:rPr>
              <a:t>o</a:t>
            </a:r>
            <a:r>
              <a:rPr sz="1400" spc="10">
                <a:latin typeface="Calibri"/>
                <a:cs typeface="Calibri"/>
              </a:rPr>
              <a:t>n</a:t>
            </a:r>
            <a:r>
              <a:rPr sz="1400" spc="-9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30">
                <a:latin typeface="Calibri"/>
                <a:cs typeface="Calibri"/>
              </a:rPr>
              <a:t>r</a:t>
            </a:r>
            <a:r>
              <a:rPr sz="1400" spc="5">
                <a:latin typeface="Calibri"/>
                <a:cs typeface="Calibri"/>
              </a:rPr>
              <a:t>m</a:t>
            </a:r>
            <a:r>
              <a:rPr sz="1400" spc="10">
                <a:latin typeface="Calibri"/>
                <a:cs typeface="Calibri"/>
              </a:rPr>
              <a:t>s</a:t>
            </a:r>
            <a:endParaRPr sz="1400">
              <a:latin typeface="Calibri"/>
              <a:cs typeface="Calibri"/>
            </a:endParaRPr>
          </a:p>
          <a:p>
            <a:pPr marL="298450" marR="32384" indent="-285750">
              <a:lnSpc>
                <a:spcPts val="1650"/>
              </a:lnSpc>
              <a:spcBef>
                <a:spcPts val="65"/>
              </a:spcBef>
              <a:buFont typeface="Arial MT"/>
              <a:buChar char="•"/>
              <a:tabLst>
                <a:tab pos="297815" algn="l"/>
                <a:tab pos="298450" algn="l"/>
              </a:tabLst>
            </a:pPr>
            <a:r>
              <a:rPr sz="1400" spc="5">
                <a:latin typeface="Calibri"/>
                <a:cs typeface="Calibri"/>
              </a:rPr>
              <a:t>Less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complex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design</a:t>
            </a:r>
            <a:r>
              <a:rPr sz="1400" spc="-10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of</a:t>
            </a:r>
            <a:r>
              <a:rPr sz="1400" spc="-80">
                <a:latin typeface="Calibri"/>
                <a:cs typeface="Calibri"/>
              </a:rPr>
              <a:t> </a:t>
            </a:r>
            <a:r>
              <a:rPr sz="1400" spc="10">
                <a:latin typeface="Calibri"/>
                <a:cs typeface="Calibri"/>
              </a:rPr>
              <a:t>hub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and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easier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brake</a:t>
            </a:r>
            <a:r>
              <a:rPr sz="1400" spc="-1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line </a:t>
            </a:r>
            <a:r>
              <a:rPr sz="1400" spc="-30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routing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921062" y="3781242"/>
            <a:ext cx="311785" cy="4629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950" marR="5080" indent="-95885">
              <a:lnSpc>
                <a:spcPct val="102800"/>
              </a:lnSpc>
              <a:spcBef>
                <a:spcPts val="80"/>
              </a:spcBef>
            </a:pP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400" spc="-25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45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spc="5">
                <a:solidFill>
                  <a:srgbClr val="FFFFFF"/>
                </a:solidFill>
                <a:latin typeface="Calibri"/>
                <a:cs typeface="Calibri"/>
              </a:rPr>
              <a:t>c  </a:t>
            </a:r>
            <a:r>
              <a:rPr sz="1400" spc="1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5889" y="27622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7E7E7E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070403" y="2356717"/>
            <a:ext cx="17151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15">
                <a:latin typeface="Calibri"/>
                <a:cs typeface="Calibri"/>
              </a:rPr>
              <a:t>E</a:t>
            </a:r>
            <a:r>
              <a:rPr sz="1400" b="1" spc="25">
                <a:latin typeface="Calibri"/>
                <a:cs typeface="Calibri"/>
              </a:rPr>
              <a:t>x</a:t>
            </a:r>
            <a:r>
              <a:rPr sz="1400" b="1" spc="-10">
                <a:latin typeface="Calibri"/>
                <a:cs typeface="Calibri"/>
              </a:rPr>
              <a:t>p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5">
                <a:latin typeface="Calibri"/>
                <a:cs typeface="Calibri"/>
              </a:rPr>
              <a:t>c</a:t>
            </a:r>
            <a:r>
              <a:rPr sz="1400" b="1" spc="35">
                <a:latin typeface="Calibri"/>
                <a:cs typeface="Calibri"/>
              </a:rPr>
              <a:t>te</a:t>
            </a:r>
            <a:r>
              <a:rPr sz="1400" b="1" spc="10">
                <a:latin typeface="Calibri"/>
                <a:cs typeface="Calibri"/>
              </a:rPr>
              <a:t>d</a:t>
            </a:r>
            <a:r>
              <a:rPr sz="1400" b="1" spc="-110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p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>
                <a:latin typeface="Calibri"/>
                <a:cs typeface="Calibri"/>
              </a:rPr>
              <a:t>f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ma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5">
                <a:latin typeface="Calibri"/>
                <a:cs typeface="Calibri"/>
              </a:rPr>
              <a:t>ce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459155" y="2042804"/>
            <a:ext cx="14262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35">
                <a:latin typeface="Calibri"/>
                <a:cs typeface="Calibri"/>
              </a:rPr>
              <a:t>B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-80">
                <a:latin typeface="Calibri"/>
                <a:cs typeface="Calibri"/>
              </a:rPr>
              <a:t>k</a:t>
            </a:r>
            <a:r>
              <a:rPr sz="1400" b="1" spc="10">
                <a:latin typeface="Calibri"/>
                <a:cs typeface="Calibri"/>
              </a:rPr>
              <a:t>e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p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-10">
                <a:latin typeface="Calibri"/>
                <a:cs typeface="Calibri"/>
              </a:rPr>
              <a:t>d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5">
                <a:latin typeface="Calibri"/>
                <a:cs typeface="Calibri"/>
              </a:rPr>
              <a:t>l</a:t>
            </a:r>
            <a:r>
              <a:rPr sz="1400" b="1" spc="-70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d</a:t>
            </a:r>
            <a:r>
              <a:rPr sz="1400" b="1" spc="35">
                <a:latin typeface="Calibri"/>
                <a:cs typeface="Calibri"/>
              </a:rPr>
              <a:t>es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5">
                <a:latin typeface="Calibri"/>
                <a:cs typeface="Calibri"/>
              </a:rPr>
              <a:t>gn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904735" y="5041402"/>
            <a:ext cx="177546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5">
                <a:latin typeface="Calibri"/>
                <a:cs typeface="Calibri"/>
              </a:rPr>
              <a:t>Wh</a:t>
            </a:r>
            <a:r>
              <a:rPr sz="1400" b="1" spc="35">
                <a:latin typeface="Calibri"/>
                <a:cs typeface="Calibri"/>
              </a:rPr>
              <a:t>ee</a:t>
            </a:r>
            <a:r>
              <a:rPr sz="1400" b="1" spc="5">
                <a:latin typeface="Calibri"/>
                <a:cs typeface="Calibri"/>
              </a:rPr>
              <a:t>l</a:t>
            </a:r>
            <a:r>
              <a:rPr sz="1400" b="1" spc="-70">
                <a:latin typeface="Calibri"/>
                <a:cs typeface="Calibri"/>
              </a:rPr>
              <a:t> 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35">
                <a:latin typeface="Calibri"/>
                <a:cs typeface="Calibri"/>
              </a:rPr>
              <a:t>sse</a:t>
            </a:r>
            <a:r>
              <a:rPr sz="1400" b="1" spc="-20">
                <a:latin typeface="Calibri"/>
                <a:cs typeface="Calibri"/>
              </a:rPr>
              <a:t>m</a:t>
            </a:r>
            <a:r>
              <a:rPr sz="1400" b="1" spc="-10">
                <a:latin typeface="Calibri"/>
                <a:cs typeface="Calibri"/>
              </a:rPr>
              <a:t>b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10">
                <a:latin typeface="Calibri"/>
                <a:cs typeface="Calibri"/>
              </a:rPr>
              <a:t>y</a:t>
            </a:r>
            <a:r>
              <a:rPr sz="1400" b="1" spc="-95">
                <a:latin typeface="Calibri"/>
                <a:cs typeface="Calibri"/>
              </a:rPr>
              <a:t> </a:t>
            </a:r>
            <a:r>
              <a:rPr sz="1400" b="1" spc="5">
                <a:latin typeface="Calibri"/>
                <a:cs typeface="Calibri"/>
              </a:rPr>
              <a:t>(</a:t>
            </a:r>
            <a:r>
              <a:rPr sz="1400" b="1">
                <a:latin typeface="Calibri"/>
                <a:cs typeface="Calibri"/>
              </a:rPr>
              <a:t>f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-10">
                <a:latin typeface="Calibri"/>
                <a:cs typeface="Calibri"/>
              </a:rPr>
              <a:t>on</a:t>
            </a:r>
            <a:r>
              <a:rPr sz="1400" b="1" spc="30">
                <a:latin typeface="Calibri"/>
                <a:cs typeface="Calibri"/>
              </a:rPr>
              <a:t>t</a:t>
            </a:r>
            <a:r>
              <a:rPr sz="1400" b="1" spc="5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38759" y="6381768"/>
            <a:ext cx="2641600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>
                <a:latin typeface="Calibri"/>
                <a:cs typeface="Calibri"/>
              </a:rPr>
              <a:t>C</a:t>
            </a:r>
            <a:r>
              <a:rPr lang="en-US" sz="1400" b="1">
                <a:latin typeface="Calibri"/>
                <a:cs typeface="Calibri"/>
              </a:rPr>
              <a:t>AD</a:t>
            </a:r>
            <a:r>
              <a:rPr sz="1400" b="1" spc="-40">
                <a:latin typeface="Calibri"/>
                <a:cs typeface="Calibri"/>
              </a:rPr>
              <a:t> </a:t>
            </a:r>
            <a:r>
              <a:rPr lang="en-US" sz="1400" b="1" spc="-40">
                <a:latin typeface="Calibri"/>
                <a:cs typeface="Calibri"/>
              </a:rPr>
              <a:t>m</a:t>
            </a:r>
            <a:r>
              <a:rPr sz="1400" b="1">
                <a:latin typeface="Calibri"/>
                <a:cs typeface="Calibri"/>
              </a:rPr>
              <a:t>odel</a:t>
            </a:r>
            <a:r>
              <a:rPr sz="1400" b="1" spc="-75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of</a:t>
            </a:r>
            <a:r>
              <a:rPr sz="1400" b="1" spc="-25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inboard</a:t>
            </a:r>
            <a:r>
              <a:rPr sz="1400" b="1" spc="-40">
                <a:latin typeface="Calibri"/>
                <a:cs typeface="Calibri"/>
              </a:rPr>
              <a:t> </a:t>
            </a:r>
            <a:r>
              <a:rPr sz="1400" b="1" spc="-5">
                <a:latin typeface="Calibri"/>
                <a:cs typeface="Calibri"/>
              </a:rPr>
              <a:t>brakes</a:t>
            </a:r>
            <a:r>
              <a:rPr sz="1400" b="1" spc="-70">
                <a:latin typeface="Calibri"/>
                <a:cs typeface="Calibri"/>
              </a:rPr>
              <a:t> </a:t>
            </a:r>
            <a:r>
              <a:rPr sz="1400" b="1" spc="15">
                <a:latin typeface="Calibri"/>
                <a:cs typeface="Calibri"/>
              </a:rPr>
              <a:t>(Rear)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57A18A9-F86B-234E-D7EA-997951868A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920" y="3737973"/>
            <a:ext cx="2586474" cy="150797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EB57F48-E1AE-488C-D77E-72076C604B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414" y="3834716"/>
            <a:ext cx="2599117" cy="1727884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E009B42-FD2E-3A73-CD69-16FC34E3EE4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7891" y="4849345"/>
            <a:ext cx="2786434" cy="188979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/>
          <a:stretch>
            <a:fillRect/>
          </a:stretch>
        </p:blipFill>
        <p:spPr>
          <a:xfrm>
            <a:off x="3590925" y="3095625"/>
            <a:ext cx="3192172" cy="17049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371600">
              <a:lnSpc>
                <a:spcPct val="100000"/>
              </a:lnSpc>
              <a:spcBef>
                <a:spcPts val="350"/>
              </a:spcBef>
            </a:pPr>
            <a:r>
              <a:rPr spc="15"/>
              <a:t>Steering</a:t>
            </a: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400" u="none" spc="35"/>
              <a:t>R</a:t>
            </a:r>
            <a:r>
              <a:rPr sz="1400" u="none" spc="-20"/>
              <a:t>a</a:t>
            </a:r>
            <a:r>
              <a:rPr sz="1400" u="none" spc="5"/>
              <a:t>c</a:t>
            </a:r>
            <a:r>
              <a:rPr sz="1400" u="none" spc="10"/>
              <a:t>k</a:t>
            </a:r>
            <a:r>
              <a:rPr sz="1400" u="none" spc="-25"/>
              <a:t> </a:t>
            </a:r>
            <a:r>
              <a:rPr sz="1400" u="none" spc="-20"/>
              <a:t>a</a:t>
            </a:r>
            <a:r>
              <a:rPr sz="1400" u="none" spc="-10"/>
              <a:t>n</a:t>
            </a:r>
            <a:r>
              <a:rPr sz="1400" u="none" spc="10"/>
              <a:t>d</a:t>
            </a:r>
            <a:r>
              <a:rPr sz="1400" u="none" spc="-35"/>
              <a:t> </a:t>
            </a:r>
            <a:r>
              <a:rPr sz="1400" u="none" spc="-5"/>
              <a:t>P</a:t>
            </a:r>
            <a:r>
              <a:rPr sz="1400" u="none" spc="25"/>
              <a:t>i</a:t>
            </a:r>
            <a:r>
              <a:rPr sz="1400" u="none" spc="-10"/>
              <a:t>n</a:t>
            </a:r>
            <a:r>
              <a:rPr sz="1400" u="none" spc="25"/>
              <a:t>i</a:t>
            </a:r>
            <a:r>
              <a:rPr sz="1400" u="none" spc="-10"/>
              <a:t>o</a:t>
            </a:r>
            <a:r>
              <a:rPr sz="1400" u="none" spc="10"/>
              <a:t>n</a:t>
            </a:r>
            <a:r>
              <a:rPr sz="1400" u="none" spc="-95"/>
              <a:t> </a:t>
            </a:r>
            <a:r>
              <a:rPr sz="1400" u="none" spc="5"/>
              <a:t>-</a:t>
            </a:r>
            <a:r>
              <a:rPr sz="1400" u="none" spc="-5"/>
              <a:t> </a:t>
            </a:r>
            <a:r>
              <a:rPr sz="1400" u="none"/>
              <a:t>C</a:t>
            </a:r>
            <a:r>
              <a:rPr sz="1400" u="none" spc="45"/>
              <a:t>A</a:t>
            </a:r>
            <a:r>
              <a:rPr sz="1400" u="none" spc="15"/>
              <a:t>D</a:t>
            </a:r>
            <a:r>
              <a:rPr sz="1400" u="none" spc="-95"/>
              <a:t> </a:t>
            </a:r>
            <a:r>
              <a:rPr sz="1400" u="none" spc="-20"/>
              <a:t>m</a:t>
            </a:r>
            <a:r>
              <a:rPr sz="1400" u="none" spc="-10"/>
              <a:t>od</a:t>
            </a:r>
            <a:r>
              <a:rPr sz="1400" u="none" spc="35"/>
              <a:t>e</a:t>
            </a:r>
            <a:r>
              <a:rPr sz="1400" u="none" spc="5"/>
              <a:t>l</a:t>
            </a:r>
            <a:endParaRPr sz="1400"/>
          </a:p>
        </p:txBody>
      </p:sp>
      <p:sp>
        <p:nvSpPr>
          <p:cNvPr id="28" name="Content Placeholder 27"/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519971"/>
              </p:ext>
            </p:extLst>
          </p:nvPr>
        </p:nvGraphicFramePr>
        <p:xfrm>
          <a:off x="165100" y="403225"/>
          <a:ext cx="3334385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20">
                          <a:latin typeface="Calibri"/>
                          <a:cs typeface="Calibri"/>
                        </a:rPr>
                        <a:t>Type</a:t>
                      </a:r>
                      <a:r>
                        <a:rPr sz="1400" b="1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b="1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15">
                          <a:latin typeface="Calibri"/>
                          <a:cs typeface="Calibri"/>
                        </a:rPr>
                        <a:t>Drive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Centre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spc="-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ck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114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nd)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17.4mm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Lo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Lo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>
                          <a:latin typeface="Calibri"/>
                          <a:cs typeface="Calibri"/>
                        </a:rPr>
                        <a:t>k</a:t>
                      </a:r>
                    </a:p>
                  </a:txBody>
                  <a:tcPr marL="0" marR="0" marT="311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9</a:t>
                      </a:r>
                      <a:r>
                        <a:rPr sz="1400">
                          <a:latin typeface="Calibri"/>
                          <a:cs typeface="Calibri"/>
                        </a:rPr>
                        <a:t>4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v</a:t>
                      </a:r>
                    </a:p>
                  </a:txBody>
                  <a:tcPr marL="0" marR="0" marT="311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Ratio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3</a:t>
                      </a:r>
                      <a:r>
                        <a:rPr sz="1400">
                          <a:latin typeface="Calibri"/>
                          <a:cs typeface="Calibri"/>
                        </a:rPr>
                        <a:t>7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mm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/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v</a:t>
                      </a:r>
                    </a:p>
                  </a:txBody>
                  <a:tcPr marL="0" marR="0" marT="317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Length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Tie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rod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260.629mm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400" spc="85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>
                          <a:latin typeface="Calibri"/>
                          <a:cs typeface="Calibri"/>
                        </a:rPr>
                        <a:t>J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205.74mm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OBJ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centre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distance</a:t>
                      </a:r>
                    </a:p>
                  </a:txBody>
                  <a:tcPr marL="0" marR="0" marT="3302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56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82</a:t>
                      </a:r>
                      <a:r>
                        <a:rPr sz="140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Min.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turning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radius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30" dirty="0">
                          <a:latin typeface="Calibri"/>
                          <a:cs typeface="Calibri"/>
                        </a:rPr>
                        <a:t>1.</a:t>
                      </a:r>
                      <a:r>
                        <a:rPr lang="en-US" sz="1400" spc="30" dirty="0">
                          <a:latin typeface="Calibri"/>
                          <a:cs typeface="Calibri"/>
                        </a:rPr>
                        <a:t>4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m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6050" y="3165475"/>
          <a:ext cx="3341370" cy="1558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9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2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03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b="1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b="1" spc="25">
                          <a:latin typeface="Calibri"/>
                          <a:cs typeface="Calibri"/>
                        </a:rPr>
                        <a:t>tee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b="1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1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y</a:t>
                      </a:r>
                      <a:r>
                        <a:rPr sz="1400" b="1" spc="-2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Understeer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15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%</a:t>
                      </a:r>
                    </a:p>
                  </a:txBody>
                  <a:tcPr marL="0" marR="0" marT="736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99.98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03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angle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inside</a:t>
                      </a:r>
                    </a:p>
                  </a:txBody>
                  <a:tcPr marL="0" marR="0" marT="749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45˚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749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70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angle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outside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27.957˚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147300" y="527050"/>
          <a:ext cx="1972945" cy="989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4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8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664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400" b="1" spc="-20">
                          <a:latin typeface="Calibri"/>
                          <a:cs typeface="Calibri"/>
                        </a:rPr>
                        <a:t>Type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57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400" b="1" spc="5">
                          <a:latin typeface="Calibri"/>
                          <a:cs typeface="Calibri"/>
                        </a:rPr>
                        <a:t>Tilt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57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664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Assist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995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Powerless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137775" y="1870075"/>
          <a:ext cx="1974214" cy="8964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183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Diameter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400" b="1" spc="15">
                          <a:latin typeface="Calibri"/>
                          <a:cs typeface="Calibri"/>
                        </a:rPr>
                        <a:t>240mm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309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400" spc="-20">
                          <a:latin typeface="Calibri"/>
                          <a:cs typeface="Calibri"/>
                        </a:rPr>
                        <a:t>Torque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5.88Nm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3"/>
          <a:stretch>
            <a:fillRect/>
          </a:stretch>
        </p:blipFill>
        <p:spPr>
          <a:xfrm>
            <a:off x="3716655" y="563245"/>
            <a:ext cx="3200400" cy="22955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/>
          <a:stretch>
            <a:fillRect/>
          </a:stretch>
        </p:blipFill>
        <p:spPr>
          <a:xfrm>
            <a:off x="6886575" y="523875"/>
            <a:ext cx="3200400" cy="22955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/>
          <a:stretch>
            <a:fillRect/>
          </a:stretch>
        </p:blipFill>
        <p:spPr>
          <a:xfrm>
            <a:off x="6829425" y="3190875"/>
            <a:ext cx="2667000" cy="15430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/>
          <a:stretch>
            <a:fillRect/>
          </a:stretch>
        </p:blipFill>
        <p:spPr>
          <a:xfrm>
            <a:off x="9582150" y="3190875"/>
            <a:ext cx="2524125" cy="15430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/>
          <a:stretch>
            <a:fillRect/>
          </a:stretch>
        </p:blipFill>
        <p:spPr>
          <a:xfrm>
            <a:off x="7943850" y="5095873"/>
            <a:ext cx="4162425" cy="164782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/>
          <a:stretch>
            <a:fillRect/>
          </a:stretch>
        </p:blipFill>
        <p:spPr>
          <a:xfrm>
            <a:off x="3867150" y="5095873"/>
            <a:ext cx="3981450" cy="164782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/>
          <a:stretch>
            <a:fillRect/>
          </a:stretch>
        </p:blipFill>
        <p:spPr>
          <a:xfrm>
            <a:off x="135889" y="5095873"/>
            <a:ext cx="3636011" cy="164782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74382" y="147955"/>
            <a:ext cx="213995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40">
                <a:latin typeface="Calibri"/>
                <a:cs typeface="Calibri"/>
              </a:rPr>
              <a:t>tee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g</a:t>
            </a:r>
            <a:r>
              <a:rPr sz="1400" b="1" spc="-95">
                <a:latin typeface="Calibri"/>
                <a:cs typeface="Calibri"/>
              </a:rPr>
              <a:t> </a:t>
            </a:r>
            <a:r>
              <a:rPr sz="1400" b="1" spc="5">
                <a:latin typeface="Calibri"/>
                <a:cs typeface="Calibri"/>
              </a:rPr>
              <a:t>G</a:t>
            </a:r>
            <a:r>
              <a:rPr sz="1400" b="1" spc="40">
                <a:latin typeface="Calibri"/>
                <a:cs typeface="Calibri"/>
              </a:rPr>
              <a:t>e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5">
                <a:latin typeface="Calibri"/>
                <a:cs typeface="Calibri"/>
              </a:rPr>
              <a:t>:</a:t>
            </a:r>
            <a:r>
              <a:rPr sz="1400" b="1" spc="-110">
                <a:latin typeface="Calibri"/>
                <a:cs typeface="Calibri"/>
              </a:rPr>
              <a:t> </a:t>
            </a:r>
            <a:r>
              <a:rPr sz="1400" b="1" spc="30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10">
                <a:latin typeface="Calibri"/>
                <a:cs typeface="Calibri"/>
              </a:rPr>
              <a:t>ck</a:t>
            </a:r>
            <a:r>
              <a:rPr sz="1400" b="1" spc="-100">
                <a:latin typeface="Calibri"/>
                <a:cs typeface="Calibri"/>
              </a:rPr>
              <a:t> </a:t>
            </a:r>
            <a:r>
              <a:rPr sz="1400" b="1" spc="15">
                <a:latin typeface="Calibri"/>
                <a:cs typeface="Calibri"/>
              </a:rPr>
              <a:t>&amp;</a:t>
            </a:r>
            <a:r>
              <a:rPr sz="1400" b="1" spc="-125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P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 spc="10">
                <a:latin typeface="Calibri"/>
                <a:cs typeface="Calibri"/>
              </a:rPr>
              <a:t>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7400" y="2922841"/>
            <a:ext cx="205486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35">
                <a:latin typeface="Calibri"/>
                <a:cs typeface="Calibri"/>
              </a:rPr>
              <a:t>tee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g</a:t>
            </a:r>
            <a:r>
              <a:rPr sz="1400" b="1" spc="-95">
                <a:latin typeface="Calibri"/>
                <a:cs typeface="Calibri"/>
              </a:rPr>
              <a:t> </a:t>
            </a:r>
            <a:r>
              <a:rPr sz="1400" b="1" spc="10">
                <a:latin typeface="Calibri"/>
                <a:cs typeface="Calibri"/>
              </a:rPr>
              <a:t>Sy</a:t>
            </a:r>
            <a:r>
              <a:rPr sz="1400" b="1" spc="35">
                <a:latin typeface="Calibri"/>
                <a:cs typeface="Calibri"/>
              </a:rPr>
              <a:t>s</a:t>
            </a:r>
            <a:r>
              <a:rPr sz="1400" b="1" spc="-45">
                <a:latin typeface="Calibri"/>
                <a:cs typeface="Calibri"/>
              </a:rPr>
              <a:t>t</a:t>
            </a:r>
            <a:r>
              <a:rPr sz="1400" b="1" spc="-35">
                <a:latin typeface="Calibri"/>
                <a:cs typeface="Calibri"/>
              </a:rPr>
              <a:t>e</a:t>
            </a:r>
            <a:r>
              <a:rPr sz="1400" b="1" spc="-20">
                <a:latin typeface="Calibri"/>
                <a:cs typeface="Calibri"/>
              </a:rPr>
              <a:t>m</a:t>
            </a:r>
            <a:r>
              <a:rPr sz="1400" b="1" spc="5">
                <a:latin typeface="Calibri"/>
                <a:cs typeface="Calibri"/>
              </a:rPr>
              <a:t>:</a:t>
            </a:r>
            <a:r>
              <a:rPr sz="1400" b="1" spc="-110">
                <a:latin typeface="Calibri"/>
                <a:cs typeface="Calibri"/>
              </a:rPr>
              <a:t> </a:t>
            </a:r>
            <a:r>
              <a:rPr sz="1400" b="1" spc="45">
                <a:latin typeface="Calibri"/>
                <a:cs typeface="Calibri"/>
              </a:rPr>
              <a:t>A</a:t>
            </a:r>
            <a:r>
              <a:rPr sz="1400" b="1" spc="5">
                <a:latin typeface="Calibri"/>
                <a:cs typeface="Calibri"/>
              </a:rPr>
              <a:t>c</a:t>
            </a:r>
            <a:r>
              <a:rPr sz="1400" b="1" spc="-75">
                <a:latin typeface="Calibri"/>
                <a:cs typeface="Calibri"/>
              </a:rPr>
              <a:t>k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ma</a:t>
            </a:r>
            <a:r>
              <a:rPr sz="1400" b="1" spc="10">
                <a:latin typeface="Calibri"/>
                <a:cs typeface="Calibri"/>
              </a:rPr>
              <a:t>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22751" y="2932112"/>
            <a:ext cx="29425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35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5">
                <a:latin typeface="Calibri"/>
                <a:cs typeface="Calibri"/>
              </a:rPr>
              <a:t>c</a:t>
            </a:r>
            <a:r>
              <a:rPr sz="1400" b="1" spc="10">
                <a:latin typeface="Calibri"/>
                <a:cs typeface="Calibri"/>
              </a:rPr>
              <a:t>k</a:t>
            </a:r>
            <a:r>
              <a:rPr sz="1400" b="1" spc="-25">
                <a:latin typeface="Calibri"/>
                <a:cs typeface="Calibri"/>
              </a:rPr>
              <a:t> </a:t>
            </a:r>
            <a:r>
              <a:rPr sz="1400" b="1" spc="-100">
                <a:latin typeface="Calibri"/>
                <a:cs typeface="Calibri"/>
              </a:rPr>
              <a:t>T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5">
                <a:latin typeface="Calibri"/>
                <a:cs typeface="Calibri"/>
              </a:rPr>
              <a:t>v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5">
                <a:latin typeface="Calibri"/>
                <a:cs typeface="Calibri"/>
              </a:rPr>
              <a:t>l</a:t>
            </a:r>
            <a:r>
              <a:rPr sz="1400" b="1" spc="-70">
                <a:latin typeface="Calibri"/>
                <a:cs typeface="Calibri"/>
              </a:rPr>
              <a:t> </a:t>
            </a:r>
            <a:r>
              <a:rPr sz="1400" b="1" spc="-80">
                <a:latin typeface="Calibri"/>
                <a:cs typeface="Calibri"/>
              </a:rPr>
              <a:t>V</a:t>
            </a:r>
            <a:r>
              <a:rPr sz="1400" b="1" spc="-5">
                <a:latin typeface="Calibri"/>
                <a:cs typeface="Calibri"/>
              </a:rPr>
              <a:t>/</a:t>
            </a: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-95">
                <a:latin typeface="Calibri"/>
                <a:cs typeface="Calibri"/>
              </a:rPr>
              <a:t> </a:t>
            </a:r>
            <a:r>
              <a:rPr sz="1400" b="1" spc="-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nn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5">
                <a:latin typeface="Calibri"/>
                <a:cs typeface="Calibri"/>
              </a:rPr>
              <a:t>r</a:t>
            </a:r>
            <a:r>
              <a:rPr sz="1400" b="1" spc="-75">
                <a:latin typeface="Calibri"/>
                <a:cs typeface="Calibri"/>
              </a:rPr>
              <a:t> </a:t>
            </a:r>
            <a:r>
              <a:rPr sz="1400" b="1" spc="45">
                <a:latin typeface="Calibri"/>
                <a:cs typeface="Calibri"/>
              </a:rPr>
              <a:t>A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d</a:t>
            </a:r>
            <a:r>
              <a:rPr sz="1400" b="1" spc="-35">
                <a:latin typeface="Calibri"/>
                <a:cs typeface="Calibri"/>
              </a:rPr>
              <a:t> </a:t>
            </a:r>
            <a:r>
              <a:rPr sz="1400" b="1" spc="20">
                <a:latin typeface="Calibri"/>
                <a:cs typeface="Calibri"/>
              </a:rPr>
              <a:t>O</a:t>
            </a:r>
            <a:r>
              <a:rPr sz="1400" b="1" spc="-10">
                <a:latin typeface="Calibri"/>
                <a:cs typeface="Calibri"/>
              </a:rPr>
              <a:t>u</a:t>
            </a:r>
            <a:r>
              <a:rPr sz="1400" b="1" spc="35">
                <a:latin typeface="Calibri"/>
                <a:cs typeface="Calibri"/>
              </a:rPr>
              <a:t>te</a:t>
            </a:r>
            <a:r>
              <a:rPr sz="1400" b="1" spc="5">
                <a:latin typeface="Calibri"/>
                <a:cs typeface="Calibri"/>
              </a:rPr>
              <a:t>r</a:t>
            </a:r>
            <a:r>
              <a:rPr sz="1400" b="1" spc="-75">
                <a:latin typeface="Calibri"/>
                <a:cs typeface="Calibri"/>
              </a:rPr>
              <a:t> </a:t>
            </a:r>
            <a:r>
              <a:rPr sz="1400" b="1" spc="45">
                <a:latin typeface="Calibri"/>
                <a:cs typeface="Calibri"/>
              </a:rPr>
              <a:t>A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5">
                <a:latin typeface="Calibri"/>
                <a:cs typeface="Calibri"/>
              </a:rPr>
              <a:t>g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10">
                <a:latin typeface="Calibri"/>
                <a:cs typeface="Calibri"/>
              </a:rPr>
              <a:t>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12799" y="4817173"/>
            <a:ext cx="13296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L</a:t>
            </a:r>
            <a:r>
              <a:rPr sz="1400" b="1" spc="-25">
                <a:latin typeface="Calibri"/>
                <a:cs typeface="Calibri"/>
              </a:rPr>
              <a:t>a</a:t>
            </a:r>
            <a:r>
              <a:rPr sz="1400" b="1" spc="10">
                <a:latin typeface="Calibri"/>
                <a:cs typeface="Calibri"/>
              </a:rPr>
              <a:t>y</a:t>
            </a:r>
            <a:r>
              <a:rPr sz="1400" b="1" spc="-10">
                <a:latin typeface="Calibri"/>
                <a:cs typeface="Calibri"/>
              </a:rPr>
              <a:t>ou</a:t>
            </a:r>
            <a:r>
              <a:rPr sz="1400" b="1" spc="5">
                <a:latin typeface="Calibri"/>
                <a:cs typeface="Calibri"/>
              </a:rPr>
              <a:t>t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10">
                <a:latin typeface="Calibri"/>
                <a:cs typeface="Calibri"/>
              </a:rPr>
              <a:t>n</a:t>
            </a:r>
            <a:r>
              <a:rPr sz="1400" b="1" spc="-35">
                <a:latin typeface="Calibri"/>
                <a:cs typeface="Calibri"/>
              </a:rPr>
              <a:t> </a:t>
            </a:r>
            <a:r>
              <a:rPr sz="1400" b="1" spc="45">
                <a:latin typeface="Calibri"/>
                <a:cs typeface="Calibri"/>
              </a:rPr>
              <a:t>A</a:t>
            </a:r>
            <a:r>
              <a:rPr sz="1400" b="1" spc="10">
                <a:latin typeface="Calibri"/>
                <a:cs typeface="Calibri"/>
              </a:rPr>
              <a:t>D</a:t>
            </a:r>
            <a:r>
              <a:rPr sz="1400" b="1" spc="45">
                <a:latin typeface="Calibri"/>
                <a:cs typeface="Calibri"/>
              </a:rPr>
              <a:t>AM</a:t>
            </a:r>
            <a:r>
              <a:rPr sz="1400" b="1" spc="10">
                <a:latin typeface="Calibri"/>
                <a:cs typeface="Calibri"/>
              </a:rPr>
              <a:t>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60570" y="4820602"/>
            <a:ext cx="252476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5">
                <a:latin typeface="Calibri"/>
                <a:cs typeface="Calibri"/>
              </a:rPr>
              <a:t>Lotus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Ackerman</a:t>
            </a:r>
            <a:r>
              <a:rPr sz="1400" b="1" spc="-110">
                <a:latin typeface="Calibri"/>
                <a:cs typeface="Calibri"/>
              </a:rPr>
              <a:t> </a:t>
            </a:r>
            <a:r>
              <a:rPr sz="1400" b="1" spc="10">
                <a:latin typeface="Calibri"/>
                <a:cs typeface="Calibri"/>
              </a:rPr>
              <a:t>Percentage</a:t>
            </a:r>
            <a:r>
              <a:rPr sz="1400" b="1" spc="-135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Chart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465944" y="4829175"/>
            <a:ext cx="112712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L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 spc="30">
                <a:latin typeface="Calibri"/>
                <a:cs typeface="Calibri"/>
              </a:rPr>
              <a:t>t</a:t>
            </a:r>
            <a:r>
              <a:rPr sz="1400" b="1" spc="-10">
                <a:latin typeface="Calibri"/>
                <a:cs typeface="Calibri"/>
              </a:rPr>
              <a:t>u</a:t>
            </a: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 spc="50">
                <a:latin typeface="Calibri"/>
                <a:cs typeface="Calibri"/>
              </a:rPr>
              <a:t>A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10">
                <a:latin typeface="Calibri"/>
                <a:cs typeface="Calibri"/>
              </a:rPr>
              <a:t>y</a:t>
            </a:r>
            <a:r>
              <a:rPr sz="1400" b="1" spc="40">
                <a:latin typeface="Calibri"/>
                <a:cs typeface="Calibri"/>
              </a:rPr>
              <a:t>ze</a:t>
            </a:r>
            <a:r>
              <a:rPr sz="1400" b="1" spc="5">
                <a:latin typeface="Calibri"/>
                <a:cs typeface="Calibri"/>
              </a:rPr>
              <a:t>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009251" y="2910522"/>
            <a:ext cx="175387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35">
                <a:latin typeface="Calibri"/>
                <a:cs typeface="Calibri"/>
              </a:rPr>
              <a:t>tee</a:t>
            </a:r>
            <a:r>
              <a:rPr sz="1400" b="1" spc="5">
                <a:latin typeface="Calibri"/>
                <a:cs typeface="Calibri"/>
              </a:rPr>
              <a:t>r</a:t>
            </a:r>
            <a:r>
              <a:rPr sz="1400" b="1" spc="-75">
                <a:latin typeface="Calibri"/>
                <a:cs typeface="Calibri"/>
              </a:rPr>
              <a:t> </a:t>
            </a:r>
            <a:r>
              <a:rPr sz="1400" b="1" spc="-80">
                <a:latin typeface="Calibri"/>
                <a:cs typeface="Calibri"/>
              </a:rPr>
              <a:t>V</a:t>
            </a:r>
            <a:r>
              <a:rPr sz="1400" b="1" spc="-5">
                <a:latin typeface="Calibri"/>
                <a:cs typeface="Calibri"/>
              </a:rPr>
              <a:t>/</a:t>
            </a: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C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-15">
                <a:latin typeface="Calibri"/>
                <a:cs typeface="Calibri"/>
              </a:rPr>
              <a:t>m</a:t>
            </a:r>
            <a:r>
              <a:rPr sz="1400" b="1" spc="-10">
                <a:latin typeface="Calibri"/>
                <a:cs typeface="Calibri"/>
              </a:rPr>
              <a:t>b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5">
                <a:latin typeface="Calibri"/>
                <a:cs typeface="Calibri"/>
              </a:rPr>
              <a:t>r</a:t>
            </a:r>
            <a:r>
              <a:rPr sz="1400" b="1" spc="-75">
                <a:latin typeface="Calibri"/>
                <a:cs typeface="Calibri"/>
              </a:rPr>
              <a:t> 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5">
                <a:latin typeface="Calibri"/>
                <a:cs typeface="Calibri"/>
              </a:rPr>
              <a:t>g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10"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42454" y="2960687"/>
            <a:ext cx="14300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35">
                <a:latin typeface="Calibri"/>
                <a:cs typeface="Calibri"/>
              </a:rPr>
              <a:t>tee</a:t>
            </a:r>
            <a:r>
              <a:rPr sz="1400" b="1" spc="5">
                <a:latin typeface="Calibri"/>
                <a:cs typeface="Calibri"/>
              </a:rPr>
              <a:t>r</a:t>
            </a:r>
            <a:r>
              <a:rPr sz="1400" b="1" spc="-75">
                <a:latin typeface="Calibri"/>
                <a:cs typeface="Calibri"/>
              </a:rPr>
              <a:t> </a:t>
            </a:r>
            <a:r>
              <a:rPr sz="1400" b="1" spc="-80">
                <a:latin typeface="Calibri"/>
                <a:cs typeface="Calibri"/>
              </a:rPr>
              <a:t>V</a:t>
            </a:r>
            <a:r>
              <a:rPr sz="1400" b="1" spc="-5">
                <a:latin typeface="Calibri"/>
                <a:cs typeface="Calibri"/>
              </a:rPr>
              <a:t>/</a:t>
            </a: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 spc="-175">
                <a:latin typeface="Calibri"/>
                <a:cs typeface="Calibri"/>
              </a:rPr>
              <a:t>T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 spc="10">
                <a:latin typeface="Calibri"/>
                <a:cs typeface="Calibri"/>
              </a:rPr>
              <a:t>e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5">
                <a:latin typeface="Calibri"/>
                <a:cs typeface="Calibri"/>
              </a:rPr>
              <a:t>g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10"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22966" y="226631"/>
            <a:ext cx="126492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35">
                <a:latin typeface="Calibri"/>
                <a:cs typeface="Calibri"/>
              </a:rPr>
              <a:t>tee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g</a:t>
            </a:r>
            <a:r>
              <a:rPr sz="1400" b="1" spc="-95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C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-10">
                <a:latin typeface="Calibri"/>
                <a:cs typeface="Calibri"/>
              </a:rPr>
              <a:t>u</a:t>
            </a:r>
            <a:r>
              <a:rPr sz="1400" b="1" spc="-15">
                <a:latin typeface="Calibri"/>
                <a:cs typeface="Calibri"/>
              </a:rPr>
              <a:t>m</a:t>
            </a:r>
            <a:r>
              <a:rPr sz="1400" b="1" spc="10">
                <a:latin typeface="Calibri"/>
                <a:cs typeface="Calibri"/>
              </a:rPr>
              <a:t>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534650" y="1571561"/>
            <a:ext cx="113284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">
                <a:latin typeface="Calibri"/>
                <a:cs typeface="Calibri"/>
              </a:rPr>
              <a:t>Steering</a:t>
            </a:r>
            <a:r>
              <a:rPr sz="1400" spc="-6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Wheel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918068" y="235203"/>
            <a:ext cx="102235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40">
                <a:latin typeface="Calibri"/>
                <a:cs typeface="Calibri"/>
              </a:rPr>
              <a:t>tee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5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g</a:t>
            </a:r>
            <a:r>
              <a:rPr sz="1400" b="1" spc="-95">
                <a:latin typeface="Calibri"/>
                <a:cs typeface="Calibri"/>
              </a:rPr>
              <a:t> </a:t>
            </a:r>
            <a:r>
              <a:rPr sz="1400" b="1" spc="50">
                <a:latin typeface="Calibri"/>
                <a:cs typeface="Calibri"/>
              </a:rPr>
              <a:t>A</a:t>
            </a:r>
            <a:r>
              <a:rPr sz="1400" b="1" spc="20">
                <a:latin typeface="Calibri"/>
                <a:cs typeface="Calibri"/>
              </a:rPr>
              <a:t>rm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5889" y="27622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7E7E7E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889" y="5124451"/>
            <a:ext cx="3636011" cy="1585594"/>
          </a:xfrm>
          <a:prstGeom prst="rect">
            <a:avLst/>
          </a:prstGeom>
        </p:spPr>
      </p:pic>
      <p:pic>
        <p:nvPicPr>
          <p:cNvPr id="27" name="Content Placeholder 26"/>
          <p:cNvPicPr>
            <a:picLocks noGrp="1" noChangeAspect="1"/>
          </p:cNvPicPr>
          <p:nvPr>
            <p:ph sz="half" idx="2"/>
          </p:nvPr>
        </p:nvPicPr>
        <p:blipFill>
          <a:blip r:embed="rId11"/>
          <a:stretch>
            <a:fillRect/>
          </a:stretch>
        </p:blipFill>
        <p:spPr>
          <a:xfrm>
            <a:off x="6917055" y="546735"/>
            <a:ext cx="3135630" cy="229489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17184" y="26352"/>
            <a:ext cx="128714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0"/>
              <a:t>P</a:t>
            </a:r>
            <a:r>
              <a:rPr spc="40"/>
              <a:t>o</a:t>
            </a:r>
            <a:r>
              <a:rPr spc="5"/>
              <a:t>w</a:t>
            </a:r>
            <a:r>
              <a:rPr spc="35"/>
              <a:t>e</a:t>
            </a:r>
            <a:r>
              <a:rPr spc="5"/>
              <a:t>r</a:t>
            </a:r>
            <a:r>
              <a:rPr spc="-125"/>
              <a:t> </a:t>
            </a:r>
            <a:r>
              <a:rPr spc="-95"/>
              <a:t>T</a:t>
            </a:r>
            <a:r>
              <a:rPr spc="-45"/>
              <a:t>r</a:t>
            </a:r>
            <a:r>
              <a:rPr spc="-20"/>
              <a:t>a</a:t>
            </a:r>
            <a:r>
              <a:rPr spc="30"/>
              <a:t>i</a:t>
            </a:r>
            <a:r>
              <a:rPr spc="10"/>
              <a:t>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532286"/>
              </p:ext>
            </p:extLst>
          </p:nvPr>
        </p:nvGraphicFramePr>
        <p:xfrm>
          <a:off x="156933" y="676275"/>
          <a:ext cx="3326129" cy="16399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913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lang="en-US"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isplacement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305cc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0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x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k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>
                          <a:latin typeface="Calibri"/>
                          <a:cs typeface="Calibri"/>
                        </a:rPr>
                        <a:t>)</a:t>
                      </a:r>
                    </a:p>
                  </a:txBody>
                  <a:tcPr marL="0" marR="0" marT="622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28575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3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12</a:t>
                      </a:r>
                      <a:r>
                        <a:rPr sz="1400">
                          <a:latin typeface="Calibri"/>
                          <a:cs typeface="Calibri"/>
                        </a:rPr>
                        <a:t>”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x</a:t>
                      </a:r>
                      <a:r>
                        <a:rPr sz="1400" spc="-1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2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44</a:t>
                      </a:r>
                      <a:r>
                        <a:rPr sz="1400">
                          <a:latin typeface="Calibri"/>
                          <a:cs typeface="Calibri"/>
                        </a:rPr>
                        <a:t>”</a:t>
                      </a:r>
                    </a:p>
                  </a:txBody>
                  <a:tcPr marL="0" marR="0" marT="622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28575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041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en-US" sz="1400" spc="-1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ti</a:t>
                      </a:r>
                      <a:r>
                        <a:rPr sz="1400">
                          <a:latin typeface="Calibri"/>
                          <a:cs typeface="Calibri"/>
                        </a:rPr>
                        <a:t>o</a:t>
                      </a:r>
                    </a:p>
                  </a:txBody>
                  <a:tcPr marL="0" marR="0" marT="628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8.1:1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913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Max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power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9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@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3600r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</a:p>
                  </a:txBody>
                  <a:tcPr marL="0" marR="0" marT="628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0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en-US" sz="1400" spc="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ax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torque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18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96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-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1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@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26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403248"/>
              </p:ext>
            </p:extLst>
          </p:nvPr>
        </p:nvGraphicFramePr>
        <p:xfrm>
          <a:off x="158521" y="2646489"/>
          <a:ext cx="2308860" cy="14511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7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712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C</a:t>
                      </a:r>
                      <a:r>
                        <a:rPr lang="en-US" sz="1400" spc="5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distance</a:t>
                      </a:r>
                    </a:p>
                  </a:txBody>
                  <a:tcPr marL="0" marR="0" marT="45085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21</a:t>
                      </a:r>
                      <a:r>
                        <a:rPr lang="en-US" sz="1400" spc="25">
                          <a:latin typeface="Calibri"/>
                          <a:cs typeface="Calibri"/>
                        </a:rPr>
                        <a:t>6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838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Min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ratio</a:t>
                      </a:r>
                    </a:p>
                  </a:txBody>
                  <a:tcPr marL="0" marR="0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3:1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712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Max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ratio</a:t>
                      </a:r>
                    </a:p>
                  </a:txBody>
                  <a:tcPr marL="0" marR="0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0.43:1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839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Pitch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length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860mm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78415" y="677862"/>
          <a:ext cx="2193290" cy="12344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6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max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acc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3845" algn="r">
                        <a:lnSpc>
                          <a:spcPts val="635"/>
                        </a:lnSpc>
                      </a:pPr>
                      <a:r>
                        <a:rPr sz="900">
                          <a:latin typeface="Calibri"/>
                          <a:cs typeface="Calibri"/>
                        </a:rPr>
                        <a:t>2</a:t>
                      </a:r>
                    </a:p>
                    <a:p>
                      <a:pPr marL="99060">
                        <a:lnSpc>
                          <a:spcPts val="1380"/>
                        </a:lnSpc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6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6</a:t>
                      </a:r>
                      <a:r>
                        <a:rPr sz="140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/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</a:p>
                  </a:txBody>
                  <a:tcPr marL="0" marR="0" marT="0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gradeability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65.00%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09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top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speed</a:t>
                      </a:r>
                    </a:p>
                  </a:txBody>
                  <a:tcPr marL="0" marR="0" marT="43180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15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>
                          <a:latin typeface="Calibri"/>
                          <a:cs typeface="Calibri"/>
                        </a:rPr>
                        <a:t>9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/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</a:p>
                  </a:txBody>
                  <a:tcPr marL="0" marR="0" marT="43180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max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torque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524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2</a:t>
                      </a:r>
                      <a:r>
                        <a:rPr sz="140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-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</a:p>
                  </a:txBody>
                  <a:tcPr marL="0" marR="0" marT="43815" marB="0">
                    <a:lnL w="9525">
                      <a:solidFill>
                        <a:srgbClr val="EC7C30"/>
                      </a:solidFill>
                      <a:prstDash val="solid"/>
                    </a:lnL>
                    <a:lnR w="9525">
                      <a:solidFill>
                        <a:srgbClr val="EC7C30"/>
                      </a:solidFill>
                      <a:prstDash val="solid"/>
                    </a:lnR>
                    <a:lnT w="9525">
                      <a:solidFill>
                        <a:srgbClr val="EC7C30"/>
                      </a:solidFill>
                      <a:prstDash val="solid"/>
                    </a:lnT>
                    <a:lnB w="9525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962260"/>
              </p:ext>
            </p:extLst>
          </p:nvPr>
        </p:nvGraphicFramePr>
        <p:xfrm>
          <a:off x="2618232" y="2644139"/>
          <a:ext cx="2082800" cy="14865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3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9592">
                <a:tc>
                  <a:txBody>
                    <a:bodyPr/>
                    <a:lstStyle/>
                    <a:p>
                      <a:pPr marR="7620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lang="en-US" sz="1400" spc="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ear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306705">
                        <a:lnSpc>
                          <a:spcPct val="100600"/>
                        </a:lnSpc>
                        <a:spcBef>
                          <a:spcPts val="345"/>
                        </a:spcBef>
                      </a:pPr>
                      <a:r>
                        <a:rPr sz="1400" spc="-10">
                          <a:latin typeface="Calibri"/>
                          <a:cs typeface="Calibri"/>
                        </a:rPr>
                        <a:t>Two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stage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reduction </a:t>
                      </a:r>
                      <a:r>
                        <a:rPr sz="140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ti</a:t>
                      </a:r>
                      <a:r>
                        <a:rPr sz="140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12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:</a:t>
                      </a:r>
                      <a:r>
                        <a:rPr sz="140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777"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lang="en-US"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ront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28575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664"/>
                        </a:lnSpc>
                        <a:spcBef>
                          <a:spcPts val="365"/>
                        </a:spcBef>
                      </a:pPr>
                      <a:r>
                        <a:rPr lang="en-US" sz="1400" spc="10">
                          <a:latin typeface="Calibri"/>
                          <a:cs typeface="Calibri"/>
                        </a:rPr>
                        <a:t>Open differential with gear ratio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12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76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:</a:t>
                      </a:r>
                      <a:r>
                        <a:rPr sz="140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28575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848477" y="678433"/>
          <a:ext cx="6239506" cy="21285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6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9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9401">
                <a:tc>
                  <a:txBody>
                    <a:bodyPr/>
                    <a:lstStyle/>
                    <a:p>
                      <a:pPr marL="99695" marR="81280">
                        <a:lnSpc>
                          <a:spcPts val="1650"/>
                        </a:lnSpc>
                        <a:spcBef>
                          <a:spcPts val="464"/>
                        </a:spcBef>
                      </a:pPr>
                      <a:r>
                        <a:rPr sz="1400" spc="-2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ng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ee</a:t>
                      </a:r>
                      <a:r>
                        <a:rPr sz="1400">
                          <a:latin typeface="Calibri"/>
                          <a:cs typeface="Calibri"/>
                        </a:rPr>
                        <a:t>d 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(rpm)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9054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100330" marR="39370">
                        <a:lnSpc>
                          <a:spcPct val="102899"/>
                        </a:lnSpc>
                        <a:spcBef>
                          <a:spcPts val="26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Enine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torque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(N-m)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109220">
                        <a:lnSpc>
                          <a:spcPts val="1650"/>
                        </a:lnSpc>
                        <a:spcBef>
                          <a:spcPts val="464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r  ratio</a:t>
                      </a:r>
                    </a:p>
                  </a:txBody>
                  <a:tcPr marL="0" marR="0" marT="5905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102235" marR="82550">
                        <a:lnSpc>
                          <a:spcPts val="1650"/>
                        </a:lnSpc>
                        <a:spcBef>
                          <a:spcPts val="464"/>
                        </a:spcBef>
                      </a:pPr>
                      <a:r>
                        <a:rPr sz="1400" spc="-15">
                          <a:latin typeface="Calibri"/>
                          <a:cs typeface="Calibri"/>
                        </a:rPr>
                        <a:t>Velocit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y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(m/s)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905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102870" marR="120650">
                        <a:lnSpc>
                          <a:spcPts val="1650"/>
                        </a:lnSpc>
                        <a:spcBef>
                          <a:spcPts val="464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on 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(m/s2)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905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100330">
                        <a:lnSpc>
                          <a:spcPts val="1650"/>
                        </a:lnSpc>
                        <a:spcBef>
                          <a:spcPts val="464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Wheel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torque </a:t>
                      </a:r>
                      <a:r>
                        <a:rPr sz="1400" spc="-3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(N-m)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9054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768"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1900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18.3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36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1.20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6.35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17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505.96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40">
                          <a:latin typeface="Calibri"/>
                          <a:cs typeface="Calibri"/>
                        </a:rPr>
                        <a:t>2600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18.96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40">
                          <a:latin typeface="Calibri"/>
                          <a:cs typeface="Calibri"/>
                        </a:rPr>
                        <a:t>36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1.65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6.61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524.21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118"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40">
                          <a:latin typeface="Calibri"/>
                          <a:cs typeface="Calibri"/>
                        </a:rPr>
                        <a:t>3000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18.86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40">
                          <a:latin typeface="Calibri"/>
                          <a:cs typeface="Calibri"/>
                        </a:rPr>
                        <a:t>24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2.85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4.10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175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347.60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119"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3200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18.59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24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3.04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4.02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0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342.59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118"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35">
                          <a:latin typeface="Calibri"/>
                          <a:cs typeface="Calibri"/>
                        </a:rPr>
                        <a:t>3600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17.66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5.16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15.90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0.13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111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25">
                          <a:latin typeface="Calibri"/>
                          <a:cs typeface="Calibri"/>
                        </a:rPr>
                        <a:t>70.00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567810" y="2007361"/>
          <a:ext cx="2179955" cy="308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4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b="1" spc="-11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y</a:t>
                      </a:r>
                      <a:r>
                        <a:rPr sz="1400" b="1" spc="1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b="1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2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b="1" spc="2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b="1" spc="30">
                          <a:latin typeface="Calibri"/>
                          <a:cs typeface="Calibri"/>
                        </a:rPr>
                        <a:t>z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23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x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7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x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1</a:t>
                      </a: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(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61389" y="431546"/>
            <a:ext cx="1758314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">
                <a:latin typeface="Calibri"/>
                <a:cs typeface="Calibri"/>
              </a:rPr>
              <a:t>Engine</a:t>
            </a:r>
            <a:r>
              <a:rPr sz="1550" b="1" spc="120">
                <a:latin typeface="Calibri"/>
                <a:cs typeface="Calibri"/>
              </a:rPr>
              <a:t> </a:t>
            </a:r>
            <a:r>
              <a:rPr sz="1550" b="1">
                <a:latin typeface="Calibri"/>
                <a:cs typeface="Calibri"/>
              </a:rPr>
              <a:t>specifications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9277" y="2380996"/>
            <a:ext cx="149542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20">
                <a:latin typeface="Calibri"/>
                <a:cs typeface="Calibri"/>
              </a:rPr>
              <a:t>Transmission</a:t>
            </a:r>
            <a:r>
              <a:rPr sz="1550" b="1" spc="315">
                <a:latin typeface="Calibri"/>
                <a:cs typeface="Calibri"/>
              </a:rPr>
              <a:t> </a:t>
            </a:r>
            <a:r>
              <a:rPr sz="1550" b="1" spc="-5">
                <a:latin typeface="Calibri"/>
                <a:cs typeface="Calibri"/>
              </a:rPr>
              <a:t>unit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79901" y="434911"/>
            <a:ext cx="17443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>
                <a:latin typeface="Calibri"/>
                <a:cs typeface="Calibri"/>
              </a:rPr>
              <a:t>Vehicle</a:t>
            </a:r>
            <a:r>
              <a:rPr sz="1550" b="1" spc="70">
                <a:latin typeface="Calibri"/>
                <a:cs typeface="Calibri"/>
              </a:rPr>
              <a:t> </a:t>
            </a:r>
            <a:r>
              <a:rPr sz="1550" b="1">
                <a:latin typeface="Calibri"/>
                <a:cs typeface="Calibri"/>
              </a:rPr>
              <a:t>performance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22804" y="2371407"/>
            <a:ext cx="19577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5">
                <a:latin typeface="Calibri"/>
                <a:cs typeface="Calibri"/>
              </a:rPr>
              <a:t>Gear</a:t>
            </a:r>
            <a:r>
              <a:rPr sz="1550" b="1" spc="40">
                <a:latin typeface="Calibri"/>
                <a:cs typeface="Calibri"/>
              </a:rPr>
              <a:t> </a:t>
            </a:r>
            <a:r>
              <a:rPr sz="1550" b="1">
                <a:latin typeface="Calibri"/>
                <a:cs typeface="Calibri"/>
              </a:rPr>
              <a:t>box</a:t>
            </a:r>
            <a:r>
              <a:rPr sz="1550" b="1" spc="105">
                <a:latin typeface="Calibri"/>
                <a:cs typeface="Calibri"/>
              </a:rPr>
              <a:t> </a:t>
            </a:r>
            <a:r>
              <a:rPr sz="1550" b="1">
                <a:latin typeface="Calibri"/>
                <a:cs typeface="Calibri"/>
              </a:rPr>
              <a:t>specifications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914900" y="2819400"/>
            <a:ext cx="7172325" cy="3990975"/>
            <a:chOff x="4914900" y="2790825"/>
            <a:chExt cx="7172325" cy="3990975"/>
          </a:xfrm>
        </p:grpSpPr>
        <p:pic>
          <p:nvPicPr>
            <p:cNvPr id="14" name="object 1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914900" y="2790825"/>
              <a:ext cx="3590925" cy="1828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448675" y="2790825"/>
              <a:ext cx="3638550" cy="18288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9677400" y="4619623"/>
              <a:ext cx="2076450" cy="216217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150739" y="4798123"/>
            <a:ext cx="4265930" cy="158113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5">
                <a:latin typeface="Calibri"/>
                <a:cs typeface="Calibri"/>
              </a:rPr>
              <a:t>NVH</a:t>
            </a:r>
            <a:r>
              <a:rPr sz="1550" b="1" spc="40">
                <a:latin typeface="Calibri"/>
                <a:cs typeface="Calibri"/>
              </a:rPr>
              <a:t> </a:t>
            </a:r>
            <a:r>
              <a:rPr sz="1550" b="1" spc="-5">
                <a:latin typeface="Calibri"/>
                <a:cs typeface="Calibri"/>
              </a:rPr>
              <a:t>Considerations</a:t>
            </a:r>
            <a:endParaRPr sz="1550">
              <a:latin typeface="Calibri"/>
              <a:cs typeface="Calibri"/>
            </a:endParaRPr>
          </a:p>
          <a:p>
            <a:pPr marL="103505" indent="-91440">
              <a:lnSpc>
                <a:spcPts val="1664"/>
              </a:lnSpc>
              <a:spcBef>
                <a:spcPts val="20"/>
              </a:spcBef>
              <a:buSzPct val="92857"/>
              <a:buChar char="•"/>
              <a:tabLst>
                <a:tab pos="104139" algn="l"/>
              </a:tabLst>
            </a:pPr>
            <a:r>
              <a:rPr sz="1400" spc="-10">
                <a:latin typeface="Calibri"/>
                <a:cs typeface="Calibri"/>
              </a:rPr>
              <a:t>Triangulation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paths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 spc="15">
                <a:latin typeface="Calibri"/>
                <a:cs typeface="Calibri"/>
              </a:rPr>
              <a:t>are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made</a:t>
            </a:r>
            <a:r>
              <a:rPr sz="1400" spc="-5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in</a:t>
            </a:r>
            <a:r>
              <a:rPr sz="1400" spc="5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the</a:t>
            </a:r>
            <a:r>
              <a:rPr sz="1400" spc="-50">
                <a:latin typeface="Calibri"/>
                <a:cs typeface="Calibri"/>
              </a:rPr>
              <a:t> </a:t>
            </a:r>
            <a:r>
              <a:rPr sz="1400" spc="10">
                <a:latin typeface="Calibri"/>
                <a:cs typeface="Calibri"/>
              </a:rPr>
              <a:t>frame</a:t>
            </a:r>
            <a:r>
              <a:rPr sz="1400" spc="-13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to</a:t>
            </a:r>
            <a:r>
              <a:rPr sz="1400" spc="50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reduce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64"/>
              </a:lnSpc>
            </a:pPr>
            <a:r>
              <a:rPr sz="1400">
                <a:latin typeface="Calibri"/>
                <a:cs typeface="Calibri"/>
              </a:rPr>
              <a:t>the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vibrations</a:t>
            </a:r>
            <a:r>
              <a:rPr sz="1400" spc="-50">
                <a:latin typeface="Calibri"/>
                <a:cs typeface="Calibri"/>
              </a:rPr>
              <a:t> </a:t>
            </a:r>
            <a:r>
              <a:rPr sz="1400" spc="15">
                <a:latin typeface="Calibri"/>
                <a:cs typeface="Calibri"/>
              </a:rPr>
              <a:t>&amp;</a:t>
            </a:r>
            <a:r>
              <a:rPr sz="1400" spc="-85">
                <a:latin typeface="Calibri"/>
                <a:cs typeface="Calibri"/>
              </a:rPr>
              <a:t> </a:t>
            </a:r>
            <a:r>
              <a:rPr sz="1400" spc="15">
                <a:latin typeface="Calibri"/>
                <a:cs typeface="Calibri"/>
              </a:rPr>
              <a:t>have</a:t>
            </a:r>
            <a:r>
              <a:rPr sz="1400" spc="-125">
                <a:latin typeface="Calibri"/>
                <a:cs typeface="Calibri"/>
              </a:rPr>
              <a:t> </a:t>
            </a:r>
            <a:r>
              <a:rPr sz="1400" spc="10">
                <a:latin typeface="Calibri"/>
                <a:cs typeface="Calibri"/>
              </a:rPr>
              <a:t>a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 spc="-15">
                <a:latin typeface="Calibri"/>
                <a:cs typeface="Calibri"/>
              </a:rPr>
              <a:t>better</a:t>
            </a:r>
            <a:r>
              <a:rPr sz="1400" spc="8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travel</a:t>
            </a:r>
            <a:r>
              <a:rPr sz="1400" spc="-1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path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15">
                <a:latin typeface="Calibri"/>
                <a:cs typeface="Calibri"/>
              </a:rPr>
              <a:t>across</a:t>
            </a:r>
            <a:r>
              <a:rPr sz="1400" spc="-50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roll</a:t>
            </a:r>
            <a:r>
              <a:rPr sz="1400" spc="-120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cage</a:t>
            </a:r>
            <a:endParaRPr sz="1400">
              <a:latin typeface="Calibri"/>
              <a:cs typeface="Calibri"/>
            </a:endParaRPr>
          </a:p>
          <a:p>
            <a:pPr marL="12700" marR="217804">
              <a:lnSpc>
                <a:spcPts val="1650"/>
              </a:lnSpc>
              <a:spcBef>
                <a:spcPts val="125"/>
              </a:spcBef>
              <a:buSzPct val="92857"/>
              <a:buChar char="•"/>
              <a:tabLst>
                <a:tab pos="103505" algn="l"/>
              </a:tabLst>
            </a:pPr>
            <a:r>
              <a:rPr sz="1400" spc="25">
                <a:latin typeface="Calibri"/>
                <a:cs typeface="Calibri"/>
              </a:rPr>
              <a:t>S</a:t>
            </a:r>
            <a:r>
              <a:rPr sz="1400" spc="5">
                <a:latin typeface="Calibri"/>
                <a:cs typeface="Calibri"/>
              </a:rPr>
              <a:t>u</a:t>
            </a:r>
            <a:r>
              <a:rPr sz="1400" spc="45">
                <a:latin typeface="Calibri"/>
                <a:cs typeface="Calibri"/>
              </a:rPr>
              <a:t>s</a:t>
            </a:r>
            <a:r>
              <a:rPr sz="1400" spc="5">
                <a:latin typeface="Calibri"/>
                <a:cs typeface="Calibri"/>
              </a:rPr>
              <a:t>p</a:t>
            </a:r>
            <a:r>
              <a:rPr sz="1400" spc="-25">
                <a:latin typeface="Calibri"/>
                <a:cs typeface="Calibri"/>
              </a:rPr>
              <a:t>e</a:t>
            </a:r>
            <a:r>
              <a:rPr sz="1400" spc="5">
                <a:latin typeface="Calibri"/>
                <a:cs typeface="Calibri"/>
              </a:rPr>
              <a:t>n</a:t>
            </a:r>
            <a:r>
              <a:rPr sz="1400" spc="45">
                <a:latin typeface="Calibri"/>
                <a:cs typeface="Calibri"/>
              </a:rPr>
              <a:t>s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 spc="5">
                <a:latin typeface="Calibri"/>
                <a:cs typeface="Calibri"/>
              </a:rPr>
              <a:t>o</a:t>
            </a:r>
            <a:r>
              <a:rPr sz="1400" spc="10">
                <a:latin typeface="Calibri"/>
                <a:cs typeface="Calibri"/>
              </a:rPr>
              <a:t>n</a:t>
            </a:r>
            <a:r>
              <a:rPr sz="1400" spc="-9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M</a:t>
            </a:r>
            <a:r>
              <a:rPr sz="1400" spc="5">
                <a:latin typeface="Calibri"/>
                <a:cs typeface="Calibri"/>
              </a:rPr>
              <a:t>oun</a:t>
            </a:r>
            <a:r>
              <a:rPr sz="1400" spc="-20">
                <a:latin typeface="Calibri"/>
                <a:cs typeface="Calibri"/>
              </a:rPr>
              <a:t>t</a:t>
            </a:r>
            <a:r>
              <a:rPr sz="1400" spc="5">
                <a:latin typeface="Calibri"/>
                <a:cs typeface="Calibri"/>
              </a:rPr>
              <a:t>s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30">
                <a:latin typeface="Calibri"/>
                <a:cs typeface="Calibri"/>
              </a:rPr>
              <a:t>r</a:t>
            </a:r>
            <a:r>
              <a:rPr sz="1400" spc="10">
                <a:latin typeface="Calibri"/>
                <a:cs typeface="Calibri"/>
              </a:rPr>
              <a:t>e</a:t>
            </a:r>
            <a:r>
              <a:rPr sz="1400" spc="-12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m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5">
                <a:latin typeface="Calibri"/>
                <a:cs typeface="Calibri"/>
              </a:rPr>
              <a:t>d</a:t>
            </a:r>
            <a:r>
              <a:rPr sz="1400" spc="10">
                <a:latin typeface="Calibri"/>
                <a:cs typeface="Calibri"/>
              </a:rPr>
              <a:t>e</a:t>
            </a:r>
            <a:r>
              <a:rPr sz="1400" spc="-50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t</a:t>
            </a:r>
            <a:r>
              <a:rPr sz="1400" spc="30">
                <a:latin typeface="Calibri"/>
                <a:cs typeface="Calibri"/>
              </a:rPr>
              <a:t>r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5">
                <a:latin typeface="Calibri"/>
                <a:cs typeface="Calibri"/>
              </a:rPr>
              <a:t>n</a:t>
            </a:r>
            <a:r>
              <a:rPr sz="1400" spc="10">
                <a:latin typeface="Calibri"/>
                <a:cs typeface="Calibri"/>
              </a:rPr>
              <a:t>g</a:t>
            </a:r>
            <a:r>
              <a:rPr sz="1400" spc="5">
                <a:latin typeface="Calibri"/>
                <a:cs typeface="Calibri"/>
              </a:rPr>
              <a:t>u</a:t>
            </a:r>
            <a:r>
              <a:rPr sz="1400" spc="-25">
                <a:latin typeface="Calibri"/>
                <a:cs typeface="Calibri"/>
              </a:rPr>
              <a:t>l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5">
                <a:latin typeface="Calibri"/>
                <a:cs typeface="Calibri"/>
              </a:rPr>
              <a:t>r</a:t>
            </a:r>
            <a:r>
              <a:rPr sz="1400" spc="10">
                <a:latin typeface="Calibri"/>
                <a:cs typeface="Calibri"/>
              </a:rPr>
              <a:t> </a:t>
            </a:r>
            <a:r>
              <a:rPr sz="1400" spc="15">
                <a:latin typeface="Calibri"/>
                <a:cs typeface="Calibri"/>
              </a:rPr>
              <a:t>&amp;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d</a:t>
            </a:r>
            <a:r>
              <a:rPr sz="1400" spc="-25">
                <a:latin typeface="Calibri"/>
                <a:cs typeface="Calibri"/>
              </a:rPr>
              <a:t>e</a:t>
            </a:r>
            <a:r>
              <a:rPr sz="1400" spc="45">
                <a:latin typeface="Calibri"/>
                <a:cs typeface="Calibri"/>
              </a:rPr>
              <a:t>s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 spc="10">
                <a:latin typeface="Calibri"/>
                <a:cs typeface="Calibri"/>
              </a:rPr>
              <a:t>gn</a:t>
            </a:r>
            <a:r>
              <a:rPr sz="1400" spc="-25">
                <a:latin typeface="Calibri"/>
                <a:cs typeface="Calibri"/>
              </a:rPr>
              <a:t>e</a:t>
            </a:r>
            <a:r>
              <a:rPr sz="1400" spc="10">
                <a:latin typeface="Calibri"/>
                <a:cs typeface="Calibri"/>
              </a:rPr>
              <a:t>d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t</a:t>
            </a:r>
            <a:r>
              <a:rPr sz="1400" spc="5">
                <a:latin typeface="Calibri"/>
                <a:cs typeface="Calibri"/>
              </a:rPr>
              <a:t>o  </a:t>
            </a:r>
            <a:r>
              <a:rPr sz="1400" spc="30">
                <a:latin typeface="Calibri"/>
                <a:cs typeface="Calibri"/>
              </a:rPr>
              <a:t>r</a:t>
            </a:r>
            <a:r>
              <a:rPr sz="1400" spc="-25">
                <a:latin typeface="Calibri"/>
                <a:cs typeface="Calibri"/>
              </a:rPr>
              <a:t>e</a:t>
            </a:r>
            <a:r>
              <a:rPr sz="1400" spc="10">
                <a:latin typeface="Calibri"/>
                <a:cs typeface="Calibri"/>
              </a:rPr>
              <a:t>duce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h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30">
                <a:latin typeface="Calibri"/>
                <a:cs typeface="Calibri"/>
              </a:rPr>
              <a:t>r</a:t>
            </a:r>
            <a:r>
              <a:rPr sz="1400" spc="45">
                <a:latin typeface="Calibri"/>
                <a:cs typeface="Calibri"/>
              </a:rPr>
              <a:t>s</a:t>
            </a:r>
            <a:r>
              <a:rPr sz="1400" spc="5">
                <a:latin typeface="Calibri"/>
                <a:cs typeface="Calibri"/>
              </a:rPr>
              <a:t>hn</a:t>
            </a:r>
            <a:r>
              <a:rPr sz="1400" spc="-25">
                <a:latin typeface="Calibri"/>
                <a:cs typeface="Calibri"/>
              </a:rPr>
              <a:t>e</a:t>
            </a:r>
            <a:r>
              <a:rPr sz="1400" spc="45">
                <a:latin typeface="Calibri"/>
                <a:cs typeface="Calibri"/>
              </a:rPr>
              <a:t>s</a:t>
            </a:r>
            <a:r>
              <a:rPr sz="1400" spc="5">
                <a:latin typeface="Calibri"/>
                <a:cs typeface="Calibri"/>
              </a:rPr>
              <a:t>s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of</a:t>
            </a:r>
            <a:r>
              <a:rPr sz="1400" spc="-80">
                <a:latin typeface="Calibri"/>
                <a:cs typeface="Calibri"/>
              </a:rPr>
              <a:t> </a:t>
            </a:r>
            <a:r>
              <a:rPr sz="1400" spc="40">
                <a:latin typeface="Calibri"/>
                <a:cs typeface="Calibri"/>
              </a:rPr>
              <a:t>v</a:t>
            </a:r>
            <a:r>
              <a:rPr sz="1400" spc="-25">
                <a:latin typeface="Calibri"/>
                <a:cs typeface="Calibri"/>
              </a:rPr>
              <a:t>e</a:t>
            </a:r>
            <a:r>
              <a:rPr sz="1400" spc="5">
                <a:latin typeface="Calibri"/>
                <a:cs typeface="Calibri"/>
              </a:rPr>
              <a:t>h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 spc="10">
                <a:latin typeface="Calibri"/>
                <a:cs typeface="Calibri"/>
              </a:rPr>
              <a:t>c</a:t>
            </a:r>
            <a:r>
              <a:rPr sz="1400" spc="-25">
                <a:latin typeface="Calibri"/>
                <a:cs typeface="Calibri"/>
              </a:rPr>
              <a:t>l</a:t>
            </a:r>
            <a:r>
              <a:rPr sz="1400" spc="10"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ts val="1650"/>
              </a:lnSpc>
              <a:spcBef>
                <a:spcPts val="80"/>
              </a:spcBef>
              <a:buSzPct val="92857"/>
              <a:buChar char="•"/>
              <a:tabLst>
                <a:tab pos="104139" algn="l"/>
              </a:tabLst>
            </a:pPr>
            <a:r>
              <a:rPr sz="1400">
                <a:latin typeface="Calibri"/>
                <a:cs typeface="Calibri"/>
              </a:rPr>
              <a:t>the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engine</a:t>
            </a:r>
            <a:r>
              <a:rPr sz="1400" spc="-5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is</a:t>
            </a:r>
            <a:r>
              <a:rPr sz="1400" spc="25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mounted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10">
                <a:latin typeface="Calibri"/>
                <a:cs typeface="Calibri"/>
              </a:rPr>
              <a:t>on</a:t>
            </a:r>
            <a:r>
              <a:rPr sz="1400" spc="-15">
                <a:latin typeface="Calibri"/>
                <a:cs typeface="Calibri"/>
              </a:rPr>
              <a:t> </a:t>
            </a:r>
            <a:r>
              <a:rPr sz="1400" spc="10">
                <a:latin typeface="Calibri"/>
                <a:cs typeface="Calibri"/>
              </a:rPr>
              <a:t>a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lang="en-US" sz="1400" spc="5">
                <a:latin typeface="Calibri"/>
                <a:cs typeface="Calibri"/>
              </a:rPr>
              <a:t>s</a:t>
            </a:r>
            <a:r>
              <a:rPr sz="1400" spc="5">
                <a:latin typeface="Calibri"/>
                <a:cs typeface="Calibri"/>
              </a:rPr>
              <a:t>pheroidal</a:t>
            </a:r>
            <a:r>
              <a:rPr sz="1400" spc="-114">
                <a:latin typeface="Calibri"/>
                <a:cs typeface="Calibri"/>
              </a:rPr>
              <a:t> </a:t>
            </a:r>
            <a:r>
              <a:rPr sz="1400" spc="15">
                <a:latin typeface="Calibri"/>
                <a:cs typeface="Calibri"/>
              </a:rPr>
              <a:t>cast</a:t>
            </a:r>
            <a:r>
              <a:rPr sz="1400" spc="-120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iron</a:t>
            </a:r>
            <a:r>
              <a:rPr sz="1400" spc="-90">
                <a:latin typeface="Calibri"/>
                <a:cs typeface="Calibri"/>
              </a:rPr>
              <a:t> </a:t>
            </a:r>
            <a:r>
              <a:rPr sz="1400" spc="-5">
                <a:latin typeface="Calibri"/>
                <a:cs typeface="Calibri"/>
              </a:rPr>
              <a:t>plate</a:t>
            </a:r>
            <a:r>
              <a:rPr sz="1400" spc="25">
                <a:latin typeface="Calibri"/>
                <a:cs typeface="Calibri"/>
              </a:rPr>
              <a:t> </a:t>
            </a:r>
            <a:r>
              <a:rPr sz="1400" spc="5">
                <a:latin typeface="Calibri"/>
                <a:cs typeface="Calibri"/>
              </a:rPr>
              <a:t>due </a:t>
            </a:r>
            <a:r>
              <a:rPr sz="1400" spc="-305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t</a:t>
            </a:r>
            <a:r>
              <a:rPr sz="1400" spc="10">
                <a:latin typeface="Calibri"/>
                <a:cs typeface="Calibri"/>
              </a:rPr>
              <a:t>o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it</a:t>
            </a:r>
            <a:r>
              <a:rPr sz="1400" spc="10">
                <a:latin typeface="Calibri"/>
                <a:cs typeface="Calibri"/>
              </a:rPr>
              <a:t>s</a:t>
            </a:r>
            <a:r>
              <a:rPr sz="1400" spc="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5">
                <a:latin typeface="Calibri"/>
                <a:cs typeface="Calibri"/>
              </a:rPr>
              <a:t>b</a:t>
            </a:r>
            <a:r>
              <a:rPr sz="1400" spc="-25">
                <a:latin typeface="Calibri"/>
                <a:cs typeface="Calibri"/>
              </a:rPr>
              <a:t>ilit</a:t>
            </a:r>
            <a:r>
              <a:rPr sz="1400" spc="10">
                <a:latin typeface="Calibri"/>
                <a:cs typeface="Calibri"/>
              </a:rPr>
              <a:t>y</a:t>
            </a:r>
            <a:r>
              <a:rPr sz="1400" spc="85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t</a:t>
            </a:r>
            <a:r>
              <a:rPr sz="1400" spc="10">
                <a:latin typeface="Calibri"/>
                <a:cs typeface="Calibri"/>
              </a:rPr>
              <a:t>o</a:t>
            </a:r>
            <a:r>
              <a:rPr sz="1400" spc="-2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5">
                <a:latin typeface="Calibri"/>
                <a:cs typeface="Calibri"/>
              </a:rPr>
              <a:t>b</a:t>
            </a:r>
            <a:r>
              <a:rPr sz="1400" spc="55">
                <a:latin typeface="Calibri"/>
                <a:cs typeface="Calibri"/>
              </a:rPr>
              <a:t>s</a:t>
            </a:r>
            <a:r>
              <a:rPr sz="1400" spc="5">
                <a:latin typeface="Calibri"/>
                <a:cs typeface="Calibri"/>
              </a:rPr>
              <a:t>o</a:t>
            </a:r>
            <a:r>
              <a:rPr sz="1400" spc="30">
                <a:latin typeface="Calibri"/>
                <a:cs typeface="Calibri"/>
              </a:rPr>
              <a:t>r</a:t>
            </a:r>
            <a:r>
              <a:rPr sz="1400" spc="10">
                <a:latin typeface="Calibri"/>
                <a:cs typeface="Calibri"/>
              </a:rPr>
              <a:t>b</a:t>
            </a:r>
            <a:r>
              <a:rPr sz="1400" spc="-90">
                <a:latin typeface="Calibri"/>
                <a:cs typeface="Calibri"/>
              </a:rPr>
              <a:t> </a:t>
            </a:r>
            <a:r>
              <a:rPr sz="1400" spc="40">
                <a:latin typeface="Calibri"/>
                <a:cs typeface="Calibri"/>
              </a:rPr>
              <a:t>v</a:t>
            </a:r>
            <a:r>
              <a:rPr sz="1400" spc="-25">
                <a:latin typeface="Calibri"/>
                <a:cs typeface="Calibri"/>
              </a:rPr>
              <a:t>i</a:t>
            </a:r>
            <a:r>
              <a:rPr sz="1400" spc="5">
                <a:latin typeface="Calibri"/>
                <a:cs typeface="Calibri"/>
              </a:rPr>
              <a:t>b</a:t>
            </a:r>
            <a:r>
              <a:rPr sz="1400" spc="35">
                <a:latin typeface="Calibri"/>
                <a:cs typeface="Calibri"/>
              </a:rPr>
              <a:t>r</a:t>
            </a:r>
            <a:r>
              <a:rPr sz="1400">
                <a:latin typeface="Calibri"/>
                <a:cs typeface="Calibri"/>
              </a:rPr>
              <a:t>a</a:t>
            </a:r>
            <a:r>
              <a:rPr sz="1400" spc="-25">
                <a:latin typeface="Calibri"/>
                <a:cs typeface="Calibri"/>
              </a:rPr>
              <a:t>ti</a:t>
            </a:r>
            <a:r>
              <a:rPr sz="1400" spc="5">
                <a:latin typeface="Calibri"/>
                <a:cs typeface="Calibri"/>
              </a:rPr>
              <a:t>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69580" y="427672"/>
            <a:ext cx="17449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>
                <a:latin typeface="Calibri"/>
                <a:cs typeface="Calibri"/>
              </a:rPr>
              <a:t>Vehicle</a:t>
            </a:r>
            <a:r>
              <a:rPr sz="1550" b="1" spc="70">
                <a:latin typeface="Calibri"/>
                <a:cs typeface="Calibri"/>
              </a:rPr>
              <a:t> </a:t>
            </a:r>
            <a:r>
              <a:rPr sz="1550" b="1">
                <a:latin typeface="Calibri"/>
                <a:cs typeface="Calibri"/>
              </a:rPr>
              <a:t>performance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1812" y="4303776"/>
            <a:ext cx="4099560" cy="2489200"/>
            <a:chOff x="531812" y="4303776"/>
            <a:chExt cx="4099560" cy="2489200"/>
          </a:xfrm>
        </p:grpSpPr>
        <p:sp>
          <p:nvSpPr>
            <p:cNvPr id="20" name="object 20"/>
            <p:cNvSpPr/>
            <p:nvPr/>
          </p:nvSpPr>
          <p:spPr>
            <a:xfrm>
              <a:off x="3033776" y="5781675"/>
              <a:ext cx="47625" cy="281305"/>
            </a:xfrm>
            <a:custGeom>
              <a:avLst/>
              <a:gdLst/>
              <a:ahLst/>
              <a:cxnLst/>
              <a:rect l="l" t="t" r="r" b="b"/>
              <a:pathLst>
                <a:path w="47625" h="281304">
                  <a:moveTo>
                    <a:pt x="0" y="280987"/>
                  </a:moveTo>
                  <a:lnTo>
                    <a:pt x="47625" y="280987"/>
                  </a:lnTo>
                  <a:lnTo>
                    <a:pt x="47625" y="0"/>
                  </a:lnTo>
                  <a:lnTo>
                    <a:pt x="0" y="0"/>
                  </a:lnTo>
                  <a:lnTo>
                    <a:pt x="0" y="280987"/>
                  </a:lnTo>
                  <a:close/>
                </a:path>
              </a:pathLst>
            </a:custGeom>
            <a:solidFill>
              <a:srgbClr val="45A3C4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33776" y="5748337"/>
              <a:ext cx="47625" cy="314325"/>
            </a:xfrm>
            <a:custGeom>
              <a:avLst/>
              <a:gdLst/>
              <a:ahLst/>
              <a:cxnLst/>
              <a:rect l="l" t="t" r="r" b="b"/>
              <a:pathLst>
                <a:path w="47625" h="314325">
                  <a:moveTo>
                    <a:pt x="0" y="314325"/>
                  </a:moveTo>
                  <a:lnTo>
                    <a:pt x="47625" y="314325"/>
                  </a:lnTo>
                  <a:lnTo>
                    <a:pt x="47625" y="0"/>
                  </a:lnTo>
                  <a:lnTo>
                    <a:pt x="0" y="0"/>
                  </a:lnTo>
                  <a:lnTo>
                    <a:pt x="0" y="31432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795776" y="5672137"/>
              <a:ext cx="47625" cy="304800"/>
            </a:xfrm>
            <a:custGeom>
              <a:avLst/>
              <a:gdLst/>
              <a:ahLst/>
              <a:cxnLst/>
              <a:rect l="l" t="t" r="r" b="b"/>
              <a:pathLst>
                <a:path w="47625" h="304800">
                  <a:moveTo>
                    <a:pt x="47625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7625" y="304800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45A3C4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795776" y="5672137"/>
              <a:ext cx="47625" cy="304800"/>
            </a:xfrm>
            <a:custGeom>
              <a:avLst/>
              <a:gdLst/>
              <a:ahLst/>
              <a:cxnLst/>
              <a:rect l="l" t="t" r="r" b="b"/>
              <a:pathLst>
                <a:path w="47625" h="304800">
                  <a:moveTo>
                    <a:pt x="0" y="304800"/>
                  </a:moveTo>
                  <a:lnTo>
                    <a:pt x="47625" y="304800"/>
                  </a:lnTo>
                  <a:lnTo>
                    <a:pt x="47625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19451" y="5891212"/>
              <a:ext cx="1419225" cy="390525"/>
            </a:xfrm>
            <a:custGeom>
              <a:avLst/>
              <a:gdLst/>
              <a:ahLst/>
              <a:cxnLst/>
              <a:rect l="l" t="t" r="r" b="b"/>
              <a:pathLst>
                <a:path w="1419225" h="390525">
                  <a:moveTo>
                    <a:pt x="1190878" y="0"/>
                  </a:moveTo>
                  <a:lnTo>
                    <a:pt x="228219" y="0"/>
                  </a:lnTo>
                  <a:lnTo>
                    <a:pt x="175868" y="5157"/>
                  </a:lnTo>
                  <a:lnTo>
                    <a:pt x="127823" y="19847"/>
                  </a:lnTo>
                  <a:lnTo>
                    <a:pt x="85450" y="42898"/>
                  </a:lnTo>
                  <a:lnTo>
                    <a:pt x="50115" y="73137"/>
                  </a:lnTo>
                  <a:lnTo>
                    <a:pt x="23184" y="109393"/>
                  </a:lnTo>
                  <a:lnTo>
                    <a:pt x="6023" y="150492"/>
                  </a:lnTo>
                  <a:lnTo>
                    <a:pt x="0" y="195262"/>
                  </a:lnTo>
                  <a:lnTo>
                    <a:pt x="6023" y="240032"/>
                  </a:lnTo>
                  <a:lnTo>
                    <a:pt x="23184" y="281131"/>
                  </a:lnTo>
                  <a:lnTo>
                    <a:pt x="50115" y="317387"/>
                  </a:lnTo>
                  <a:lnTo>
                    <a:pt x="85450" y="347626"/>
                  </a:lnTo>
                  <a:lnTo>
                    <a:pt x="127823" y="370677"/>
                  </a:lnTo>
                  <a:lnTo>
                    <a:pt x="175868" y="385367"/>
                  </a:lnTo>
                  <a:lnTo>
                    <a:pt x="228219" y="390525"/>
                  </a:lnTo>
                  <a:lnTo>
                    <a:pt x="1190878" y="390525"/>
                  </a:lnTo>
                  <a:lnTo>
                    <a:pt x="1243236" y="385367"/>
                  </a:lnTo>
                  <a:lnTo>
                    <a:pt x="1291299" y="370677"/>
                  </a:lnTo>
                  <a:lnTo>
                    <a:pt x="1333697" y="347626"/>
                  </a:lnTo>
                  <a:lnTo>
                    <a:pt x="1369059" y="317387"/>
                  </a:lnTo>
                  <a:lnTo>
                    <a:pt x="1396015" y="281131"/>
                  </a:lnTo>
                  <a:lnTo>
                    <a:pt x="1413194" y="240032"/>
                  </a:lnTo>
                  <a:lnTo>
                    <a:pt x="1419225" y="195262"/>
                  </a:lnTo>
                  <a:lnTo>
                    <a:pt x="1413194" y="150492"/>
                  </a:lnTo>
                  <a:lnTo>
                    <a:pt x="1396015" y="109393"/>
                  </a:lnTo>
                  <a:lnTo>
                    <a:pt x="1369059" y="73137"/>
                  </a:lnTo>
                  <a:lnTo>
                    <a:pt x="1333697" y="42898"/>
                  </a:lnTo>
                  <a:lnTo>
                    <a:pt x="1291299" y="19847"/>
                  </a:lnTo>
                  <a:lnTo>
                    <a:pt x="1243236" y="5157"/>
                  </a:lnTo>
                  <a:lnTo>
                    <a:pt x="11908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19451" y="5891212"/>
              <a:ext cx="1419225" cy="390525"/>
            </a:xfrm>
            <a:custGeom>
              <a:avLst/>
              <a:gdLst/>
              <a:ahLst/>
              <a:cxnLst/>
              <a:rect l="l" t="t" r="r" b="b"/>
              <a:pathLst>
                <a:path w="1419225" h="390525">
                  <a:moveTo>
                    <a:pt x="228219" y="0"/>
                  </a:moveTo>
                  <a:lnTo>
                    <a:pt x="1190878" y="0"/>
                  </a:lnTo>
                  <a:lnTo>
                    <a:pt x="1243236" y="5157"/>
                  </a:lnTo>
                  <a:lnTo>
                    <a:pt x="1291299" y="19847"/>
                  </a:lnTo>
                  <a:lnTo>
                    <a:pt x="1333697" y="42898"/>
                  </a:lnTo>
                  <a:lnTo>
                    <a:pt x="1369059" y="73137"/>
                  </a:lnTo>
                  <a:lnTo>
                    <a:pt x="1396015" y="109393"/>
                  </a:lnTo>
                  <a:lnTo>
                    <a:pt x="1413194" y="150492"/>
                  </a:lnTo>
                  <a:lnTo>
                    <a:pt x="1419225" y="195262"/>
                  </a:lnTo>
                  <a:lnTo>
                    <a:pt x="1413194" y="240032"/>
                  </a:lnTo>
                  <a:lnTo>
                    <a:pt x="1396015" y="281131"/>
                  </a:lnTo>
                  <a:lnTo>
                    <a:pt x="1369059" y="317387"/>
                  </a:lnTo>
                  <a:lnTo>
                    <a:pt x="1333697" y="347626"/>
                  </a:lnTo>
                  <a:lnTo>
                    <a:pt x="1291299" y="370677"/>
                  </a:lnTo>
                  <a:lnTo>
                    <a:pt x="1243236" y="385367"/>
                  </a:lnTo>
                  <a:lnTo>
                    <a:pt x="1190878" y="390525"/>
                  </a:lnTo>
                  <a:lnTo>
                    <a:pt x="228219" y="390525"/>
                  </a:lnTo>
                  <a:lnTo>
                    <a:pt x="175868" y="385367"/>
                  </a:lnTo>
                  <a:lnTo>
                    <a:pt x="127823" y="370677"/>
                  </a:lnTo>
                  <a:lnTo>
                    <a:pt x="85450" y="347626"/>
                  </a:lnTo>
                  <a:lnTo>
                    <a:pt x="50115" y="317387"/>
                  </a:lnTo>
                  <a:lnTo>
                    <a:pt x="23184" y="281131"/>
                  </a:lnTo>
                  <a:lnTo>
                    <a:pt x="6023" y="240032"/>
                  </a:lnTo>
                  <a:lnTo>
                    <a:pt x="0" y="195262"/>
                  </a:lnTo>
                  <a:lnTo>
                    <a:pt x="6023" y="150492"/>
                  </a:lnTo>
                  <a:lnTo>
                    <a:pt x="23184" y="109393"/>
                  </a:lnTo>
                  <a:lnTo>
                    <a:pt x="50115" y="73137"/>
                  </a:lnTo>
                  <a:lnTo>
                    <a:pt x="85450" y="42898"/>
                  </a:lnTo>
                  <a:lnTo>
                    <a:pt x="127823" y="19847"/>
                  </a:lnTo>
                  <a:lnTo>
                    <a:pt x="175868" y="5157"/>
                  </a:lnTo>
                  <a:lnTo>
                    <a:pt x="228219" y="0"/>
                  </a:lnTo>
                  <a:close/>
                </a:path>
              </a:pathLst>
            </a:custGeom>
            <a:ln w="28575">
              <a:solidFill>
                <a:srgbClr val="538235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871851" y="5969800"/>
              <a:ext cx="333375" cy="217170"/>
            </a:xfrm>
            <a:custGeom>
              <a:avLst/>
              <a:gdLst/>
              <a:ahLst/>
              <a:cxnLst/>
              <a:rect l="l" t="t" r="r" b="b"/>
              <a:pathLst>
                <a:path w="333375" h="217170">
                  <a:moveTo>
                    <a:pt x="333375" y="0"/>
                  </a:moveTo>
                  <a:lnTo>
                    <a:pt x="320268" y="12047"/>
                  </a:lnTo>
                  <a:lnTo>
                    <a:pt x="284527" y="21885"/>
                  </a:lnTo>
                  <a:lnTo>
                    <a:pt x="231522" y="28517"/>
                  </a:lnTo>
                  <a:lnTo>
                    <a:pt x="166624" y="30949"/>
                  </a:lnTo>
                  <a:lnTo>
                    <a:pt x="101744" y="28517"/>
                  </a:lnTo>
                  <a:lnTo>
                    <a:pt x="48783" y="21885"/>
                  </a:lnTo>
                  <a:lnTo>
                    <a:pt x="13086" y="12047"/>
                  </a:lnTo>
                  <a:lnTo>
                    <a:pt x="0" y="0"/>
                  </a:lnTo>
                  <a:lnTo>
                    <a:pt x="0" y="185737"/>
                  </a:lnTo>
                  <a:lnTo>
                    <a:pt x="13086" y="197785"/>
                  </a:lnTo>
                  <a:lnTo>
                    <a:pt x="48783" y="207622"/>
                  </a:lnTo>
                  <a:lnTo>
                    <a:pt x="101744" y="214255"/>
                  </a:lnTo>
                  <a:lnTo>
                    <a:pt x="166624" y="216687"/>
                  </a:lnTo>
                  <a:lnTo>
                    <a:pt x="231522" y="214255"/>
                  </a:lnTo>
                  <a:lnTo>
                    <a:pt x="284527" y="207622"/>
                  </a:lnTo>
                  <a:lnTo>
                    <a:pt x="320268" y="197785"/>
                  </a:lnTo>
                  <a:lnTo>
                    <a:pt x="333375" y="185737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71851" y="5938837"/>
              <a:ext cx="333375" cy="62230"/>
            </a:xfrm>
            <a:custGeom>
              <a:avLst/>
              <a:gdLst/>
              <a:ahLst/>
              <a:cxnLst/>
              <a:rect l="l" t="t" r="r" b="b"/>
              <a:pathLst>
                <a:path w="333375" h="62229">
                  <a:moveTo>
                    <a:pt x="166624" y="0"/>
                  </a:moveTo>
                  <a:lnTo>
                    <a:pt x="101744" y="2432"/>
                  </a:lnTo>
                  <a:lnTo>
                    <a:pt x="48783" y="9066"/>
                  </a:lnTo>
                  <a:lnTo>
                    <a:pt x="13086" y="18907"/>
                  </a:lnTo>
                  <a:lnTo>
                    <a:pt x="0" y="30962"/>
                  </a:lnTo>
                  <a:lnTo>
                    <a:pt x="13086" y="43010"/>
                  </a:lnTo>
                  <a:lnTo>
                    <a:pt x="48783" y="52847"/>
                  </a:lnTo>
                  <a:lnTo>
                    <a:pt x="101744" y="59480"/>
                  </a:lnTo>
                  <a:lnTo>
                    <a:pt x="166624" y="61912"/>
                  </a:lnTo>
                  <a:lnTo>
                    <a:pt x="231522" y="59480"/>
                  </a:lnTo>
                  <a:lnTo>
                    <a:pt x="284527" y="52847"/>
                  </a:lnTo>
                  <a:lnTo>
                    <a:pt x="320268" y="43010"/>
                  </a:lnTo>
                  <a:lnTo>
                    <a:pt x="333375" y="30962"/>
                  </a:lnTo>
                  <a:lnTo>
                    <a:pt x="320268" y="18907"/>
                  </a:lnTo>
                  <a:lnTo>
                    <a:pt x="284527" y="9066"/>
                  </a:lnTo>
                  <a:lnTo>
                    <a:pt x="231522" y="2432"/>
                  </a:lnTo>
                  <a:lnTo>
                    <a:pt x="166624" y="0"/>
                  </a:lnTo>
                  <a:close/>
                </a:path>
              </a:pathLst>
            </a:custGeom>
            <a:solidFill>
              <a:srgbClr val="CAE2BA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71851" y="5938837"/>
              <a:ext cx="333375" cy="247650"/>
            </a:xfrm>
            <a:custGeom>
              <a:avLst/>
              <a:gdLst/>
              <a:ahLst/>
              <a:cxnLst/>
              <a:rect l="l" t="t" r="r" b="b"/>
              <a:pathLst>
                <a:path w="333375" h="247650">
                  <a:moveTo>
                    <a:pt x="333375" y="30962"/>
                  </a:moveTo>
                  <a:lnTo>
                    <a:pt x="284527" y="52847"/>
                  </a:lnTo>
                  <a:lnTo>
                    <a:pt x="231522" y="59480"/>
                  </a:lnTo>
                  <a:lnTo>
                    <a:pt x="166624" y="61912"/>
                  </a:lnTo>
                  <a:lnTo>
                    <a:pt x="101744" y="59480"/>
                  </a:lnTo>
                  <a:lnTo>
                    <a:pt x="48783" y="52847"/>
                  </a:lnTo>
                  <a:lnTo>
                    <a:pt x="0" y="30962"/>
                  </a:lnTo>
                  <a:lnTo>
                    <a:pt x="13086" y="18907"/>
                  </a:lnTo>
                  <a:lnTo>
                    <a:pt x="48783" y="9066"/>
                  </a:lnTo>
                  <a:lnTo>
                    <a:pt x="101744" y="2432"/>
                  </a:lnTo>
                  <a:lnTo>
                    <a:pt x="166624" y="0"/>
                  </a:lnTo>
                  <a:lnTo>
                    <a:pt x="231522" y="2432"/>
                  </a:lnTo>
                  <a:lnTo>
                    <a:pt x="284527" y="9066"/>
                  </a:lnTo>
                  <a:lnTo>
                    <a:pt x="320268" y="18907"/>
                  </a:lnTo>
                  <a:lnTo>
                    <a:pt x="333375" y="30962"/>
                  </a:lnTo>
                  <a:lnTo>
                    <a:pt x="333375" y="216700"/>
                  </a:lnTo>
                  <a:lnTo>
                    <a:pt x="320268" y="228747"/>
                  </a:lnTo>
                  <a:lnTo>
                    <a:pt x="284527" y="238585"/>
                  </a:lnTo>
                  <a:lnTo>
                    <a:pt x="231522" y="245217"/>
                  </a:lnTo>
                  <a:lnTo>
                    <a:pt x="166624" y="247650"/>
                  </a:lnTo>
                  <a:lnTo>
                    <a:pt x="101744" y="245217"/>
                  </a:lnTo>
                  <a:lnTo>
                    <a:pt x="48783" y="238585"/>
                  </a:lnTo>
                  <a:lnTo>
                    <a:pt x="13086" y="228747"/>
                  </a:lnTo>
                  <a:lnTo>
                    <a:pt x="0" y="216700"/>
                  </a:lnTo>
                  <a:lnTo>
                    <a:pt x="0" y="30962"/>
                  </a:lnTo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33851" y="5969800"/>
              <a:ext cx="333375" cy="217170"/>
            </a:xfrm>
            <a:custGeom>
              <a:avLst/>
              <a:gdLst/>
              <a:ahLst/>
              <a:cxnLst/>
              <a:rect l="l" t="t" r="r" b="b"/>
              <a:pathLst>
                <a:path w="333375" h="217170">
                  <a:moveTo>
                    <a:pt x="333375" y="0"/>
                  </a:moveTo>
                  <a:lnTo>
                    <a:pt x="320268" y="12047"/>
                  </a:lnTo>
                  <a:lnTo>
                    <a:pt x="284527" y="21885"/>
                  </a:lnTo>
                  <a:lnTo>
                    <a:pt x="231522" y="28517"/>
                  </a:lnTo>
                  <a:lnTo>
                    <a:pt x="166624" y="30949"/>
                  </a:lnTo>
                  <a:lnTo>
                    <a:pt x="101744" y="28517"/>
                  </a:lnTo>
                  <a:lnTo>
                    <a:pt x="48783" y="21885"/>
                  </a:lnTo>
                  <a:lnTo>
                    <a:pt x="13086" y="12047"/>
                  </a:lnTo>
                  <a:lnTo>
                    <a:pt x="0" y="0"/>
                  </a:lnTo>
                  <a:lnTo>
                    <a:pt x="0" y="185737"/>
                  </a:lnTo>
                  <a:lnTo>
                    <a:pt x="13086" y="197785"/>
                  </a:lnTo>
                  <a:lnTo>
                    <a:pt x="48783" y="207622"/>
                  </a:lnTo>
                  <a:lnTo>
                    <a:pt x="101744" y="214255"/>
                  </a:lnTo>
                  <a:lnTo>
                    <a:pt x="166624" y="216687"/>
                  </a:lnTo>
                  <a:lnTo>
                    <a:pt x="231522" y="214255"/>
                  </a:lnTo>
                  <a:lnTo>
                    <a:pt x="284527" y="207622"/>
                  </a:lnTo>
                  <a:lnTo>
                    <a:pt x="320268" y="197785"/>
                  </a:lnTo>
                  <a:lnTo>
                    <a:pt x="333375" y="185737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33851" y="5938837"/>
              <a:ext cx="333375" cy="62230"/>
            </a:xfrm>
            <a:custGeom>
              <a:avLst/>
              <a:gdLst/>
              <a:ahLst/>
              <a:cxnLst/>
              <a:rect l="l" t="t" r="r" b="b"/>
              <a:pathLst>
                <a:path w="333375" h="62229">
                  <a:moveTo>
                    <a:pt x="166624" y="0"/>
                  </a:moveTo>
                  <a:lnTo>
                    <a:pt x="101744" y="2432"/>
                  </a:lnTo>
                  <a:lnTo>
                    <a:pt x="48783" y="9066"/>
                  </a:lnTo>
                  <a:lnTo>
                    <a:pt x="13086" y="18907"/>
                  </a:lnTo>
                  <a:lnTo>
                    <a:pt x="0" y="30962"/>
                  </a:lnTo>
                  <a:lnTo>
                    <a:pt x="13086" y="43010"/>
                  </a:lnTo>
                  <a:lnTo>
                    <a:pt x="48783" y="52847"/>
                  </a:lnTo>
                  <a:lnTo>
                    <a:pt x="101744" y="59480"/>
                  </a:lnTo>
                  <a:lnTo>
                    <a:pt x="166624" y="61912"/>
                  </a:lnTo>
                  <a:lnTo>
                    <a:pt x="231522" y="59480"/>
                  </a:lnTo>
                  <a:lnTo>
                    <a:pt x="284527" y="52847"/>
                  </a:lnTo>
                  <a:lnTo>
                    <a:pt x="320268" y="43010"/>
                  </a:lnTo>
                  <a:lnTo>
                    <a:pt x="333375" y="30962"/>
                  </a:lnTo>
                  <a:lnTo>
                    <a:pt x="320268" y="18907"/>
                  </a:lnTo>
                  <a:lnTo>
                    <a:pt x="284527" y="9066"/>
                  </a:lnTo>
                  <a:lnTo>
                    <a:pt x="231522" y="2432"/>
                  </a:lnTo>
                  <a:lnTo>
                    <a:pt x="166624" y="0"/>
                  </a:lnTo>
                  <a:close/>
                </a:path>
              </a:pathLst>
            </a:custGeom>
            <a:solidFill>
              <a:srgbClr val="CAE2BA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633851" y="5938837"/>
              <a:ext cx="333375" cy="247650"/>
            </a:xfrm>
            <a:custGeom>
              <a:avLst/>
              <a:gdLst/>
              <a:ahLst/>
              <a:cxnLst/>
              <a:rect l="l" t="t" r="r" b="b"/>
              <a:pathLst>
                <a:path w="333375" h="247650">
                  <a:moveTo>
                    <a:pt x="333375" y="30962"/>
                  </a:moveTo>
                  <a:lnTo>
                    <a:pt x="284527" y="52847"/>
                  </a:lnTo>
                  <a:lnTo>
                    <a:pt x="231522" y="59480"/>
                  </a:lnTo>
                  <a:lnTo>
                    <a:pt x="166624" y="61912"/>
                  </a:lnTo>
                  <a:lnTo>
                    <a:pt x="101744" y="59480"/>
                  </a:lnTo>
                  <a:lnTo>
                    <a:pt x="48783" y="52847"/>
                  </a:lnTo>
                  <a:lnTo>
                    <a:pt x="0" y="30962"/>
                  </a:lnTo>
                  <a:lnTo>
                    <a:pt x="13086" y="18907"/>
                  </a:lnTo>
                  <a:lnTo>
                    <a:pt x="48783" y="9066"/>
                  </a:lnTo>
                  <a:lnTo>
                    <a:pt x="101744" y="2432"/>
                  </a:lnTo>
                  <a:lnTo>
                    <a:pt x="166624" y="0"/>
                  </a:lnTo>
                  <a:lnTo>
                    <a:pt x="231522" y="2432"/>
                  </a:lnTo>
                  <a:lnTo>
                    <a:pt x="284527" y="9066"/>
                  </a:lnTo>
                  <a:lnTo>
                    <a:pt x="320268" y="18907"/>
                  </a:lnTo>
                  <a:lnTo>
                    <a:pt x="333375" y="30962"/>
                  </a:lnTo>
                  <a:lnTo>
                    <a:pt x="333375" y="216700"/>
                  </a:lnTo>
                  <a:lnTo>
                    <a:pt x="320268" y="228747"/>
                  </a:lnTo>
                  <a:lnTo>
                    <a:pt x="284527" y="238585"/>
                  </a:lnTo>
                  <a:lnTo>
                    <a:pt x="231522" y="245217"/>
                  </a:lnTo>
                  <a:lnTo>
                    <a:pt x="166624" y="247650"/>
                  </a:lnTo>
                  <a:lnTo>
                    <a:pt x="101744" y="245217"/>
                  </a:lnTo>
                  <a:lnTo>
                    <a:pt x="48783" y="238585"/>
                  </a:lnTo>
                  <a:lnTo>
                    <a:pt x="13086" y="228747"/>
                  </a:lnTo>
                  <a:lnTo>
                    <a:pt x="0" y="216700"/>
                  </a:lnTo>
                  <a:lnTo>
                    <a:pt x="0" y="30962"/>
                  </a:lnTo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828925" y="5448300"/>
              <a:ext cx="314325" cy="333375"/>
            </a:xfrm>
            <a:custGeom>
              <a:avLst/>
              <a:gdLst/>
              <a:ahLst/>
              <a:cxnLst/>
              <a:rect l="l" t="t" r="r" b="b"/>
              <a:pathLst>
                <a:path w="314325" h="333375">
                  <a:moveTo>
                    <a:pt x="314325" y="0"/>
                  </a:moveTo>
                  <a:lnTo>
                    <a:pt x="0" y="0"/>
                  </a:lnTo>
                  <a:lnTo>
                    <a:pt x="0" y="333375"/>
                  </a:lnTo>
                  <a:lnTo>
                    <a:pt x="314325" y="333375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ACB8C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76601" y="5395976"/>
              <a:ext cx="419100" cy="52705"/>
            </a:xfrm>
            <a:custGeom>
              <a:avLst/>
              <a:gdLst/>
              <a:ahLst/>
              <a:cxnLst/>
              <a:rect l="l" t="t" r="r" b="b"/>
              <a:pathLst>
                <a:path w="419100" h="52704">
                  <a:moveTo>
                    <a:pt x="419100" y="0"/>
                  </a:moveTo>
                  <a:lnTo>
                    <a:pt x="0" y="0"/>
                  </a:lnTo>
                  <a:lnTo>
                    <a:pt x="52324" y="52324"/>
                  </a:lnTo>
                  <a:lnTo>
                    <a:pt x="366649" y="52324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BCC6D3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776601" y="5781675"/>
              <a:ext cx="419100" cy="52705"/>
            </a:xfrm>
            <a:custGeom>
              <a:avLst/>
              <a:gdLst/>
              <a:ahLst/>
              <a:cxnLst/>
              <a:rect l="l" t="t" r="r" b="b"/>
              <a:pathLst>
                <a:path w="419100" h="52704">
                  <a:moveTo>
                    <a:pt x="366649" y="0"/>
                  </a:moveTo>
                  <a:lnTo>
                    <a:pt x="52324" y="0"/>
                  </a:lnTo>
                  <a:lnTo>
                    <a:pt x="0" y="52387"/>
                  </a:lnTo>
                  <a:lnTo>
                    <a:pt x="419100" y="52387"/>
                  </a:lnTo>
                  <a:lnTo>
                    <a:pt x="366649" y="0"/>
                  </a:lnTo>
                  <a:close/>
                </a:path>
              </a:pathLst>
            </a:custGeom>
            <a:solidFill>
              <a:srgbClr val="8A94A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76601" y="5395976"/>
              <a:ext cx="52705" cy="438150"/>
            </a:xfrm>
            <a:custGeom>
              <a:avLst/>
              <a:gdLst/>
              <a:ahLst/>
              <a:cxnLst/>
              <a:rect l="l" t="t" r="r" b="b"/>
              <a:pathLst>
                <a:path w="52705" h="438150">
                  <a:moveTo>
                    <a:pt x="0" y="0"/>
                  </a:moveTo>
                  <a:lnTo>
                    <a:pt x="0" y="438086"/>
                  </a:lnTo>
                  <a:lnTo>
                    <a:pt x="52324" y="385699"/>
                  </a:lnTo>
                  <a:lnTo>
                    <a:pt x="52324" y="52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ED4DF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143250" y="5395976"/>
              <a:ext cx="52705" cy="438150"/>
            </a:xfrm>
            <a:custGeom>
              <a:avLst/>
              <a:gdLst/>
              <a:ahLst/>
              <a:cxnLst/>
              <a:rect l="l" t="t" r="r" b="b"/>
              <a:pathLst>
                <a:path w="52705" h="438150">
                  <a:moveTo>
                    <a:pt x="52450" y="0"/>
                  </a:moveTo>
                  <a:lnTo>
                    <a:pt x="0" y="52324"/>
                  </a:lnTo>
                  <a:lnTo>
                    <a:pt x="0" y="385699"/>
                  </a:lnTo>
                  <a:lnTo>
                    <a:pt x="52450" y="438086"/>
                  </a:lnTo>
                  <a:lnTo>
                    <a:pt x="52450" y="0"/>
                  </a:lnTo>
                  <a:close/>
                </a:path>
              </a:pathLst>
            </a:custGeom>
            <a:solidFill>
              <a:srgbClr val="686E7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76601" y="5395976"/>
              <a:ext cx="419100" cy="438150"/>
            </a:xfrm>
            <a:custGeom>
              <a:avLst/>
              <a:gdLst/>
              <a:ahLst/>
              <a:cxnLst/>
              <a:rect l="l" t="t" r="r" b="b"/>
              <a:pathLst>
                <a:path w="419100" h="438150">
                  <a:moveTo>
                    <a:pt x="0" y="0"/>
                  </a:moveTo>
                  <a:lnTo>
                    <a:pt x="419100" y="0"/>
                  </a:lnTo>
                  <a:lnTo>
                    <a:pt x="419100" y="438086"/>
                  </a:lnTo>
                  <a:lnTo>
                    <a:pt x="0" y="438086"/>
                  </a:lnTo>
                  <a:lnTo>
                    <a:pt x="0" y="0"/>
                  </a:lnTo>
                  <a:close/>
                </a:path>
                <a:path w="419100" h="438150">
                  <a:moveTo>
                    <a:pt x="52324" y="52324"/>
                  </a:moveTo>
                  <a:lnTo>
                    <a:pt x="366649" y="52324"/>
                  </a:lnTo>
                  <a:lnTo>
                    <a:pt x="366649" y="385699"/>
                  </a:lnTo>
                  <a:lnTo>
                    <a:pt x="52324" y="385699"/>
                  </a:lnTo>
                  <a:lnTo>
                    <a:pt x="52324" y="52324"/>
                  </a:lnTo>
                  <a:close/>
                </a:path>
                <a:path w="419100" h="438150">
                  <a:moveTo>
                    <a:pt x="0" y="0"/>
                  </a:moveTo>
                  <a:lnTo>
                    <a:pt x="52324" y="52324"/>
                  </a:lnTo>
                </a:path>
                <a:path w="419100" h="438150">
                  <a:moveTo>
                    <a:pt x="0" y="438086"/>
                  </a:moveTo>
                  <a:lnTo>
                    <a:pt x="52324" y="385699"/>
                  </a:lnTo>
                </a:path>
                <a:path w="419100" h="438150">
                  <a:moveTo>
                    <a:pt x="419100" y="0"/>
                  </a:moveTo>
                  <a:lnTo>
                    <a:pt x="366649" y="52324"/>
                  </a:lnTo>
                </a:path>
                <a:path w="419100" h="438150">
                  <a:moveTo>
                    <a:pt x="419100" y="438086"/>
                  </a:moveTo>
                  <a:lnTo>
                    <a:pt x="366649" y="385699"/>
                  </a:lnTo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595751" y="5358130"/>
              <a:ext cx="895350" cy="323850"/>
            </a:xfrm>
            <a:custGeom>
              <a:avLst/>
              <a:gdLst/>
              <a:ahLst/>
              <a:cxnLst/>
              <a:rect l="l" t="t" r="r" b="b"/>
              <a:pathLst>
                <a:path w="895350" h="323850">
                  <a:moveTo>
                    <a:pt x="895350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0" y="283210"/>
                  </a:lnTo>
                  <a:lnTo>
                    <a:pt x="0" y="323850"/>
                  </a:lnTo>
                  <a:lnTo>
                    <a:pt x="895350" y="323850"/>
                  </a:lnTo>
                  <a:lnTo>
                    <a:pt x="895350" y="283210"/>
                  </a:lnTo>
                  <a:lnTo>
                    <a:pt x="40386" y="283210"/>
                  </a:lnTo>
                  <a:lnTo>
                    <a:pt x="40386" y="40640"/>
                  </a:lnTo>
                  <a:lnTo>
                    <a:pt x="854837" y="40640"/>
                  </a:lnTo>
                  <a:lnTo>
                    <a:pt x="854837" y="283057"/>
                  </a:lnTo>
                  <a:lnTo>
                    <a:pt x="895350" y="283057"/>
                  </a:lnTo>
                  <a:lnTo>
                    <a:pt x="895350" y="40640"/>
                  </a:lnTo>
                  <a:lnTo>
                    <a:pt x="895350" y="40132"/>
                  </a:lnTo>
                  <a:lnTo>
                    <a:pt x="895350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95751" y="5357876"/>
              <a:ext cx="895350" cy="323850"/>
            </a:xfrm>
            <a:custGeom>
              <a:avLst/>
              <a:gdLst/>
              <a:ahLst/>
              <a:cxnLst/>
              <a:rect l="l" t="t" r="r" b="b"/>
              <a:pathLst>
                <a:path w="895350" h="323850">
                  <a:moveTo>
                    <a:pt x="0" y="0"/>
                  </a:moveTo>
                  <a:lnTo>
                    <a:pt x="895350" y="0"/>
                  </a:lnTo>
                  <a:lnTo>
                    <a:pt x="895350" y="323786"/>
                  </a:lnTo>
                  <a:lnTo>
                    <a:pt x="0" y="323786"/>
                  </a:lnTo>
                  <a:lnTo>
                    <a:pt x="0" y="0"/>
                  </a:lnTo>
                  <a:close/>
                </a:path>
                <a:path w="895350" h="323850">
                  <a:moveTo>
                    <a:pt x="40386" y="40386"/>
                  </a:moveTo>
                  <a:lnTo>
                    <a:pt x="40386" y="283311"/>
                  </a:lnTo>
                  <a:lnTo>
                    <a:pt x="854837" y="283311"/>
                  </a:lnTo>
                  <a:lnTo>
                    <a:pt x="854837" y="40386"/>
                  </a:lnTo>
                  <a:lnTo>
                    <a:pt x="40386" y="40386"/>
                  </a:lnTo>
                  <a:close/>
                </a:path>
              </a:pathLst>
            </a:custGeom>
            <a:ln w="12700">
              <a:solidFill>
                <a:srgbClr val="C55A11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147762" y="5215001"/>
              <a:ext cx="2571750" cy="66675"/>
            </a:xfrm>
            <a:custGeom>
              <a:avLst/>
              <a:gdLst/>
              <a:ahLst/>
              <a:cxnLst/>
              <a:rect l="l" t="t" r="r" b="b"/>
              <a:pathLst>
                <a:path w="2571750" h="66675">
                  <a:moveTo>
                    <a:pt x="2571750" y="0"/>
                  </a:moveTo>
                  <a:lnTo>
                    <a:pt x="0" y="0"/>
                  </a:lnTo>
                  <a:lnTo>
                    <a:pt x="0" y="66675"/>
                  </a:lnTo>
                  <a:lnTo>
                    <a:pt x="2571750" y="66675"/>
                  </a:lnTo>
                  <a:lnTo>
                    <a:pt x="2571750" y="0"/>
                  </a:lnTo>
                  <a:close/>
                </a:path>
              </a:pathLst>
            </a:custGeom>
            <a:solidFill>
              <a:srgbClr val="45A3C4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147762" y="5215001"/>
              <a:ext cx="2571750" cy="66675"/>
            </a:xfrm>
            <a:custGeom>
              <a:avLst/>
              <a:gdLst/>
              <a:ahLst/>
              <a:cxnLst/>
              <a:rect l="l" t="t" r="r" b="b"/>
              <a:pathLst>
                <a:path w="2571750" h="66675">
                  <a:moveTo>
                    <a:pt x="0" y="66675"/>
                  </a:moveTo>
                  <a:lnTo>
                    <a:pt x="2571750" y="66675"/>
                  </a:lnTo>
                  <a:lnTo>
                    <a:pt x="2571750" y="0"/>
                  </a:lnTo>
                  <a:lnTo>
                    <a:pt x="0" y="0"/>
                  </a:lnTo>
                  <a:lnTo>
                    <a:pt x="0" y="666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719576" y="5110479"/>
              <a:ext cx="238125" cy="237490"/>
            </a:xfrm>
            <a:custGeom>
              <a:avLst/>
              <a:gdLst/>
              <a:ahLst/>
              <a:cxnLst/>
              <a:rect l="l" t="t" r="r" b="b"/>
              <a:pathLst>
                <a:path w="238125" h="237489">
                  <a:moveTo>
                    <a:pt x="238125" y="29464"/>
                  </a:moveTo>
                  <a:lnTo>
                    <a:pt x="208280" y="29464"/>
                  </a:lnTo>
                  <a:lnTo>
                    <a:pt x="208280" y="208026"/>
                  </a:lnTo>
                  <a:lnTo>
                    <a:pt x="238125" y="208026"/>
                  </a:lnTo>
                  <a:lnTo>
                    <a:pt x="238125" y="29464"/>
                  </a:lnTo>
                  <a:close/>
                </a:path>
                <a:path w="238125" h="237489">
                  <a:moveTo>
                    <a:pt x="238125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208280"/>
                  </a:lnTo>
                  <a:lnTo>
                    <a:pt x="0" y="237490"/>
                  </a:lnTo>
                  <a:lnTo>
                    <a:pt x="238125" y="237490"/>
                  </a:lnTo>
                  <a:lnTo>
                    <a:pt x="238125" y="208280"/>
                  </a:lnTo>
                  <a:lnTo>
                    <a:pt x="29718" y="208280"/>
                  </a:lnTo>
                  <a:lnTo>
                    <a:pt x="29718" y="29210"/>
                  </a:lnTo>
                  <a:lnTo>
                    <a:pt x="238125" y="29210"/>
                  </a:lnTo>
                  <a:lnTo>
                    <a:pt x="238125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719576" y="5110226"/>
              <a:ext cx="238125" cy="238125"/>
            </a:xfrm>
            <a:custGeom>
              <a:avLst/>
              <a:gdLst/>
              <a:ahLst/>
              <a:cxnLst/>
              <a:rect l="l" t="t" r="r" b="b"/>
              <a:pathLst>
                <a:path w="238125" h="238125">
                  <a:moveTo>
                    <a:pt x="0" y="0"/>
                  </a:moveTo>
                  <a:lnTo>
                    <a:pt x="238125" y="0"/>
                  </a:lnTo>
                  <a:lnTo>
                    <a:pt x="238125" y="238125"/>
                  </a:lnTo>
                  <a:lnTo>
                    <a:pt x="0" y="238125"/>
                  </a:lnTo>
                  <a:lnTo>
                    <a:pt x="0" y="0"/>
                  </a:lnTo>
                  <a:close/>
                </a:path>
                <a:path w="238125" h="238125">
                  <a:moveTo>
                    <a:pt x="29718" y="29718"/>
                  </a:moveTo>
                  <a:lnTo>
                    <a:pt x="29718" y="208280"/>
                  </a:lnTo>
                  <a:lnTo>
                    <a:pt x="208279" y="208280"/>
                  </a:lnTo>
                  <a:lnTo>
                    <a:pt x="208279" y="29718"/>
                  </a:lnTo>
                  <a:lnTo>
                    <a:pt x="29718" y="29718"/>
                  </a:lnTo>
                  <a:close/>
                </a:path>
              </a:pathLst>
            </a:custGeom>
            <a:ln w="12700">
              <a:solidFill>
                <a:srgbClr val="C55A11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4189476" y="5237226"/>
              <a:ext cx="174625" cy="9842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4189476" y="5703887"/>
              <a:ext cx="174625" cy="889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85812" y="4510151"/>
              <a:ext cx="76200" cy="342900"/>
            </a:xfrm>
            <a:custGeom>
              <a:avLst/>
              <a:gdLst/>
              <a:ahLst/>
              <a:cxnLst/>
              <a:rect l="l" t="t" r="r" b="b"/>
              <a:pathLst>
                <a:path w="76200" h="342900">
                  <a:moveTo>
                    <a:pt x="76200" y="0"/>
                  </a:moveTo>
                  <a:lnTo>
                    <a:pt x="19050" y="0"/>
                  </a:lnTo>
                  <a:lnTo>
                    <a:pt x="0" y="342900"/>
                  </a:lnTo>
                  <a:lnTo>
                    <a:pt x="57150" y="3429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85812" y="4510151"/>
              <a:ext cx="76200" cy="342900"/>
            </a:xfrm>
            <a:custGeom>
              <a:avLst/>
              <a:gdLst/>
              <a:ahLst/>
              <a:cxnLst/>
              <a:rect l="l" t="t" r="r" b="b"/>
              <a:pathLst>
                <a:path w="76200" h="342900">
                  <a:moveTo>
                    <a:pt x="76200" y="0"/>
                  </a:moveTo>
                  <a:lnTo>
                    <a:pt x="57150" y="342900"/>
                  </a:lnTo>
                  <a:lnTo>
                    <a:pt x="0" y="342900"/>
                  </a:lnTo>
                  <a:lnTo>
                    <a:pt x="19050" y="0"/>
                  </a:lnTo>
                  <a:lnTo>
                    <a:pt x="7620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90066" y="5572125"/>
              <a:ext cx="121285" cy="967740"/>
            </a:xfrm>
            <a:custGeom>
              <a:avLst/>
              <a:gdLst/>
              <a:ahLst/>
              <a:cxnLst/>
              <a:rect l="l" t="t" r="r" b="b"/>
              <a:pathLst>
                <a:path w="121284" h="967740">
                  <a:moveTo>
                    <a:pt x="55473" y="0"/>
                  </a:moveTo>
                  <a:lnTo>
                    <a:pt x="0" y="4825"/>
                  </a:lnTo>
                  <a:lnTo>
                    <a:pt x="65570" y="967270"/>
                  </a:lnTo>
                  <a:lnTo>
                    <a:pt x="121043" y="962418"/>
                  </a:lnTo>
                  <a:lnTo>
                    <a:pt x="55473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90066" y="5572125"/>
              <a:ext cx="121285" cy="967740"/>
            </a:xfrm>
            <a:custGeom>
              <a:avLst/>
              <a:gdLst/>
              <a:ahLst/>
              <a:cxnLst/>
              <a:rect l="l" t="t" r="r" b="b"/>
              <a:pathLst>
                <a:path w="121284" h="967740">
                  <a:moveTo>
                    <a:pt x="65570" y="967270"/>
                  </a:moveTo>
                  <a:lnTo>
                    <a:pt x="0" y="4825"/>
                  </a:lnTo>
                  <a:lnTo>
                    <a:pt x="55473" y="0"/>
                  </a:lnTo>
                  <a:lnTo>
                    <a:pt x="121043" y="962418"/>
                  </a:lnTo>
                  <a:lnTo>
                    <a:pt x="65570" y="96727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61987" y="4910074"/>
              <a:ext cx="390525" cy="629285"/>
            </a:xfrm>
            <a:custGeom>
              <a:avLst/>
              <a:gdLst/>
              <a:ahLst/>
              <a:cxnLst/>
              <a:rect l="l" t="t" r="r" b="b"/>
              <a:pathLst>
                <a:path w="390525" h="629285">
                  <a:moveTo>
                    <a:pt x="0" y="0"/>
                  </a:moveTo>
                  <a:lnTo>
                    <a:pt x="0" y="628776"/>
                  </a:lnTo>
                  <a:lnTo>
                    <a:pt x="390525" y="531113"/>
                  </a:lnTo>
                  <a:lnTo>
                    <a:pt x="390525" y="976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61987" y="4910074"/>
              <a:ext cx="390525" cy="629285"/>
            </a:xfrm>
            <a:custGeom>
              <a:avLst/>
              <a:gdLst/>
              <a:ahLst/>
              <a:cxnLst/>
              <a:rect l="l" t="t" r="r" b="b"/>
              <a:pathLst>
                <a:path w="390525" h="629285">
                  <a:moveTo>
                    <a:pt x="0" y="0"/>
                  </a:moveTo>
                  <a:lnTo>
                    <a:pt x="390525" y="97662"/>
                  </a:lnTo>
                  <a:lnTo>
                    <a:pt x="390525" y="531113"/>
                  </a:lnTo>
                  <a:lnTo>
                    <a:pt x="0" y="628776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C55A11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47687" y="6538912"/>
              <a:ext cx="628650" cy="238125"/>
            </a:xfrm>
            <a:custGeom>
              <a:avLst/>
              <a:gdLst/>
              <a:ahLst/>
              <a:cxnLst/>
              <a:rect l="l" t="t" r="r" b="b"/>
              <a:pathLst>
                <a:path w="628650" h="238125">
                  <a:moveTo>
                    <a:pt x="588962" y="0"/>
                  </a:moveTo>
                  <a:lnTo>
                    <a:pt x="39687" y="0"/>
                  </a:lnTo>
                  <a:lnTo>
                    <a:pt x="24238" y="3118"/>
                  </a:lnTo>
                  <a:lnTo>
                    <a:pt x="11623" y="11623"/>
                  </a:lnTo>
                  <a:lnTo>
                    <a:pt x="3118" y="24238"/>
                  </a:lnTo>
                  <a:lnTo>
                    <a:pt x="0" y="39687"/>
                  </a:lnTo>
                  <a:lnTo>
                    <a:pt x="0" y="198436"/>
                  </a:lnTo>
                  <a:lnTo>
                    <a:pt x="3118" y="213885"/>
                  </a:lnTo>
                  <a:lnTo>
                    <a:pt x="11623" y="226500"/>
                  </a:lnTo>
                  <a:lnTo>
                    <a:pt x="24238" y="235006"/>
                  </a:lnTo>
                  <a:lnTo>
                    <a:pt x="39687" y="238125"/>
                  </a:lnTo>
                  <a:lnTo>
                    <a:pt x="588962" y="238125"/>
                  </a:lnTo>
                  <a:lnTo>
                    <a:pt x="604411" y="235006"/>
                  </a:lnTo>
                  <a:lnTo>
                    <a:pt x="617026" y="226500"/>
                  </a:lnTo>
                  <a:lnTo>
                    <a:pt x="625531" y="213885"/>
                  </a:lnTo>
                  <a:lnTo>
                    <a:pt x="628650" y="198436"/>
                  </a:lnTo>
                  <a:lnTo>
                    <a:pt x="628650" y="39687"/>
                  </a:lnTo>
                  <a:lnTo>
                    <a:pt x="625531" y="24238"/>
                  </a:lnTo>
                  <a:lnTo>
                    <a:pt x="617026" y="11623"/>
                  </a:lnTo>
                  <a:lnTo>
                    <a:pt x="604411" y="3118"/>
                  </a:lnTo>
                  <a:lnTo>
                    <a:pt x="588962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47687" y="6538912"/>
              <a:ext cx="628650" cy="238125"/>
            </a:xfrm>
            <a:custGeom>
              <a:avLst/>
              <a:gdLst/>
              <a:ahLst/>
              <a:cxnLst/>
              <a:rect l="l" t="t" r="r" b="b"/>
              <a:pathLst>
                <a:path w="628650" h="238125">
                  <a:moveTo>
                    <a:pt x="0" y="39687"/>
                  </a:moveTo>
                  <a:lnTo>
                    <a:pt x="3118" y="24238"/>
                  </a:lnTo>
                  <a:lnTo>
                    <a:pt x="11623" y="11623"/>
                  </a:lnTo>
                  <a:lnTo>
                    <a:pt x="24238" y="3118"/>
                  </a:lnTo>
                  <a:lnTo>
                    <a:pt x="39687" y="0"/>
                  </a:lnTo>
                  <a:lnTo>
                    <a:pt x="588962" y="0"/>
                  </a:lnTo>
                  <a:lnTo>
                    <a:pt x="604411" y="3118"/>
                  </a:lnTo>
                  <a:lnTo>
                    <a:pt x="617026" y="11623"/>
                  </a:lnTo>
                  <a:lnTo>
                    <a:pt x="625531" y="24238"/>
                  </a:lnTo>
                  <a:lnTo>
                    <a:pt x="628650" y="39687"/>
                  </a:lnTo>
                  <a:lnTo>
                    <a:pt x="628650" y="198436"/>
                  </a:lnTo>
                  <a:lnTo>
                    <a:pt x="625531" y="213885"/>
                  </a:lnTo>
                  <a:lnTo>
                    <a:pt x="617026" y="226500"/>
                  </a:lnTo>
                  <a:lnTo>
                    <a:pt x="604411" y="235006"/>
                  </a:lnTo>
                  <a:lnTo>
                    <a:pt x="588962" y="238125"/>
                  </a:lnTo>
                  <a:lnTo>
                    <a:pt x="39687" y="238125"/>
                  </a:lnTo>
                  <a:lnTo>
                    <a:pt x="24238" y="235006"/>
                  </a:lnTo>
                  <a:lnTo>
                    <a:pt x="11623" y="226500"/>
                  </a:lnTo>
                  <a:lnTo>
                    <a:pt x="3118" y="213885"/>
                  </a:lnTo>
                  <a:lnTo>
                    <a:pt x="0" y="198436"/>
                  </a:lnTo>
                  <a:lnTo>
                    <a:pt x="0" y="3968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38162" y="4310126"/>
              <a:ext cx="628650" cy="238125"/>
            </a:xfrm>
            <a:custGeom>
              <a:avLst/>
              <a:gdLst/>
              <a:ahLst/>
              <a:cxnLst/>
              <a:rect l="l" t="t" r="r" b="b"/>
              <a:pathLst>
                <a:path w="628650" h="238125">
                  <a:moveTo>
                    <a:pt x="588962" y="0"/>
                  </a:moveTo>
                  <a:lnTo>
                    <a:pt x="39687" y="0"/>
                  </a:lnTo>
                  <a:lnTo>
                    <a:pt x="24238" y="3101"/>
                  </a:lnTo>
                  <a:lnTo>
                    <a:pt x="11623" y="11572"/>
                  </a:lnTo>
                  <a:lnTo>
                    <a:pt x="3118" y="24163"/>
                  </a:lnTo>
                  <a:lnTo>
                    <a:pt x="0" y="39624"/>
                  </a:lnTo>
                  <a:lnTo>
                    <a:pt x="0" y="198374"/>
                  </a:lnTo>
                  <a:lnTo>
                    <a:pt x="3118" y="213854"/>
                  </a:lnTo>
                  <a:lnTo>
                    <a:pt x="11623" y="226488"/>
                  </a:lnTo>
                  <a:lnTo>
                    <a:pt x="24238" y="235003"/>
                  </a:lnTo>
                  <a:lnTo>
                    <a:pt x="39687" y="238125"/>
                  </a:lnTo>
                  <a:lnTo>
                    <a:pt x="588962" y="238125"/>
                  </a:lnTo>
                  <a:lnTo>
                    <a:pt x="604411" y="235003"/>
                  </a:lnTo>
                  <a:lnTo>
                    <a:pt x="617026" y="226488"/>
                  </a:lnTo>
                  <a:lnTo>
                    <a:pt x="625531" y="213854"/>
                  </a:lnTo>
                  <a:lnTo>
                    <a:pt x="628650" y="198374"/>
                  </a:lnTo>
                  <a:lnTo>
                    <a:pt x="628650" y="39624"/>
                  </a:lnTo>
                  <a:lnTo>
                    <a:pt x="625531" y="24163"/>
                  </a:lnTo>
                  <a:lnTo>
                    <a:pt x="617026" y="11572"/>
                  </a:lnTo>
                  <a:lnTo>
                    <a:pt x="604411" y="3101"/>
                  </a:lnTo>
                  <a:lnTo>
                    <a:pt x="588962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38162" y="4310126"/>
              <a:ext cx="628650" cy="238125"/>
            </a:xfrm>
            <a:custGeom>
              <a:avLst/>
              <a:gdLst/>
              <a:ahLst/>
              <a:cxnLst/>
              <a:rect l="l" t="t" r="r" b="b"/>
              <a:pathLst>
                <a:path w="628650" h="238125">
                  <a:moveTo>
                    <a:pt x="0" y="39624"/>
                  </a:moveTo>
                  <a:lnTo>
                    <a:pt x="3118" y="24163"/>
                  </a:lnTo>
                  <a:lnTo>
                    <a:pt x="11623" y="11572"/>
                  </a:lnTo>
                  <a:lnTo>
                    <a:pt x="24238" y="3101"/>
                  </a:lnTo>
                  <a:lnTo>
                    <a:pt x="39687" y="0"/>
                  </a:lnTo>
                  <a:lnTo>
                    <a:pt x="588962" y="0"/>
                  </a:lnTo>
                  <a:lnTo>
                    <a:pt x="604411" y="3101"/>
                  </a:lnTo>
                  <a:lnTo>
                    <a:pt x="617026" y="11572"/>
                  </a:lnTo>
                  <a:lnTo>
                    <a:pt x="625531" y="24163"/>
                  </a:lnTo>
                  <a:lnTo>
                    <a:pt x="628650" y="39624"/>
                  </a:lnTo>
                  <a:lnTo>
                    <a:pt x="628650" y="198374"/>
                  </a:lnTo>
                  <a:lnTo>
                    <a:pt x="625531" y="213854"/>
                  </a:lnTo>
                  <a:lnTo>
                    <a:pt x="617026" y="226488"/>
                  </a:lnTo>
                  <a:lnTo>
                    <a:pt x="604411" y="235003"/>
                  </a:lnTo>
                  <a:lnTo>
                    <a:pt x="588962" y="238125"/>
                  </a:lnTo>
                  <a:lnTo>
                    <a:pt x="39687" y="238125"/>
                  </a:lnTo>
                  <a:lnTo>
                    <a:pt x="24238" y="235003"/>
                  </a:lnTo>
                  <a:lnTo>
                    <a:pt x="11623" y="226488"/>
                  </a:lnTo>
                  <a:lnTo>
                    <a:pt x="3118" y="213854"/>
                  </a:lnTo>
                  <a:lnTo>
                    <a:pt x="0" y="198374"/>
                  </a:lnTo>
                  <a:lnTo>
                    <a:pt x="0" y="3962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710133" y="5503926"/>
              <a:ext cx="176326" cy="131127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710476" y="4812665"/>
              <a:ext cx="175602" cy="129032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081087" y="5176901"/>
              <a:ext cx="76200" cy="142875"/>
            </a:xfrm>
            <a:custGeom>
              <a:avLst/>
              <a:gdLst/>
              <a:ahLst/>
              <a:cxnLst/>
              <a:rect l="l" t="t" r="r" b="b"/>
              <a:pathLst>
                <a:path w="76200" h="142875">
                  <a:moveTo>
                    <a:pt x="76200" y="0"/>
                  </a:moveTo>
                  <a:lnTo>
                    <a:pt x="0" y="0"/>
                  </a:lnTo>
                  <a:lnTo>
                    <a:pt x="0" y="142875"/>
                  </a:lnTo>
                  <a:lnTo>
                    <a:pt x="76200" y="1428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45A3C4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81087" y="5176901"/>
              <a:ext cx="76200" cy="142875"/>
            </a:xfrm>
            <a:custGeom>
              <a:avLst/>
              <a:gdLst/>
              <a:ahLst/>
              <a:cxnLst/>
              <a:rect l="l" t="t" r="r" b="b"/>
              <a:pathLst>
                <a:path w="76200" h="142875">
                  <a:moveTo>
                    <a:pt x="0" y="142875"/>
                  </a:moveTo>
                  <a:lnTo>
                    <a:pt x="76200" y="142875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1428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224276" y="6015037"/>
              <a:ext cx="390525" cy="95250"/>
            </a:xfrm>
            <a:custGeom>
              <a:avLst/>
              <a:gdLst/>
              <a:ahLst/>
              <a:cxnLst/>
              <a:rect l="l" t="t" r="r" b="b"/>
              <a:pathLst>
                <a:path w="390525" h="95250">
                  <a:moveTo>
                    <a:pt x="342900" y="0"/>
                  </a:moveTo>
                  <a:lnTo>
                    <a:pt x="342900" y="23812"/>
                  </a:lnTo>
                  <a:lnTo>
                    <a:pt x="47625" y="23812"/>
                  </a:lnTo>
                  <a:lnTo>
                    <a:pt x="47625" y="0"/>
                  </a:lnTo>
                  <a:lnTo>
                    <a:pt x="0" y="47625"/>
                  </a:lnTo>
                  <a:lnTo>
                    <a:pt x="47625" y="95250"/>
                  </a:lnTo>
                  <a:lnTo>
                    <a:pt x="47625" y="71437"/>
                  </a:lnTo>
                  <a:lnTo>
                    <a:pt x="342900" y="71437"/>
                  </a:lnTo>
                  <a:lnTo>
                    <a:pt x="342900" y="95250"/>
                  </a:lnTo>
                  <a:lnTo>
                    <a:pt x="390525" y="47625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224276" y="6015037"/>
              <a:ext cx="390525" cy="95250"/>
            </a:xfrm>
            <a:custGeom>
              <a:avLst/>
              <a:gdLst/>
              <a:ahLst/>
              <a:cxnLst/>
              <a:rect l="l" t="t" r="r" b="b"/>
              <a:pathLst>
                <a:path w="390525" h="95250">
                  <a:moveTo>
                    <a:pt x="0" y="47625"/>
                  </a:moveTo>
                  <a:lnTo>
                    <a:pt x="47625" y="0"/>
                  </a:lnTo>
                  <a:lnTo>
                    <a:pt x="47625" y="23812"/>
                  </a:lnTo>
                  <a:lnTo>
                    <a:pt x="342900" y="23812"/>
                  </a:lnTo>
                  <a:lnTo>
                    <a:pt x="342900" y="0"/>
                  </a:lnTo>
                  <a:lnTo>
                    <a:pt x="390525" y="47625"/>
                  </a:lnTo>
                  <a:lnTo>
                    <a:pt x="342900" y="95250"/>
                  </a:lnTo>
                  <a:lnTo>
                    <a:pt x="342900" y="71437"/>
                  </a:lnTo>
                  <a:lnTo>
                    <a:pt x="47625" y="71437"/>
                  </a:lnTo>
                  <a:lnTo>
                    <a:pt x="47625" y="95250"/>
                  </a:lnTo>
                  <a:lnTo>
                    <a:pt x="0" y="4762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967226" y="6538912"/>
              <a:ext cx="628650" cy="247650"/>
            </a:xfrm>
            <a:custGeom>
              <a:avLst/>
              <a:gdLst/>
              <a:ahLst/>
              <a:cxnLst/>
              <a:rect l="l" t="t" r="r" b="b"/>
              <a:pathLst>
                <a:path w="628650" h="247650">
                  <a:moveTo>
                    <a:pt x="587375" y="0"/>
                  </a:moveTo>
                  <a:lnTo>
                    <a:pt x="41275" y="0"/>
                  </a:lnTo>
                  <a:lnTo>
                    <a:pt x="25181" y="3243"/>
                  </a:lnTo>
                  <a:lnTo>
                    <a:pt x="12064" y="12088"/>
                  </a:lnTo>
                  <a:lnTo>
                    <a:pt x="3234" y="25208"/>
                  </a:lnTo>
                  <a:lnTo>
                    <a:pt x="0" y="41275"/>
                  </a:lnTo>
                  <a:lnTo>
                    <a:pt x="0" y="206373"/>
                  </a:lnTo>
                  <a:lnTo>
                    <a:pt x="3234" y="222440"/>
                  </a:lnTo>
                  <a:lnTo>
                    <a:pt x="12065" y="235559"/>
                  </a:lnTo>
                  <a:lnTo>
                    <a:pt x="25181" y="244405"/>
                  </a:lnTo>
                  <a:lnTo>
                    <a:pt x="41275" y="247648"/>
                  </a:lnTo>
                  <a:lnTo>
                    <a:pt x="587375" y="247648"/>
                  </a:lnTo>
                  <a:lnTo>
                    <a:pt x="603414" y="244405"/>
                  </a:lnTo>
                  <a:lnTo>
                    <a:pt x="616537" y="235559"/>
                  </a:lnTo>
                  <a:lnTo>
                    <a:pt x="625397" y="222440"/>
                  </a:lnTo>
                  <a:lnTo>
                    <a:pt x="628650" y="206373"/>
                  </a:lnTo>
                  <a:lnTo>
                    <a:pt x="628650" y="41275"/>
                  </a:lnTo>
                  <a:lnTo>
                    <a:pt x="625397" y="25208"/>
                  </a:lnTo>
                  <a:lnTo>
                    <a:pt x="616537" y="12088"/>
                  </a:lnTo>
                  <a:lnTo>
                    <a:pt x="603414" y="3243"/>
                  </a:lnTo>
                  <a:lnTo>
                    <a:pt x="587375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967226" y="6538912"/>
              <a:ext cx="628650" cy="247650"/>
            </a:xfrm>
            <a:custGeom>
              <a:avLst/>
              <a:gdLst/>
              <a:ahLst/>
              <a:cxnLst/>
              <a:rect l="l" t="t" r="r" b="b"/>
              <a:pathLst>
                <a:path w="628650" h="247650">
                  <a:moveTo>
                    <a:pt x="0" y="41275"/>
                  </a:moveTo>
                  <a:lnTo>
                    <a:pt x="3234" y="25208"/>
                  </a:lnTo>
                  <a:lnTo>
                    <a:pt x="12064" y="12088"/>
                  </a:lnTo>
                  <a:lnTo>
                    <a:pt x="25181" y="3243"/>
                  </a:lnTo>
                  <a:lnTo>
                    <a:pt x="41275" y="0"/>
                  </a:lnTo>
                  <a:lnTo>
                    <a:pt x="587375" y="0"/>
                  </a:lnTo>
                  <a:lnTo>
                    <a:pt x="603414" y="3243"/>
                  </a:lnTo>
                  <a:lnTo>
                    <a:pt x="616537" y="12088"/>
                  </a:lnTo>
                  <a:lnTo>
                    <a:pt x="625397" y="25208"/>
                  </a:lnTo>
                  <a:lnTo>
                    <a:pt x="628650" y="41275"/>
                  </a:lnTo>
                  <a:lnTo>
                    <a:pt x="628650" y="206373"/>
                  </a:lnTo>
                  <a:lnTo>
                    <a:pt x="625397" y="222440"/>
                  </a:lnTo>
                  <a:lnTo>
                    <a:pt x="616537" y="235559"/>
                  </a:lnTo>
                  <a:lnTo>
                    <a:pt x="603414" y="244405"/>
                  </a:lnTo>
                  <a:lnTo>
                    <a:pt x="587375" y="247648"/>
                  </a:lnTo>
                  <a:lnTo>
                    <a:pt x="41275" y="247648"/>
                  </a:lnTo>
                  <a:lnTo>
                    <a:pt x="25181" y="244405"/>
                  </a:lnTo>
                  <a:lnTo>
                    <a:pt x="12065" y="235559"/>
                  </a:lnTo>
                  <a:lnTo>
                    <a:pt x="3234" y="222440"/>
                  </a:lnTo>
                  <a:lnTo>
                    <a:pt x="0" y="206373"/>
                  </a:lnTo>
                  <a:lnTo>
                    <a:pt x="0" y="412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252976" y="5795962"/>
              <a:ext cx="47625" cy="742950"/>
            </a:xfrm>
            <a:custGeom>
              <a:avLst/>
              <a:gdLst/>
              <a:ahLst/>
              <a:cxnLst/>
              <a:rect l="l" t="t" r="r" b="b"/>
              <a:pathLst>
                <a:path w="47625" h="742950">
                  <a:moveTo>
                    <a:pt x="47625" y="0"/>
                  </a:moveTo>
                  <a:lnTo>
                    <a:pt x="0" y="0"/>
                  </a:lnTo>
                  <a:lnTo>
                    <a:pt x="0" y="742950"/>
                  </a:lnTo>
                  <a:lnTo>
                    <a:pt x="47625" y="742950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252976" y="5795962"/>
              <a:ext cx="47625" cy="742950"/>
            </a:xfrm>
            <a:custGeom>
              <a:avLst/>
              <a:gdLst/>
              <a:ahLst/>
              <a:cxnLst/>
              <a:rect l="l" t="t" r="r" b="b"/>
              <a:pathLst>
                <a:path w="47625" h="742950">
                  <a:moveTo>
                    <a:pt x="0" y="742950"/>
                  </a:moveTo>
                  <a:lnTo>
                    <a:pt x="47625" y="742950"/>
                  </a:lnTo>
                  <a:lnTo>
                    <a:pt x="47625" y="0"/>
                  </a:lnTo>
                  <a:lnTo>
                    <a:pt x="0" y="0"/>
                  </a:lnTo>
                  <a:lnTo>
                    <a:pt x="0" y="74295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995801" y="4319651"/>
              <a:ext cx="628650" cy="238125"/>
            </a:xfrm>
            <a:custGeom>
              <a:avLst/>
              <a:gdLst/>
              <a:ahLst/>
              <a:cxnLst/>
              <a:rect l="l" t="t" r="r" b="b"/>
              <a:pathLst>
                <a:path w="628650" h="238125">
                  <a:moveTo>
                    <a:pt x="588899" y="0"/>
                  </a:moveTo>
                  <a:lnTo>
                    <a:pt x="39624" y="0"/>
                  </a:lnTo>
                  <a:lnTo>
                    <a:pt x="24163" y="3101"/>
                  </a:lnTo>
                  <a:lnTo>
                    <a:pt x="11572" y="11572"/>
                  </a:lnTo>
                  <a:lnTo>
                    <a:pt x="3101" y="24163"/>
                  </a:lnTo>
                  <a:lnTo>
                    <a:pt x="0" y="39624"/>
                  </a:lnTo>
                  <a:lnTo>
                    <a:pt x="0" y="198374"/>
                  </a:lnTo>
                  <a:lnTo>
                    <a:pt x="3101" y="213854"/>
                  </a:lnTo>
                  <a:lnTo>
                    <a:pt x="11572" y="226488"/>
                  </a:lnTo>
                  <a:lnTo>
                    <a:pt x="24163" y="235003"/>
                  </a:lnTo>
                  <a:lnTo>
                    <a:pt x="39624" y="238125"/>
                  </a:lnTo>
                  <a:lnTo>
                    <a:pt x="588899" y="238125"/>
                  </a:lnTo>
                  <a:lnTo>
                    <a:pt x="604379" y="235003"/>
                  </a:lnTo>
                  <a:lnTo>
                    <a:pt x="617013" y="226488"/>
                  </a:lnTo>
                  <a:lnTo>
                    <a:pt x="625528" y="213854"/>
                  </a:lnTo>
                  <a:lnTo>
                    <a:pt x="628650" y="198374"/>
                  </a:lnTo>
                  <a:lnTo>
                    <a:pt x="628650" y="39624"/>
                  </a:lnTo>
                  <a:lnTo>
                    <a:pt x="625528" y="24163"/>
                  </a:lnTo>
                  <a:lnTo>
                    <a:pt x="617013" y="11572"/>
                  </a:lnTo>
                  <a:lnTo>
                    <a:pt x="604379" y="3101"/>
                  </a:lnTo>
                  <a:lnTo>
                    <a:pt x="588899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995801" y="4319651"/>
              <a:ext cx="628650" cy="238125"/>
            </a:xfrm>
            <a:custGeom>
              <a:avLst/>
              <a:gdLst/>
              <a:ahLst/>
              <a:cxnLst/>
              <a:rect l="l" t="t" r="r" b="b"/>
              <a:pathLst>
                <a:path w="628650" h="238125">
                  <a:moveTo>
                    <a:pt x="0" y="39624"/>
                  </a:moveTo>
                  <a:lnTo>
                    <a:pt x="3101" y="24163"/>
                  </a:lnTo>
                  <a:lnTo>
                    <a:pt x="11572" y="11572"/>
                  </a:lnTo>
                  <a:lnTo>
                    <a:pt x="24163" y="3101"/>
                  </a:lnTo>
                  <a:lnTo>
                    <a:pt x="39624" y="0"/>
                  </a:lnTo>
                  <a:lnTo>
                    <a:pt x="588899" y="0"/>
                  </a:lnTo>
                  <a:lnTo>
                    <a:pt x="604379" y="3101"/>
                  </a:lnTo>
                  <a:lnTo>
                    <a:pt x="617013" y="11572"/>
                  </a:lnTo>
                  <a:lnTo>
                    <a:pt x="625528" y="24163"/>
                  </a:lnTo>
                  <a:lnTo>
                    <a:pt x="628650" y="39624"/>
                  </a:lnTo>
                  <a:lnTo>
                    <a:pt x="628650" y="198374"/>
                  </a:lnTo>
                  <a:lnTo>
                    <a:pt x="625528" y="213854"/>
                  </a:lnTo>
                  <a:lnTo>
                    <a:pt x="617013" y="226488"/>
                  </a:lnTo>
                  <a:lnTo>
                    <a:pt x="604379" y="235003"/>
                  </a:lnTo>
                  <a:lnTo>
                    <a:pt x="588899" y="238125"/>
                  </a:lnTo>
                  <a:lnTo>
                    <a:pt x="39624" y="238125"/>
                  </a:lnTo>
                  <a:lnTo>
                    <a:pt x="24163" y="235003"/>
                  </a:lnTo>
                  <a:lnTo>
                    <a:pt x="11572" y="226488"/>
                  </a:lnTo>
                  <a:lnTo>
                    <a:pt x="3101" y="213854"/>
                  </a:lnTo>
                  <a:lnTo>
                    <a:pt x="0" y="198374"/>
                  </a:lnTo>
                  <a:lnTo>
                    <a:pt x="0" y="3962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252976" y="4557776"/>
              <a:ext cx="47625" cy="685800"/>
            </a:xfrm>
            <a:custGeom>
              <a:avLst/>
              <a:gdLst/>
              <a:ahLst/>
              <a:cxnLst/>
              <a:rect l="l" t="t" r="r" b="b"/>
              <a:pathLst>
                <a:path w="47625" h="685800">
                  <a:moveTo>
                    <a:pt x="47625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47625" y="685800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252976" y="4557776"/>
              <a:ext cx="47625" cy="685800"/>
            </a:xfrm>
            <a:custGeom>
              <a:avLst/>
              <a:gdLst/>
              <a:ahLst/>
              <a:cxnLst/>
              <a:rect l="l" t="t" r="r" b="b"/>
              <a:pathLst>
                <a:path w="47625" h="685800">
                  <a:moveTo>
                    <a:pt x="0" y="685800"/>
                  </a:moveTo>
                  <a:lnTo>
                    <a:pt x="47625" y="685800"/>
                  </a:lnTo>
                  <a:lnTo>
                    <a:pt x="47625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634219" y="5010046"/>
            <a:ext cx="386715" cy="39818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lang="en-US" sz="800" spc="25">
                <a:latin typeface="Calibri"/>
                <a:cs typeface="Calibri"/>
              </a:rPr>
              <a:t>Open </a:t>
            </a:r>
          </a:p>
          <a:p>
            <a:pPr marL="69850">
              <a:lnSpc>
                <a:spcPct val="100000"/>
              </a:lnSpc>
              <a:spcBef>
                <a:spcPts val="125"/>
              </a:spcBef>
            </a:pPr>
            <a:r>
              <a:rPr lang="en-US" sz="800" spc="25">
                <a:latin typeface="Calibri"/>
                <a:cs typeface="Calibri"/>
              </a:rPr>
              <a:t>Differential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639311" y="5433314"/>
            <a:ext cx="81153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sz="650" spc="10">
                <a:latin typeface="Calibri"/>
                <a:cs typeface="Calibri"/>
              </a:rPr>
              <a:t>Reduction</a:t>
            </a:r>
            <a:r>
              <a:rPr sz="650" spc="75">
                <a:latin typeface="Calibri"/>
                <a:cs typeface="Calibri"/>
              </a:rPr>
              <a:t> </a:t>
            </a:r>
            <a:r>
              <a:rPr sz="650" spc="5">
                <a:latin typeface="Calibri"/>
                <a:cs typeface="Calibri"/>
              </a:rPr>
              <a:t>Gearbox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835020" y="5526404"/>
            <a:ext cx="259079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20">
                <a:latin typeface="Calibri"/>
                <a:cs typeface="Calibri"/>
              </a:rPr>
              <a:t>E</a:t>
            </a:r>
            <a:r>
              <a:rPr sz="650" spc="30">
                <a:latin typeface="Calibri"/>
                <a:cs typeface="Calibri"/>
              </a:rPr>
              <a:t>n</a:t>
            </a:r>
            <a:r>
              <a:rPr sz="650" spc="-10">
                <a:latin typeface="Calibri"/>
                <a:cs typeface="Calibri"/>
              </a:rPr>
              <a:t>g</a:t>
            </a:r>
            <a:r>
              <a:rPr sz="650" spc="-5">
                <a:latin typeface="Calibri"/>
                <a:cs typeface="Calibri"/>
              </a:rPr>
              <a:t>i</a:t>
            </a:r>
            <a:r>
              <a:rPr sz="650" spc="30">
                <a:latin typeface="Calibri"/>
                <a:cs typeface="Calibri"/>
              </a:rPr>
              <a:t>n</a:t>
            </a:r>
            <a:r>
              <a:rPr sz="650" spc="10">
                <a:latin typeface="Calibri"/>
                <a:cs typeface="Calibri"/>
              </a:rPr>
              <a:t>e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329940" y="6098222"/>
            <a:ext cx="16256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20">
                <a:latin typeface="Calibri"/>
                <a:cs typeface="Calibri"/>
              </a:rPr>
              <a:t>C</a:t>
            </a:r>
            <a:r>
              <a:rPr sz="650">
                <a:latin typeface="Calibri"/>
                <a:cs typeface="Calibri"/>
              </a:rPr>
              <a:t>V</a:t>
            </a:r>
            <a:r>
              <a:rPr sz="650" spc="10">
                <a:latin typeface="Calibri"/>
                <a:cs typeface="Calibri"/>
              </a:rPr>
              <a:t>T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897633" y="5074284"/>
            <a:ext cx="558800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>
                <a:latin typeface="Calibri"/>
                <a:cs typeface="Calibri"/>
              </a:rPr>
              <a:t>Propeller</a:t>
            </a:r>
            <a:r>
              <a:rPr sz="650" spc="105">
                <a:latin typeface="Calibri"/>
                <a:cs typeface="Calibri"/>
              </a:rPr>
              <a:t> </a:t>
            </a:r>
            <a:r>
              <a:rPr sz="650" spc="15">
                <a:latin typeface="Calibri"/>
                <a:cs typeface="Calibri"/>
              </a:rPr>
              <a:t>shaft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477964" y="4724400"/>
            <a:ext cx="4231640" cy="1640205"/>
          </a:xfrm>
          <a:custGeom>
            <a:avLst/>
            <a:gdLst/>
            <a:ahLst/>
            <a:cxnLst/>
            <a:rect l="l" t="t" r="r" b="b"/>
            <a:pathLst>
              <a:path w="4231640" h="1640204">
                <a:moveTo>
                  <a:pt x="285483" y="0"/>
                </a:moveTo>
                <a:lnTo>
                  <a:pt x="205460" y="29210"/>
                </a:lnTo>
                <a:lnTo>
                  <a:pt x="230835" y="53187"/>
                </a:lnTo>
                <a:lnTo>
                  <a:pt x="736" y="296672"/>
                </a:lnTo>
                <a:lnTo>
                  <a:pt x="5359" y="301117"/>
                </a:lnTo>
                <a:lnTo>
                  <a:pt x="235432" y="57531"/>
                </a:lnTo>
                <a:lnTo>
                  <a:pt x="260858" y="81534"/>
                </a:lnTo>
                <a:lnTo>
                  <a:pt x="272199" y="43942"/>
                </a:lnTo>
                <a:lnTo>
                  <a:pt x="285483" y="0"/>
                </a:lnTo>
                <a:close/>
              </a:path>
              <a:path w="4231640" h="1640204">
                <a:moveTo>
                  <a:pt x="317347" y="1310792"/>
                </a:moveTo>
                <a:lnTo>
                  <a:pt x="283819" y="1320596"/>
                </a:lnTo>
                <a:lnTo>
                  <a:pt x="6096" y="370459"/>
                </a:lnTo>
                <a:lnTo>
                  <a:pt x="0" y="372364"/>
                </a:lnTo>
                <a:lnTo>
                  <a:pt x="277723" y="1322374"/>
                </a:lnTo>
                <a:lnTo>
                  <a:pt x="244208" y="1332166"/>
                </a:lnTo>
                <a:lnTo>
                  <a:pt x="302158" y="1394612"/>
                </a:lnTo>
                <a:lnTo>
                  <a:pt x="313029" y="1334554"/>
                </a:lnTo>
                <a:lnTo>
                  <a:pt x="317347" y="1310792"/>
                </a:lnTo>
                <a:close/>
              </a:path>
              <a:path w="4231640" h="1640204">
                <a:moveTo>
                  <a:pt x="4228274" y="1173467"/>
                </a:moveTo>
                <a:lnTo>
                  <a:pt x="4223194" y="1169555"/>
                </a:lnTo>
                <a:lnTo>
                  <a:pt x="3905008" y="1577746"/>
                </a:lnTo>
                <a:lnTo>
                  <a:pt x="3877500" y="1556283"/>
                </a:lnTo>
                <a:lnTo>
                  <a:pt x="3860736" y="1639811"/>
                </a:lnTo>
                <a:lnTo>
                  <a:pt x="3937571" y="1603133"/>
                </a:lnTo>
                <a:lnTo>
                  <a:pt x="3922877" y="1591678"/>
                </a:lnTo>
                <a:lnTo>
                  <a:pt x="3910050" y="1581683"/>
                </a:lnTo>
                <a:lnTo>
                  <a:pt x="4228274" y="1173467"/>
                </a:lnTo>
                <a:close/>
              </a:path>
              <a:path w="4231640" h="1640204">
                <a:moveTo>
                  <a:pt x="4231195" y="1089736"/>
                </a:moveTo>
                <a:lnTo>
                  <a:pt x="3882288" y="212420"/>
                </a:lnTo>
                <a:lnTo>
                  <a:pt x="3911828" y="200660"/>
                </a:lnTo>
                <a:lnTo>
                  <a:pt x="3914711" y="199517"/>
                </a:lnTo>
                <a:lnTo>
                  <a:pt x="3851084" y="142748"/>
                </a:lnTo>
                <a:lnTo>
                  <a:pt x="3843845" y="227711"/>
                </a:lnTo>
                <a:lnTo>
                  <a:pt x="3876357" y="214782"/>
                </a:lnTo>
                <a:lnTo>
                  <a:pt x="4225226" y="1092085"/>
                </a:lnTo>
                <a:lnTo>
                  <a:pt x="4231195" y="108973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4730115" y="5681027"/>
            <a:ext cx="206375" cy="2336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20">
                <a:latin typeface="Calibri"/>
                <a:cs typeface="Calibri"/>
              </a:rPr>
              <a:t>Uv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>
                <a:latin typeface="Calibri"/>
                <a:cs typeface="Calibri"/>
              </a:rPr>
              <a:t>s</a:t>
            </a:r>
            <a:r>
              <a:rPr sz="650" spc="30">
                <a:latin typeface="Calibri"/>
                <a:cs typeface="Calibri"/>
              </a:rPr>
              <a:t>h</a:t>
            </a:r>
            <a:r>
              <a:rPr sz="650" spc="-15">
                <a:latin typeface="Calibri"/>
                <a:cs typeface="Calibri"/>
              </a:rPr>
              <a:t>a</a:t>
            </a:r>
            <a:r>
              <a:rPr sz="650" spc="20">
                <a:latin typeface="Calibri"/>
                <a:cs typeface="Calibri"/>
              </a:rPr>
              <a:t>f</a:t>
            </a:r>
            <a:r>
              <a:rPr sz="650" spc="5">
                <a:latin typeface="Calibri"/>
                <a:cs typeface="Calibri"/>
              </a:rPr>
              <a:t>t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46062" y="4905946"/>
            <a:ext cx="211391" cy="2289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15">
                <a:latin typeface="Calibri"/>
                <a:cs typeface="Calibri"/>
              </a:rPr>
              <a:t>Cv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40">
                <a:latin typeface="Calibri"/>
                <a:cs typeface="Calibri"/>
              </a:rPr>
              <a:t>s</a:t>
            </a:r>
            <a:r>
              <a:rPr sz="650" spc="30">
                <a:latin typeface="Calibri"/>
                <a:cs typeface="Calibri"/>
              </a:rPr>
              <a:t>h</a:t>
            </a:r>
            <a:r>
              <a:rPr sz="650" spc="-15">
                <a:latin typeface="Calibri"/>
                <a:cs typeface="Calibri"/>
              </a:rPr>
              <a:t>a</a:t>
            </a:r>
            <a:r>
              <a:rPr sz="650" spc="20">
                <a:latin typeface="Calibri"/>
                <a:cs typeface="Calibri"/>
              </a:rPr>
              <a:t>f</a:t>
            </a:r>
            <a:r>
              <a:rPr sz="650" spc="5">
                <a:latin typeface="Calibri"/>
                <a:cs typeface="Calibri"/>
              </a:rPr>
              <a:t>t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35889" y="27622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7E7E7E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839976" y="6485254"/>
            <a:ext cx="140144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>
                <a:latin typeface="Calibri"/>
                <a:cs typeface="Calibri"/>
              </a:rPr>
              <a:t>P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>
                <a:latin typeface="Calibri"/>
                <a:cs typeface="Calibri"/>
              </a:rPr>
              <a:t>w</a:t>
            </a:r>
            <a:r>
              <a:rPr sz="1400" b="1" spc="40">
                <a:latin typeface="Calibri"/>
                <a:cs typeface="Calibri"/>
              </a:rPr>
              <a:t>e</a:t>
            </a:r>
            <a:r>
              <a:rPr sz="1400" b="1" spc="5">
                <a:latin typeface="Calibri"/>
                <a:cs typeface="Calibri"/>
              </a:rPr>
              <a:t>r</a:t>
            </a:r>
            <a:r>
              <a:rPr sz="1400" b="1" spc="-75">
                <a:latin typeface="Calibri"/>
                <a:cs typeface="Calibri"/>
              </a:rPr>
              <a:t> </a:t>
            </a:r>
            <a:r>
              <a:rPr sz="1400" b="1" spc="30">
                <a:latin typeface="Calibri"/>
                <a:cs typeface="Calibri"/>
              </a:rPr>
              <a:t>t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10">
                <a:latin typeface="Calibri"/>
                <a:cs typeface="Calibri"/>
              </a:rPr>
              <a:t>n</a:t>
            </a:r>
            <a:r>
              <a:rPr sz="1400" b="1" spc="-110">
                <a:latin typeface="Calibri"/>
                <a:cs typeface="Calibri"/>
              </a:rPr>
              <a:t> 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10">
                <a:latin typeface="Calibri"/>
                <a:cs typeface="Calibri"/>
              </a:rPr>
              <a:t>y</a:t>
            </a:r>
            <a:r>
              <a:rPr sz="1400" b="1" spc="-10">
                <a:latin typeface="Calibri"/>
                <a:cs typeface="Calibri"/>
              </a:rPr>
              <a:t>ou</a:t>
            </a:r>
            <a:r>
              <a:rPr sz="1400" b="1" spc="5">
                <a:latin typeface="Calibri"/>
                <a:cs typeface="Calibri"/>
              </a:rPr>
              <a:t>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91BCCE-EF8A-DB6E-DA51-CD3A324CDEC5}"/>
              </a:ext>
            </a:extLst>
          </p:cNvPr>
          <p:cNvSpPr txBox="1"/>
          <p:nvPr/>
        </p:nvSpPr>
        <p:spPr>
          <a:xfrm>
            <a:off x="1610815" y="4340010"/>
            <a:ext cx="19857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/>
              <a:t>Rear: UV axles</a:t>
            </a:r>
          </a:p>
          <a:p>
            <a:r>
              <a:rPr lang="en-US" sz="1000"/>
              <a:t>Front: </a:t>
            </a:r>
            <a:r>
              <a:rPr lang="en-IN" sz="1000"/>
              <a:t>CV axles-&gt;Inboard: Tripod  </a:t>
            </a:r>
          </a:p>
          <a:p>
            <a:r>
              <a:rPr lang="en-IN" sz="1000"/>
              <a:t>                              Outboard: Rzeppa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/>
          <a:stretch>
            <a:fillRect/>
          </a:stretch>
        </p:blipFill>
        <p:spPr>
          <a:xfrm>
            <a:off x="4633848" y="2951480"/>
            <a:ext cx="2743200" cy="17049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16728" y="199072"/>
            <a:ext cx="11887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30"/>
              <a:t>4</a:t>
            </a:r>
            <a:r>
              <a:rPr spc="-15"/>
              <a:t>W</a:t>
            </a:r>
            <a:r>
              <a:rPr spc="10"/>
              <a:t>D</a:t>
            </a:r>
            <a:r>
              <a:rPr spc="-40"/>
              <a:t>/</a:t>
            </a:r>
            <a:r>
              <a:rPr spc="-90"/>
              <a:t>A</a:t>
            </a:r>
            <a:r>
              <a:rPr spc="-15"/>
              <a:t>W</a:t>
            </a:r>
            <a:r>
              <a:rPr spc="15"/>
              <a:t>D</a:t>
            </a:r>
          </a:p>
        </p:txBody>
      </p:sp>
      <p:pic>
        <p:nvPicPr>
          <p:cNvPr id="4" name="object 4"/>
          <p:cNvPicPr/>
          <p:nvPr/>
        </p:nvPicPr>
        <p:blipFill>
          <a:blip r:embed="rId4"/>
          <a:stretch>
            <a:fillRect/>
          </a:stretch>
        </p:blipFill>
        <p:spPr>
          <a:xfrm>
            <a:off x="704850" y="238125"/>
            <a:ext cx="3038475" cy="20669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4517" y="2197226"/>
            <a:ext cx="3408045" cy="2578591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35355">
              <a:lnSpc>
                <a:spcPct val="100000"/>
              </a:lnSpc>
              <a:spcBef>
                <a:spcPts val="550"/>
              </a:spcBef>
            </a:pPr>
            <a:r>
              <a:rPr sz="1400" b="1" spc="35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1400" b="1" spc="40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1400" b="1" spc="-2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sz="1400" b="1" spc="5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1400" b="1" spc="-7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b="1" spc="35">
                <a:solidFill>
                  <a:srgbClr val="585858"/>
                </a:solidFill>
                <a:latin typeface="Calibri"/>
                <a:cs typeface="Calibri"/>
              </a:rPr>
              <a:t>4</a:t>
            </a:r>
            <a:r>
              <a:rPr sz="1400" b="1">
                <a:solidFill>
                  <a:srgbClr val="585858"/>
                </a:solidFill>
                <a:latin typeface="Calibri"/>
                <a:cs typeface="Calibri"/>
              </a:rPr>
              <a:t>W</a:t>
            </a:r>
            <a:r>
              <a:rPr sz="1400" b="1" spc="15">
                <a:solidFill>
                  <a:srgbClr val="585858"/>
                </a:solidFill>
                <a:latin typeface="Calibri"/>
                <a:cs typeface="Calibri"/>
              </a:rPr>
              <a:t>D</a:t>
            </a:r>
            <a:r>
              <a:rPr sz="1400" b="1" spc="-9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b="1" spc="5">
                <a:solidFill>
                  <a:srgbClr val="585858"/>
                </a:solidFill>
                <a:latin typeface="Calibri"/>
                <a:cs typeface="Calibri"/>
              </a:rPr>
              <a:t>G</a:t>
            </a:r>
            <a:r>
              <a:rPr sz="1400" b="1" spc="40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1400" b="1" spc="-2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sz="1400" b="1" spc="20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1400" b="1" spc="-5">
                <a:solidFill>
                  <a:srgbClr val="585858"/>
                </a:solidFill>
                <a:latin typeface="Calibri"/>
                <a:cs typeface="Calibri"/>
              </a:rPr>
              <a:t>b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o</a:t>
            </a:r>
            <a:r>
              <a:rPr sz="1400" b="1" spc="10">
                <a:solidFill>
                  <a:srgbClr val="585858"/>
                </a:solidFill>
                <a:latin typeface="Calibri"/>
                <a:cs typeface="Calibri"/>
              </a:rPr>
              <a:t>x</a:t>
            </a:r>
            <a:endParaRPr sz="1400">
              <a:latin typeface="Calibri"/>
              <a:cs typeface="Calibri"/>
            </a:endParaRPr>
          </a:p>
          <a:p>
            <a:pPr marL="107950">
              <a:lnSpc>
                <a:spcPct val="100000"/>
              </a:lnSpc>
              <a:spcBef>
                <a:spcPts val="500"/>
              </a:spcBef>
            </a:pPr>
            <a:r>
              <a:rPr sz="1550" b="1" spc="-5">
                <a:latin typeface="Calibri"/>
                <a:cs typeface="Calibri"/>
              </a:rPr>
              <a:t>Gearboxes</a:t>
            </a:r>
            <a:endParaRPr sz="1550">
              <a:latin typeface="Calibri"/>
              <a:cs typeface="Calibri"/>
            </a:endParaRPr>
          </a:p>
          <a:p>
            <a:pPr marL="107950" marR="240029" indent="-95885">
              <a:lnSpc>
                <a:spcPct val="102299"/>
              </a:lnSpc>
              <a:spcBef>
                <a:spcPts val="50"/>
              </a:spcBef>
              <a:buFont typeface="Arial MT"/>
              <a:buChar char="•"/>
              <a:tabLst>
                <a:tab pos="108585" algn="l"/>
              </a:tabLst>
            </a:pPr>
            <a:r>
              <a:rPr sz="1550">
                <a:latin typeface="Calibri"/>
                <a:cs typeface="Calibri"/>
              </a:rPr>
              <a:t>EN</a:t>
            </a:r>
            <a:r>
              <a:rPr sz="1550" spc="45">
                <a:latin typeface="Calibri"/>
                <a:cs typeface="Calibri"/>
              </a:rPr>
              <a:t> </a:t>
            </a:r>
            <a:r>
              <a:rPr sz="1550" spc="25">
                <a:latin typeface="Calibri"/>
                <a:cs typeface="Calibri"/>
              </a:rPr>
              <a:t>353</a:t>
            </a:r>
            <a:r>
              <a:rPr sz="1550" spc="-3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material</a:t>
            </a:r>
            <a:r>
              <a:rPr sz="1550" spc="10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is</a:t>
            </a:r>
            <a:r>
              <a:rPr sz="1550" spc="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used</a:t>
            </a:r>
            <a:r>
              <a:rPr sz="1550" spc="90">
                <a:latin typeface="Calibri"/>
                <a:cs typeface="Calibri"/>
              </a:rPr>
              <a:t> </a:t>
            </a:r>
            <a:r>
              <a:rPr sz="1550" spc="15">
                <a:latin typeface="Calibri"/>
                <a:cs typeface="Calibri"/>
              </a:rPr>
              <a:t>in </a:t>
            </a:r>
            <a:r>
              <a:rPr sz="1550" spc="2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manufacturing</a:t>
            </a:r>
            <a:r>
              <a:rPr sz="1550" spc="9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of</a:t>
            </a:r>
            <a:r>
              <a:rPr sz="1550" spc="6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the</a:t>
            </a:r>
            <a:r>
              <a:rPr sz="1550" spc="5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gears</a:t>
            </a:r>
            <a:r>
              <a:rPr sz="1550" spc="105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due</a:t>
            </a:r>
            <a:r>
              <a:rPr sz="1550" spc="5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to</a:t>
            </a:r>
            <a:r>
              <a:rPr sz="1550" spc="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its </a:t>
            </a:r>
            <a:r>
              <a:rPr sz="1550" spc="-33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hardness,</a:t>
            </a:r>
            <a:r>
              <a:rPr sz="1550">
                <a:latin typeface="Calibri"/>
                <a:cs typeface="Calibri"/>
              </a:rPr>
              <a:t> toughness</a:t>
            </a:r>
            <a:r>
              <a:rPr sz="1550" spc="5">
                <a:latin typeface="Calibri"/>
                <a:cs typeface="Calibri"/>
              </a:rPr>
              <a:t> and </a:t>
            </a:r>
            <a:r>
              <a:rPr sz="1550">
                <a:latin typeface="Calibri"/>
                <a:cs typeface="Calibri"/>
              </a:rPr>
              <a:t>wear </a:t>
            </a:r>
            <a:r>
              <a:rPr sz="1550" spc="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resistance</a:t>
            </a:r>
            <a:endParaRPr sz="1550">
              <a:latin typeface="Calibri"/>
              <a:cs typeface="Calibri"/>
            </a:endParaRPr>
          </a:p>
          <a:p>
            <a:pPr marL="107950" indent="-95885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108585" algn="l"/>
              </a:tabLst>
            </a:pPr>
            <a:r>
              <a:rPr sz="1550" spc="20">
                <a:latin typeface="Calibri"/>
                <a:cs typeface="Calibri"/>
              </a:rPr>
              <a:t>Al6061</a:t>
            </a:r>
            <a:r>
              <a:rPr sz="1550" spc="-3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is</a:t>
            </a:r>
            <a:r>
              <a:rPr sz="1550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used</a:t>
            </a:r>
            <a:r>
              <a:rPr sz="1550" spc="9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as</a:t>
            </a:r>
            <a:r>
              <a:rPr sz="1550" spc="7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its</a:t>
            </a:r>
            <a:r>
              <a:rPr sz="1550" spc="-5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casing</a:t>
            </a:r>
            <a:r>
              <a:rPr sz="1550" spc="2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material</a:t>
            </a:r>
            <a:r>
              <a:rPr sz="1550" spc="95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due</a:t>
            </a:r>
            <a:endParaRPr sz="1550">
              <a:latin typeface="Calibri"/>
              <a:cs typeface="Calibri"/>
            </a:endParaRPr>
          </a:p>
          <a:p>
            <a:pPr marL="107950">
              <a:lnSpc>
                <a:spcPct val="100000"/>
              </a:lnSpc>
              <a:spcBef>
                <a:spcPts val="95"/>
              </a:spcBef>
            </a:pPr>
            <a:r>
              <a:rPr sz="1550" spc="10">
                <a:latin typeface="Calibri"/>
                <a:cs typeface="Calibri"/>
              </a:rPr>
              <a:t>to</a:t>
            </a:r>
            <a:r>
              <a:rPr sz="1550" spc="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its</a:t>
            </a:r>
            <a:r>
              <a:rPr sz="1550">
                <a:latin typeface="Calibri"/>
                <a:cs typeface="Calibri"/>
              </a:rPr>
              <a:t> Strength</a:t>
            </a:r>
            <a:r>
              <a:rPr sz="1550" spc="8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to </a:t>
            </a:r>
            <a:r>
              <a:rPr sz="1550" spc="-5">
                <a:latin typeface="Calibri"/>
                <a:cs typeface="Calibri"/>
              </a:rPr>
              <a:t>Weight</a:t>
            </a:r>
            <a:r>
              <a:rPr sz="1550" spc="9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Ratio</a:t>
            </a:r>
          </a:p>
          <a:p>
            <a:pPr marL="107950" marR="252729" indent="-95885">
              <a:lnSpc>
                <a:spcPts val="1950"/>
              </a:lnSpc>
              <a:spcBef>
                <a:spcPts val="5"/>
              </a:spcBef>
              <a:buFont typeface="Arial MT"/>
              <a:buChar char="•"/>
              <a:tabLst>
                <a:tab pos="108585" algn="l"/>
              </a:tabLst>
            </a:pPr>
            <a:r>
              <a:rPr sz="1550" spc="5">
                <a:latin typeface="Calibri"/>
                <a:cs typeface="Calibri"/>
              </a:rPr>
              <a:t>The </a:t>
            </a:r>
            <a:r>
              <a:rPr sz="1550" spc="-15">
                <a:latin typeface="Calibri"/>
                <a:cs typeface="Calibri"/>
              </a:rPr>
              <a:t>gearboxes</a:t>
            </a:r>
            <a:r>
              <a:rPr sz="1550" spc="-1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are </a:t>
            </a:r>
            <a:r>
              <a:rPr sz="1550" spc="-5">
                <a:latin typeface="Calibri"/>
                <a:cs typeface="Calibri"/>
              </a:rPr>
              <a:t>designed based</a:t>
            </a:r>
            <a:r>
              <a:rPr sz="155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of </a:t>
            </a:r>
            <a:r>
              <a:rPr sz="1550" spc="-34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Lewis-Buckingham</a:t>
            </a:r>
            <a:r>
              <a:rPr sz="1550" spc="175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Equations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8770" y="5163883"/>
            <a:ext cx="3906520" cy="1238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>
              <a:lnSpc>
                <a:spcPct val="100000"/>
              </a:lnSpc>
              <a:spcBef>
                <a:spcPts val="125"/>
              </a:spcBef>
            </a:pPr>
            <a:r>
              <a:rPr sz="1550" b="1">
                <a:latin typeface="Calibri"/>
                <a:cs typeface="Calibri"/>
              </a:rPr>
              <a:t>Propeller</a:t>
            </a:r>
            <a:r>
              <a:rPr sz="1550" b="1" spc="100">
                <a:latin typeface="Calibri"/>
                <a:cs typeface="Calibri"/>
              </a:rPr>
              <a:t> </a:t>
            </a:r>
            <a:r>
              <a:rPr sz="1550" b="1" spc="-5">
                <a:latin typeface="Calibri"/>
                <a:cs typeface="Calibri"/>
              </a:rPr>
              <a:t>shaft</a:t>
            </a:r>
            <a:endParaRPr sz="1550">
              <a:latin typeface="Calibri"/>
              <a:cs typeface="Calibri"/>
            </a:endParaRPr>
          </a:p>
          <a:p>
            <a:pPr marL="107950" marR="172720" indent="-95250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107950" algn="l"/>
              </a:tabLst>
            </a:pPr>
            <a:r>
              <a:rPr sz="1550" spc="15">
                <a:latin typeface="Calibri"/>
                <a:cs typeface="Calibri"/>
              </a:rPr>
              <a:t>A</a:t>
            </a:r>
            <a:r>
              <a:rPr sz="1550" spc="1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one</a:t>
            </a:r>
            <a:r>
              <a:rPr sz="1550" spc="5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piece</a:t>
            </a:r>
            <a:r>
              <a:rPr sz="1550" spc="6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propellor</a:t>
            </a:r>
            <a:r>
              <a:rPr sz="1550" spc="14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shaft</a:t>
            </a:r>
            <a:r>
              <a:rPr sz="1550" spc="9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is</a:t>
            </a:r>
            <a:r>
              <a:rPr sz="1550" spc="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used</a:t>
            </a:r>
            <a:r>
              <a:rPr sz="1550" spc="9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with</a:t>
            </a:r>
            <a:r>
              <a:rPr sz="1550" spc="9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two </a:t>
            </a:r>
            <a:r>
              <a:rPr sz="1550" spc="-33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universal</a:t>
            </a:r>
            <a:r>
              <a:rPr sz="1550" spc="17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couplings </a:t>
            </a:r>
            <a:r>
              <a:rPr lang="en-US" sz="1550" spc="5">
                <a:latin typeface="Calibri"/>
                <a:cs typeface="Calibri"/>
              </a:rPr>
              <a:t>at the ends</a:t>
            </a:r>
            <a:endParaRPr sz="1550">
              <a:latin typeface="Calibri"/>
              <a:cs typeface="Calibri"/>
            </a:endParaRPr>
          </a:p>
          <a:p>
            <a:pPr marL="107950" marR="5080" indent="-95250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107950" algn="l"/>
              </a:tabLst>
            </a:pPr>
            <a:r>
              <a:rPr sz="1550" spc="5">
                <a:latin typeface="Calibri"/>
                <a:cs typeface="Calibri"/>
              </a:rPr>
              <a:t>The</a:t>
            </a:r>
            <a:r>
              <a:rPr sz="1550" spc="5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propeller</a:t>
            </a:r>
            <a:r>
              <a:rPr sz="1550" spc="14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shaft</a:t>
            </a:r>
            <a:r>
              <a:rPr sz="1550" spc="9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is</a:t>
            </a:r>
            <a:r>
              <a:rPr sz="1550" spc="5">
                <a:latin typeface="Calibri"/>
                <a:cs typeface="Calibri"/>
              </a:rPr>
              <a:t> </a:t>
            </a:r>
            <a:r>
              <a:rPr sz="1550" spc="15">
                <a:latin typeface="Calibri"/>
                <a:cs typeface="Calibri"/>
              </a:rPr>
              <a:t>made</a:t>
            </a:r>
            <a:r>
              <a:rPr sz="1550" spc="5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with</a:t>
            </a:r>
            <a:r>
              <a:rPr sz="1550" spc="15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an</a:t>
            </a:r>
            <a:r>
              <a:rPr sz="1550" spc="9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aluminum </a:t>
            </a:r>
            <a:r>
              <a:rPr sz="1550" spc="-335">
                <a:latin typeface="Calibri"/>
                <a:cs typeface="Calibri"/>
              </a:rPr>
              <a:t> </a:t>
            </a:r>
            <a:r>
              <a:rPr sz="1550" spc="-10">
                <a:latin typeface="Calibri"/>
                <a:cs typeface="Calibri"/>
              </a:rPr>
              <a:t>steel</a:t>
            </a:r>
            <a:r>
              <a:rPr sz="1550" spc="10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alloy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92575" y="876617"/>
            <a:ext cx="3052445" cy="174951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3675">
              <a:lnSpc>
                <a:spcPct val="100000"/>
              </a:lnSpc>
              <a:spcBef>
                <a:spcPts val="125"/>
              </a:spcBef>
            </a:pPr>
            <a:r>
              <a:rPr lang="en-US" sz="1550" b="1" spc="25">
                <a:latin typeface="Calibri"/>
                <a:cs typeface="Calibri"/>
              </a:rPr>
              <a:t>Open Differential</a:t>
            </a:r>
            <a:endParaRPr sz="1550">
              <a:latin typeface="Calibri"/>
              <a:cs typeface="Calibri"/>
            </a:endParaRPr>
          </a:p>
          <a:p>
            <a:pPr marL="107950" marR="5080" indent="-95885">
              <a:lnSpc>
                <a:spcPct val="103000"/>
              </a:lnSpc>
              <a:spcBef>
                <a:spcPts val="40"/>
              </a:spcBef>
              <a:buFont typeface="Arial MT"/>
              <a:buChar char="•"/>
              <a:tabLst>
                <a:tab pos="108585" algn="l"/>
              </a:tabLst>
            </a:pPr>
            <a:r>
              <a:rPr sz="1550" spc="15">
                <a:latin typeface="Calibri"/>
                <a:cs typeface="Calibri"/>
              </a:rPr>
              <a:t>A</a:t>
            </a:r>
            <a:r>
              <a:rPr lang="en-US" sz="1550" spc="5">
                <a:latin typeface="Calibri"/>
                <a:cs typeface="Calibri"/>
              </a:rPr>
              <a:t>n open differential in the front </a:t>
            </a:r>
            <a:r>
              <a:rPr sz="1550" spc="-5">
                <a:latin typeface="Calibri"/>
                <a:cs typeface="Calibri"/>
              </a:rPr>
              <a:t>gives</a:t>
            </a:r>
            <a:r>
              <a:rPr sz="1550" spc="7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us</a:t>
            </a:r>
            <a:r>
              <a:rPr sz="1550" spc="-5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the</a:t>
            </a:r>
            <a:r>
              <a:rPr sz="1550" spc="50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required </a:t>
            </a:r>
            <a:r>
              <a:rPr sz="1550">
                <a:latin typeface="Calibri"/>
                <a:cs typeface="Calibri"/>
              </a:rPr>
              <a:t> torque</a:t>
            </a:r>
            <a:r>
              <a:rPr sz="1550" spc="6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multiplication</a:t>
            </a:r>
            <a:r>
              <a:rPr sz="1550" spc="2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and</a:t>
            </a:r>
            <a:r>
              <a:rPr sz="1550" spc="9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gear</a:t>
            </a:r>
            <a:r>
              <a:rPr sz="1550" spc="7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ratio</a:t>
            </a:r>
          </a:p>
          <a:p>
            <a:pPr marL="107950" marR="85725" indent="-95885">
              <a:lnSpc>
                <a:spcPts val="1950"/>
              </a:lnSpc>
              <a:spcBef>
                <a:spcPts val="5"/>
              </a:spcBef>
              <a:buFont typeface="Arial MT"/>
              <a:buChar char="•"/>
              <a:tabLst>
                <a:tab pos="108585" algn="l"/>
              </a:tabLst>
            </a:pPr>
            <a:r>
              <a:rPr lang="en-US" sz="1550" spc="-20">
                <a:latin typeface="Calibri"/>
                <a:cs typeface="Calibri"/>
              </a:rPr>
              <a:t>Differentials give independence to the wheels which is better for overall force flow in the front axles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074" y="781027"/>
            <a:ext cx="3352226" cy="229552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078851" y="3076552"/>
            <a:ext cx="3472815" cy="154965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41705">
              <a:lnSpc>
                <a:spcPct val="100000"/>
              </a:lnSpc>
              <a:spcBef>
                <a:spcPts val="490"/>
              </a:spcBef>
            </a:pPr>
            <a:r>
              <a:rPr lang="en-US" sz="1400" b="1" spc="35">
                <a:solidFill>
                  <a:srgbClr val="585858"/>
                </a:solidFill>
                <a:latin typeface="Calibri"/>
                <a:cs typeface="Calibri"/>
              </a:rPr>
              <a:t>Open Differential</a:t>
            </a:r>
          </a:p>
          <a:p>
            <a:pPr marL="107950">
              <a:lnSpc>
                <a:spcPct val="100000"/>
              </a:lnSpc>
              <a:spcBef>
                <a:spcPts val="434"/>
              </a:spcBef>
            </a:pPr>
            <a:r>
              <a:rPr sz="1550" b="1" spc="-10">
                <a:latin typeface="Calibri"/>
                <a:cs typeface="Calibri"/>
              </a:rPr>
              <a:t>Mounting</a:t>
            </a:r>
            <a:r>
              <a:rPr sz="1550" b="1" spc="229">
                <a:latin typeface="Calibri"/>
                <a:cs typeface="Calibri"/>
              </a:rPr>
              <a:t> </a:t>
            </a:r>
            <a:r>
              <a:rPr sz="1550" b="1" spc="-5">
                <a:latin typeface="Calibri"/>
                <a:cs typeface="Calibri"/>
              </a:rPr>
              <a:t>and</a:t>
            </a:r>
            <a:r>
              <a:rPr sz="1550" b="1" spc="65">
                <a:latin typeface="Calibri"/>
                <a:cs typeface="Calibri"/>
              </a:rPr>
              <a:t> </a:t>
            </a:r>
            <a:r>
              <a:rPr sz="1550" b="1" spc="-10">
                <a:latin typeface="Calibri"/>
                <a:cs typeface="Calibri"/>
              </a:rPr>
              <a:t>Installation</a:t>
            </a:r>
            <a:endParaRPr sz="1550">
              <a:latin typeface="Calibri"/>
              <a:cs typeface="Calibri"/>
            </a:endParaRPr>
          </a:p>
          <a:p>
            <a:pPr marL="107950" marR="100965" indent="-95885">
              <a:lnSpc>
                <a:spcPct val="100899"/>
              </a:lnSpc>
              <a:spcBef>
                <a:spcPts val="75"/>
              </a:spcBef>
              <a:buFont typeface="Arial MT"/>
              <a:buChar char="•"/>
              <a:tabLst>
                <a:tab pos="108585" algn="l"/>
              </a:tabLst>
            </a:pPr>
            <a:r>
              <a:rPr sz="1550" spc="5">
                <a:latin typeface="Calibri"/>
                <a:cs typeface="Calibri"/>
              </a:rPr>
              <a:t>Supporting</a:t>
            </a:r>
            <a:r>
              <a:rPr sz="1550" spc="9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members</a:t>
            </a:r>
            <a:r>
              <a:rPr sz="1550" spc="15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are</a:t>
            </a:r>
            <a:r>
              <a:rPr sz="1550" spc="55">
                <a:latin typeface="Calibri"/>
                <a:cs typeface="Calibri"/>
              </a:rPr>
              <a:t> </a:t>
            </a:r>
            <a:r>
              <a:rPr sz="1550" spc="-5">
                <a:latin typeface="Calibri"/>
                <a:cs typeface="Calibri"/>
              </a:rPr>
              <a:t>given</a:t>
            </a:r>
            <a:r>
              <a:rPr sz="1550" spc="9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as </a:t>
            </a:r>
            <a:r>
              <a:rPr sz="1550" spc="10">
                <a:latin typeface="Calibri"/>
                <a:cs typeface="Calibri"/>
              </a:rPr>
              <a:t> mounting</a:t>
            </a:r>
            <a:r>
              <a:rPr sz="1550" spc="20">
                <a:latin typeface="Calibri"/>
                <a:cs typeface="Calibri"/>
              </a:rPr>
              <a:t> </a:t>
            </a:r>
            <a:r>
              <a:rPr sz="1550" spc="-55">
                <a:latin typeface="Calibri"/>
                <a:cs typeface="Calibri"/>
              </a:rPr>
              <a:t>w.r.t</a:t>
            </a:r>
            <a:r>
              <a:rPr sz="1550" spc="80">
                <a:latin typeface="Calibri"/>
                <a:cs typeface="Calibri"/>
              </a:rPr>
              <a:t> </a:t>
            </a:r>
            <a:r>
              <a:rPr sz="1550" spc="-10">
                <a:latin typeface="Calibri"/>
                <a:cs typeface="Calibri"/>
              </a:rPr>
              <a:t>RRH</a:t>
            </a:r>
            <a:r>
              <a:rPr sz="1550" spc="80">
                <a:latin typeface="Calibri"/>
                <a:cs typeface="Calibri"/>
              </a:rPr>
              <a:t> </a:t>
            </a:r>
            <a:r>
              <a:rPr sz="1550" spc="15">
                <a:latin typeface="Calibri"/>
                <a:cs typeface="Calibri"/>
              </a:rPr>
              <a:t>&amp;</a:t>
            </a:r>
            <a:r>
              <a:rPr sz="1550" spc="65">
                <a:latin typeface="Calibri"/>
                <a:cs typeface="Calibri"/>
              </a:rPr>
              <a:t> </a:t>
            </a:r>
            <a:r>
              <a:rPr sz="1550" spc="-10">
                <a:latin typeface="Calibri"/>
                <a:cs typeface="Calibri"/>
              </a:rPr>
              <a:t>Rear</a:t>
            </a:r>
            <a:r>
              <a:rPr sz="1550" spc="65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Lower</a:t>
            </a:r>
            <a:r>
              <a:rPr sz="1550" spc="14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Cabin</a:t>
            </a:r>
            <a:endParaRPr sz="1550">
              <a:latin typeface="Calibri"/>
              <a:cs typeface="Calibri"/>
            </a:endParaRPr>
          </a:p>
          <a:p>
            <a:pPr marL="107950" marR="5080" indent="-95885">
              <a:lnSpc>
                <a:spcPct val="100899"/>
              </a:lnSpc>
              <a:spcBef>
                <a:spcPts val="80"/>
              </a:spcBef>
              <a:buFont typeface="Arial MT"/>
              <a:buChar char="•"/>
              <a:tabLst>
                <a:tab pos="108585" algn="l"/>
              </a:tabLst>
            </a:pPr>
            <a:r>
              <a:rPr sz="1550" spc="-5">
                <a:latin typeface="Calibri"/>
                <a:cs typeface="Calibri"/>
              </a:rPr>
              <a:t>Engine/CVT/Gearboxes</a:t>
            </a:r>
            <a:r>
              <a:rPr sz="1550" spc="20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is</a:t>
            </a:r>
            <a:r>
              <a:rPr sz="1550" spc="-1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installed</a:t>
            </a:r>
            <a:r>
              <a:rPr sz="1550" spc="10">
                <a:latin typeface="Calibri"/>
                <a:cs typeface="Calibri"/>
              </a:rPr>
              <a:t> with </a:t>
            </a:r>
            <a:r>
              <a:rPr sz="1550" spc="15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help</a:t>
            </a:r>
            <a:r>
              <a:rPr sz="1550" spc="85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of</a:t>
            </a:r>
            <a:r>
              <a:rPr sz="1550" spc="-15">
                <a:latin typeface="Calibri"/>
                <a:cs typeface="Calibri"/>
              </a:rPr>
              <a:t> </a:t>
            </a:r>
            <a:r>
              <a:rPr sz="1550" spc="10">
                <a:latin typeface="Calibri"/>
                <a:cs typeface="Calibri"/>
              </a:rPr>
              <a:t>the</a:t>
            </a:r>
            <a:r>
              <a:rPr sz="1550" spc="50">
                <a:latin typeface="Calibri"/>
                <a:cs typeface="Calibri"/>
              </a:rPr>
              <a:t> </a:t>
            </a:r>
            <a:r>
              <a:rPr sz="1550">
                <a:latin typeface="Calibri"/>
                <a:cs typeface="Calibri"/>
              </a:rPr>
              <a:t>Dampers,</a:t>
            </a:r>
            <a:r>
              <a:rPr sz="1550" spc="140">
                <a:latin typeface="Calibri"/>
                <a:cs typeface="Calibri"/>
              </a:rPr>
              <a:t> </a:t>
            </a:r>
            <a:r>
              <a:rPr sz="1550" spc="5">
                <a:latin typeface="Calibri"/>
                <a:cs typeface="Calibri"/>
              </a:rPr>
              <a:t>Splines</a:t>
            </a:r>
            <a:r>
              <a:rPr sz="1550" spc="75">
                <a:latin typeface="Calibri"/>
                <a:cs typeface="Calibri"/>
              </a:rPr>
              <a:t> </a:t>
            </a:r>
            <a:r>
              <a:rPr sz="1550" spc="15">
                <a:latin typeface="Calibri"/>
                <a:cs typeface="Calibri"/>
              </a:rPr>
              <a:t>&amp;</a:t>
            </a:r>
            <a:r>
              <a:rPr sz="1550" spc="-10">
                <a:latin typeface="Calibri"/>
                <a:cs typeface="Calibri"/>
              </a:rPr>
              <a:t> Fasteners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26404" y="4460557"/>
            <a:ext cx="114490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5">
                <a:solidFill>
                  <a:srgbClr val="585858"/>
                </a:solidFill>
                <a:latin typeface="Calibri"/>
                <a:cs typeface="Calibri"/>
              </a:rPr>
              <a:t>P</a:t>
            </a:r>
            <a:r>
              <a:rPr sz="1400" b="1" spc="20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op</a:t>
            </a:r>
            <a:r>
              <a:rPr sz="1400" b="1" spc="35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1400" b="1" spc="25">
                <a:solidFill>
                  <a:srgbClr val="585858"/>
                </a:solidFill>
                <a:latin typeface="Calibri"/>
                <a:cs typeface="Calibri"/>
              </a:rPr>
              <a:t>ll</a:t>
            </a:r>
            <a:r>
              <a:rPr sz="1400" b="1" spc="35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1400" b="1" spc="5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1400" b="1" spc="-7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b="1" spc="10">
                <a:solidFill>
                  <a:srgbClr val="585858"/>
                </a:solidFill>
                <a:latin typeface="Calibri"/>
                <a:cs typeface="Calibri"/>
              </a:rPr>
              <a:t>S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h</a:t>
            </a:r>
            <a:r>
              <a:rPr sz="1400" b="1" spc="-2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sz="1400" b="1">
                <a:solidFill>
                  <a:srgbClr val="585858"/>
                </a:solidFill>
                <a:latin typeface="Calibri"/>
                <a:cs typeface="Calibri"/>
              </a:rPr>
              <a:t>ft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/>
          <a:stretch>
            <a:fillRect/>
          </a:stretch>
        </p:blipFill>
        <p:spPr>
          <a:xfrm>
            <a:off x="704850" y="4752975"/>
            <a:ext cx="2705100" cy="185737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5889" y="27622"/>
            <a:ext cx="1746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>
                <a:solidFill>
                  <a:srgbClr val="7E7E7E"/>
                </a:solidFill>
                <a:latin typeface="Calibri"/>
                <a:cs typeface="Calibri"/>
              </a:rPr>
              <a:t>9a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0880" y="6640512"/>
            <a:ext cx="28028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35">
                <a:solidFill>
                  <a:srgbClr val="585858"/>
                </a:solidFill>
                <a:latin typeface="Calibri"/>
                <a:cs typeface="Calibri"/>
              </a:rPr>
              <a:t>Re</a:t>
            </a:r>
            <a:r>
              <a:rPr sz="1400" b="1" spc="-2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sz="1400" b="1" spc="5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1400" b="1" spc="-7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b="1" spc="5">
                <a:solidFill>
                  <a:srgbClr val="585858"/>
                </a:solidFill>
                <a:latin typeface="Calibri"/>
                <a:cs typeface="Calibri"/>
              </a:rPr>
              <a:t>g</a:t>
            </a:r>
            <a:r>
              <a:rPr sz="1400" b="1" spc="35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1400" b="1" spc="-2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sz="1400" b="1" spc="20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bo</a:t>
            </a:r>
            <a:r>
              <a:rPr sz="1400" b="1" spc="10">
                <a:solidFill>
                  <a:srgbClr val="585858"/>
                </a:solidFill>
                <a:latin typeface="Calibri"/>
                <a:cs typeface="Calibri"/>
              </a:rPr>
              <a:t>x</a:t>
            </a:r>
            <a:r>
              <a:rPr sz="1400" b="1" spc="-7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b="1" spc="5">
                <a:solidFill>
                  <a:srgbClr val="585858"/>
                </a:solidFill>
                <a:latin typeface="Calibri"/>
                <a:cs typeface="Calibri"/>
              </a:rPr>
              <a:t>(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p</a:t>
            </a:r>
            <a:r>
              <a:rPr sz="1400" b="1" spc="20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op</a:t>
            </a:r>
            <a:r>
              <a:rPr sz="1400" b="1" spc="35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1400" b="1" spc="25">
                <a:solidFill>
                  <a:srgbClr val="585858"/>
                </a:solidFill>
                <a:latin typeface="Calibri"/>
                <a:cs typeface="Calibri"/>
              </a:rPr>
              <a:t>ll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o</a:t>
            </a:r>
            <a:r>
              <a:rPr sz="1400" b="1" spc="5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1400" b="1" spc="-15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b="1" spc="35">
                <a:solidFill>
                  <a:srgbClr val="585858"/>
                </a:solidFill>
                <a:latin typeface="Calibri"/>
                <a:cs typeface="Calibri"/>
              </a:rPr>
              <a:t>s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h</a:t>
            </a:r>
            <a:r>
              <a:rPr sz="1400" b="1" spc="-2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sz="1400" b="1">
                <a:solidFill>
                  <a:srgbClr val="585858"/>
                </a:solidFill>
                <a:latin typeface="Calibri"/>
                <a:cs typeface="Calibri"/>
              </a:rPr>
              <a:t>f</a:t>
            </a:r>
            <a:r>
              <a:rPr sz="1400" b="1" spc="5">
                <a:solidFill>
                  <a:srgbClr val="585858"/>
                </a:solidFill>
                <a:latin typeface="Calibri"/>
                <a:cs typeface="Calibri"/>
              </a:rPr>
              <a:t>t</a:t>
            </a:r>
            <a:r>
              <a:rPr sz="1400" b="1" spc="-65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ou</a:t>
            </a:r>
            <a:r>
              <a:rPr sz="1400" b="1" spc="30">
                <a:solidFill>
                  <a:srgbClr val="585858"/>
                </a:solidFill>
                <a:latin typeface="Calibri"/>
                <a:cs typeface="Calibri"/>
              </a:rPr>
              <a:t>t</a:t>
            </a:r>
            <a:r>
              <a:rPr sz="1400" b="1" spc="-10">
                <a:solidFill>
                  <a:srgbClr val="585858"/>
                </a:solidFill>
                <a:latin typeface="Calibri"/>
                <a:cs typeface="Calibri"/>
              </a:rPr>
              <a:t>pu</a:t>
            </a:r>
            <a:r>
              <a:rPr sz="1400" b="1" spc="30">
                <a:solidFill>
                  <a:srgbClr val="585858"/>
                </a:solidFill>
                <a:latin typeface="Calibri"/>
                <a:cs typeface="Calibri"/>
              </a:rPr>
              <a:t>t</a:t>
            </a:r>
            <a:r>
              <a:rPr sz="1400" b="1" spc="5">
                <a:solidFill>
                  <a:srgbClr val="585858"/>
                </a:solidFill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4749291"/>
            <a:ext cx="2711369" cy="162948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915400" y="6505461"/>
            <a:ext cx="2514219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400" b="1" spc="35">
                <a:solidFill>
                  <a:srgbClr val="585858"/>
                </a:solidFill>
                <a:latin typeface="Calibri"/>
                <a:cs typeface="Calibri"/>
              </a:rPr>
              <a:t>Open Differential CAD File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3795" y="0"/>
            <a:ext cx="12896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0"/>
              <a:t>P</a:t>
            </a:r>
            <a:r>
              <a:rPr spc="30"/>
              <a:t>r</a:t>
            </a:r>
            <a:r>
              <a:rPr spc="45"/>
              <a:t>o</a:t>
            </a:r>
            <a:r>
              <a:rPr spc="10"/>
              <a:t>j</a:t>
            </a:r>
            <a:r>
              <a:rPr spc="35"/>
              <a:t>e</a:t>
            </a:r>
            <a:r>
              <a:rPr spc="-15"/>
              <a:t>c</a:t>
            </a:r>
            <a:r>
              <a:rPr spc="5"/>
              <a:t>t</a:t>
            </a:r>
            <a:r>
              <a:rPr spc="-180"/>
              <a:t> </a:t>
            </a:r>
            <a:r>
              <a:rPr spc="-30"/>
              <a:t>p</a:t>
            </a:r>
            <a:r>
              <a:rPr spc="30"/>
              <a:t>l</a:t>
            </a:r>
            <a:r>
              <a:rPr spc="-15"/>
              <a:t>a</a:t>
            </a:r>
            <a:r>
              <a:rPr spc="10"/>
              <a:t>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257173"/>
            <a:ext cx="12087225" cy="6600825"/>
            <a:chOff x="0" y="257173"/>
            <a:chExt cx="12087225" cy="6600825"/>
          </a:xfrm>
        </p:grpSpPr>
        <p:pic>
          <p:nvPicPr>
            <p:cNvPr id="4" name="object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257173"/>
              <a:ext cx="3457574" cy="65627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457575" y="257174"/>
              <a:ext cx="8629650" cy="660082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35889" y="27622"/>
            <a:ext cx="1784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>
                <a:solidFill>
                  <a:srgbClr val="7E7E7E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45965" y="0"/>
            <a:ext cx="40932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1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</a:t>
            </a:r>
            <a:r>
              <a:rPr sz="1800" b="1" u="heavy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1800" b="1" u="heavy" spc="2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</a:t>
            </a:r>
            <a:r>
              <a:rPr sz="1800" b="1" u="heavy" spc="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</a:t>
            </a:r>
            <a:r>
              <a:rPr sz="1800" b="1" u="heavy" spc="-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</a:t>
            </a:r>
            <a:r>
              <a:rPr sz="1800" b="1" u="heavy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</a:t>
            </a:r>
            <a:r>
              <a:rPr sz="1800" b="1" u="heavy" spc="-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heavy" spc="-8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</a:t>
            </a:r>
            <a:r>
              <a:rPr sz="1800" b="1" u="heavy" spc="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ailu</a:t>
            </a:r>
            <a:r>
              <a:rPr sz="1800" b="1" u="heavy" spc="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</a:t>
            </a:r>
            <a:r>
              <a:rPr sz="1800" b="1" u="heavy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1800" b="1" u="heavy" spc="-4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heavy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</a:t>
            </a:r>
            <a:r>
              <a:rPr sz="1800" b="1" u="heavy" spc="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</a:t>
            </a:r>
            <a:r>
              <a:rPr sz="1800" b="1" u="heavy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1800" b="1" u="heavy" spc="-4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heavy" spc="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800" b="1" u="heavy" spc="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</a:t>
            </a:r>
            <a:r>
              <a:rPr sz="1800" b="1" u="heavy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</a:t>
            </a:r>
            <a:r>
              <a:rPr sz="1800" b="1" u="heavy" spc="-10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heavy" spc="-5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1800" b="1" u="heavy" spc="2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ff</a:t>
            </a:r>
            <a:r>
              <a:rPr sz="1800" b="1" u="heavy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1800" b="1" u="heavy" spc="-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</a:t>
            </a:r>
            <a:r>
              <a:rPr sz="1800" b="1" u="heavy" spc="-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</a:t>
            </a:r>
            <a:r>
              <a:rPr sz="1800" b="1" u="heavy" spc="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</a:t>
            </a:r>
            <a:r>
              <a:rPr sz="1800" b="1" u="heavy" spc="-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</a:t>
            </a:r>
            <a:r>
              <a:rPr sz="1800" b="1" u="heavy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1800" b="1" u="heavy" spc="-4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heavy" spc="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800" b="1" u="heavy" spc="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nal</a:t>
            </a:r>
            <a:r>
              <a:rPr sz="1800" b="1" u="heavy" spc="-3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y</a:t>
            </a:r>
            <a:r>
              <a:rPr sz="1800" b="1" u="heavy" spc="2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</a:t>
            </a:r>
            <a:r>
              <a:rPr sz="1800" b="1" u="heavy" spc="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</a:t>
            </a:r>
            <a:r>
              <a:rPr sz="1800" b="1" u="heavy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522" y="273431"/>
          <a:ext cx="12098651" cy="65558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8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7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8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6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5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108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171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103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 spc="-5">
                          <a:latin typeface="Calibri"/>
                          <a:cs typeface="Calibri"/>
                        </a:rPr>
                        <a:t>PART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>
                          <a:latin typeface="Calibri"/>
                          <a:cs typeface="Calibri"/>
                        </a:rPr>
                        <a:t>Failure</a:t>
                      </a:r>
                      <a:r>
                        <a:rPr sz="1250" b="1" spc="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10">
                          <a:latin typeface="Calibri"/>
                          <a:cs typeface="Calibri"/>
                        </a:rPr>
                        <a:t>Mode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 spc="5">
                          <a:latin typeface="Calibri"/>
                          <a:cs typeface="Calibri"/>
                        </a:rPr>
                        <a:t>Potential</a:t>
                      </a:r>
                      <a:r>
                        <a:rPr sz="1250" b="1" spc="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>
                          <a:latin typeface="Calibri"/>
                          <a:cs typeface="Calibri"/>
                        </a:rPr>
                        <a:t>Effect(s)</a:t>
                      </a:r>
                      <a:r>
                        <a:rPr sz="1250" b="1" spc="6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b="1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>
                          <a:latin typeface="Calibri"/>
                          <a:cs typeface="Calibri"/>
                        </a:rPr>
                        <a:t>Failures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>
                          <a:latin typeface="Calibri"/>
                          <a:cs typeface="Calibri"/>
                        </a:rPr>
                        <a:t>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 spc="5">
                          <a:latin typeface="Calibri"/>
                          <a:cs typeface="Calibri"/>
                        </a:rPr>
                        <a:t>Potential</a:t>
                      </a:r>
                      <a:r>
                        <a:rPr sz="1250" b="1" spc="4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5">
                          <a:latin typeface="Calibri"/>
                          <a:cs typeface="Calibri"/>
                        </a:rPr>
                        <a:t>Cause(s)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R="11430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>
                          <a:latin typeface="Calibri"/>
                          <a:cs typeface="Calibri"/>
                        </a:rPr>
                        <a:t>O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 spc="10">
                          <a:latin typeface="Calibri"/>
                          <a:cs typeface="Calibri"/>
                        </a:rPr>
                        <a:t>Current</a:t>
                      </a:r>
                      <a:r>
                        <a:rPr sz="1250" b="1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20">
                          <a:latin typeface="Calibri"/>
                          <a:cs typeface="Calibri"/>
                        </a:rPr>
                        <a:t>Design</a:t>
                      </a:r>
                      <a:r>
                        <a:rPr sz="1250" b="1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b="1" spc="5">
                          <a:latin typeface="Calibri"/>
                          <a:cs typeface="Calibri"/>
                        </a:rPr>
                        <a:t>Control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8191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>
                          <a:latin typeface="Calibri"/>
                          <a:cs typeface="Calibri"/>
                        </a:rPr>
                        <a:t>D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 spc="20">
                          <a:latin typeface="Calibri"/>
                          <a:cs typeface="Calibri"/>
                        </a:rPr>
                        <a:t>RPN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>
                          <a:latin typeface="Calibri"/>
                          <a:cs typeface="Calibri"/>
                        </a:rPr>
                        <a:t>O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R="698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>
                          <a:latin typeface="Calibri"/>
                          <a:cs typeface="Calibri"/>
                        </a:rPr>
                        <a:t>D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b="1" spc="20">
                          <a:latin typeface="Calibri"/>
                          <a:cs typeface="Calibri"/>
                        </a:rPr>
                        <a:t>RPN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3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15">
                          <a:latin typeface="Calibri"/>
                          <a:cs typeface="Calibri"/>
                        </a:rPr>
                        <a:t>Frame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Structural</a:t>
                      </a:r>
                      <a:r>
                        <a:rPr sz="12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Failure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Driver’s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safety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is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endangered</a:t>
                      </a: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Excess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load/Impact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load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Chosen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material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with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high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30">
                          <a:latin typeface="Calibri"/>
                          <a:cs typeface="Calibri"/>
                        </a:rPr>
                        <a:t>F.O.S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360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60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6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 spc="-15">
                          <a:latin typeface="Calibri"/>
                          <a:cs typeface="Calibri"/>
                        </a:rPr>
                        <a:t>Bracket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Fracture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Structural damage</a:t>
                      </a:r>
                      <a:r>
                        <a:rPr sz="12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cage</a:t>
                      </a: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Constant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vibration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Reduced</a:t>
                      </a:r>
                      <a:r>
                        <a:rPr sz="1250" spc="1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vibrations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315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18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6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Support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Bending</a:t>
                      </a:r>
                      <a:r>
                        <a:rPr sz="1250" spc="14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Breakage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Dislocation</a:t>
                      </a:r>
                      <a:r>
                        <a:rPr sz="12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components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Axial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stress</a:t>
                      </a:r>
                      <a:r>
                        <a:rPr sz="12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&gt;</a:t>
                      </a:r>
                      <a:r>
                        <a:rPr sz="12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Yield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stress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Effective</a:t>
                      </a:r>
                      <a:r>
                        <a:rPr sz="1250" spc="1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design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analysis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is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done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40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6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Engine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Parts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damage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Improper</a:t>
                      </a:r>
                      <a:r>
                        <a:rPr sz="12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combustion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Air</a:t>
                      </a:r>
                      <a:r>
                        <a:rPr sz="12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Filter</a:t>
                      </a:r>
                      <a:r>
                        <a:rPr sz="12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blocks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15">
                          <a:latin typeface="Calibri"/>
                          <a:cs typeface="Calibri"/>
                        </a:rPr>
                        <a:t>Positioning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where</a:t>
                      </a:r>
                      <a:r>
                        <a:rPr sz="125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free</a:t>
                      </a:r>
                      <a:r>
                        <a:rPr sz="12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250" spc="1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air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180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36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1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Leakage</a:t>
                      </a:r>
                      <a:r>
                        <a:rPr sz="12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fuel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 spc="25">
                          <a:latin typeface="Calibri"/>
                          <a:cs typeface="Calibri"/>
                        </a:rPr>
                        <a:t>Hose</a:t>
                      </a:r>
                      <a:r>
                        <a:rPr sz="12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Pipe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Fractures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Poor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engine</a:t>
                      </a:r>
                      <a:r>
                        <a:rPr sz="12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12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and</a:t>
                      </a:r>
                      <a:endParaRPr sz="1250">
                        <a:latin typeface="Calibri"/>
                        <a:cs typeface="Calibri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engine</a:t>
                      </a:r>
                      <a:r>
                        <a:rPr sz="12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economy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 spc="20">
                          <a:latin typeface="Calibri"/>
                          <a:cs typeface="Calibri"/>
                        </a:rPr>
                        <a:t>High</a:t>
                      </a:r>
                      <a:r>
                        <a:rPr sz="12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Temp/Sharp</a:t>
                      </a:r>
                      <a:endParaRPr sz="1250">
                        <a:latin typeface="Calibri"/>
                        <a:cs typeface="Calibri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Bends/External</a:t>
                      </a:r>
                      <a:r>
                        <a:rPr sz="1250" spc="19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force</a:t>
                      </a: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 spc="20">
                          <a:latin typeface="Calibri"/>
                          <a:cs typeface="Calibri"/>
                        </a:rPr>
                        <a:t>Mounting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lengths</a:t>
                      </a:r>
                      <a:r>
                        <a:rPr sz="12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are</a:t>
                      </a:r>
                      <a:r>
                        <a:rPr sz="12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properly</a:t>
                      </a:r>
                      <a:endParaRPr sz="1250">
                        <a:latin typeface="Calibri"/>
                        <a:cs typeface="Calibri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taken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fitted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with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min.</a:t>
                      </a:r>
                      <a:r>
                        <a:rPr sz="12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turns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81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19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1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Shaft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Mechanical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Vehicle</a:t>
                      </a:r>
                      <a:r>
                        <a:rPr sz="12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is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inoperable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Damage</a:t>
                      </a:r>
                      <a:r>
                        <a:rPr sz="12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due</a:t>
                      </a:r>
                      <a:r>
                        <a:rPr sz="12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Cyclic</a:t>
                      </a:r>
                      <a:endParaRPr sz="1250">
                        <a:latin typeface="Calibri"/>
                        <a:cs typeface="Calibri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loadings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Designed</a:t>
                      </a:r>
                      <a:r>
                        <a:rPr sz="1250" spc="16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Acc.</a:t>
                      </a:r>
                      <a:r>
                        <a:rPr sz="12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 load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performance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64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16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6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Springs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 spc="15">
                          <a:latin typeface="Calibri"/>
                          <a:cs typeface="Calibri"/>
                        </a:rPr>
                        <a:t>Surging/Buckling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Damage</a:t>
                      </a:r>
                      <a:r>
                        <a:rPr sz="12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2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or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 comfort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Excess</a:t>
                      </a:r>
                      <a:r>
                        <a:rPr sz="12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loading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Proper</a:t>
                      </a:r>
                      <a:r>
                        <a:rPr sz="12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designing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spring with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ACF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36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12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8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A</a:t>
                      </a:r>
                      <a:r>
                        <a:rPr sz="12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arms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Bend/Break</a:t>
                      </a: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Damage</a:t>
                      </a:r>
                      <a:r>
                        <a:rPr sz="12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system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Axial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Stress</a:t>
                      </a:r>
                      <a:r>
                        <a:rPr sz="12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&gt;</a:t>
                      </a:r>
                      <a:r>
                        <a:rPr sz="12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Yield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Stress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Effective</a:t>
                      </a:r>
                      <a:r>
                        <a:rPr sz="12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design</a:t>
                      </a:r>
                      <a:r>
                        <a:rPr sz="12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analysis</a:t>
                      </a:r>
                      <a:r>
                        <a:rPr sz="12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is</a:t>
                      </a:r>
                      <a:r>
                        <a:rPr sz="12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done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343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54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6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Damper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Leakage</a:t>
                      </a:r>
                      <a:r>
                        <a:rPr sz="12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oil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Damage</a:t>
                      </a:r>
                      <a:r>
                        <a:rPr sz="12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 suspension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Mechanical</a:t>
                      </a:r>
                      <a:r>
                        <a:rPr sz="125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Fail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Verification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specification</a:t>
                      </a:r>
                      <a:r>
                        <a:rPr sz="1250" spc="1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5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testing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24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6189">
                <a:tc>
                  <a:txBody>
                    <a:bodyPr/>
                    <a:lstStyle/>
                    <a:p>
                      <a:pPr marL="91440" marR="400050">
                        <a:lnSpc>
                          <a:spcPct val="105100"/>
                        </a:lnSpc>
                        <a:spcBef>
                          <a:spcPts val="27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Knuckles</a:t>
                      </a:r>
                      <a:r>
                        <a:rPr sz="12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or </a:t>
                      </a:r>
                      <a:r>
                        <a:rPr sz="1250" spc="-2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Uprights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Structural</a:t>
                      </a:r>
                      <a:r>
                        <a:rPr sz="12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Failure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 marR="269240">
                        <a:lnSpc>
                          <a:spcPct val="105100"/>
                        </a:lnSpc>
                        <a:spcBef>
                          <a:spcPts val="275"/>
                        </a:spcBef>
                      </a:pPr>
                      <a:r>
                        <a:rPr sz="1250" spc="20">
                          <a:latin typeface="Calibri"/>
                          <a:cs typeface="Calibri"/>
                        </a:rPr>
                        <a:t>Moving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 of</a:t>
                      </a:r>
                      <a:r>
                        <a:rPr sz="12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Vehicle</a:t>
                      </a:r>
                      <a:r>
                        <a:rPr sz="125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becomes </a:t>
                      </a:r>
                      <a:r>
                        <a:rPr sz="1250" spc="-2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harder</a:t>
                      </a: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Double</a:t>
                      </a:r>
                      <a:r>
                        <a:rPr sz="12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Shear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Crushing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903605">
                        <a:lnSpc>
                          <a:spcPct val="105100"/>
                        </a:lnSpc>
                        <a:spcBef>
                          <a:spcPts val="27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Design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according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vehicle </a:t>
                      </a:r>
                      <a:r>
                        <a:rPr sz="1250" spc="-2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specifications</a:t>
                      </a:r>
                      <a:r>
                        <a:rPr sz="1250" spc="1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High </a:t>
                      </a:r>
                      <a:r>
                        <a:rPr sz="1250" spc="-35">
                          <a:latin typeface="Calibri"/>
                          <a:cs typeface="Calibri"/>
                        </a:rPr>
                        <a:t>F.O.S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384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48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76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Steer</a:t>
                      </a:r>
                      <a:r>
                        <a:rPr sz="12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Wheel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Breakage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Direction</a:t>
                      </a:r>
                      <a:r>
                        <a:rPr sz="1250" spc="1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Vehicle</a:t>
                      </a:r>
                      <a:r>
                        <a:rPr sz="1250" spc="1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is</a:t>
                      </a:r>
                      <a:r>
                        <a:rPr sz="12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hard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Excess</a:t>
                      </a:r>
                      <a:r>
                        <a:rPr sz="12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Load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Proper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specification</a:t>
                      </a:r>
                      <a:r>
                        <a:rPr sz="1250" spc="1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 wheel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36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508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6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Rack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Pinion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Backlash/Play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2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Fails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 spc="15">
                          <a:latin typeface="Calibri"/>
                          <a:cs typeface="Calibri"/>
                        </a:rPr>
                        <a:t>Movement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UV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joints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Correct</a:t>
                      </a:r>
                      <a:r>
                        <a:rPr sz="125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Mountings</a:t>
                      </a:r>
                      <a:r>
                        <a:rPr sz="12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Installations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378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54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76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2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arm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Bend/Break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25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Geometry</a:t>
                      </a:r>
                      <a:r>
                        <a:rPr sz="12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Fails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Excess</a:t>
                      </a:r>
                      <a:r>
                        <a:rPr sz="12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Load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Effective</a:t>
                      </a:r>
                      <a:r>
                        <a:rPr sz="1250" spc="1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Design</a:t>
                      </a:r>
                      <a:r>
                        <a:rPr sz="1250" spc="1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Analysis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384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42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9618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Braking</a:t>
                      </a:r>
                      <a:r>
                        <a:rPr sz="12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system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Wheels</a:t>
                      </a:r>
                      <a:r>
                        <a:rPr sz="1250" spc="1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not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locking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Vehicle</a:t>
                      </a:r>
                      <a:r>
                        <a:rPr sz="1250" spc="11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fails</a:t>
                      </a:r>
                      <a:r>
                        <a:rPr sz="12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stop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 marR="316865">
                        <a:lnSpc>
                          <a:spcPct val="105100"/>
                        </a:lnSpc>
                        <a:spcBef>
                          <a:spcPts val="29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Improper</a:t>
                      </a:r>
                      <a:r>
                        <a:rPr sz="12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>
                          <a:latin typeface="Calibri"/>
                          <a:cs typeface="Calibri"/>
                        </a:rPr>
                        <a:t>Brake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Force, </a:t>
                      </a:r>
                      <a:r>
                        <a:rPr sz="1250" spc="-2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Bleeding</a:t>
                      </a: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483234">
                        <a:lnSpc>
                          <a:spcPct val="105100"/>
                        </a:lnSpc>
                        <a:spcBef>
                          <a:spcPts val="29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Proper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bleeding</a:t>
                      </a:r>
                      <a:r>
                        <a:rPr sz="1250" spc="16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is</a:t>
                      </a:r>
                      <a:r>
                        <a:rPr sz="125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done,</a:t>
                      </a:r>
                      <a:r>
                        <a:rPr sz="12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effective </a:t>
                      </a:r>
                      <a:r>
                        <a:rPr sz="1250" spc="-2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Design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Pedal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Ratio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&amp;Travel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162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36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77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Pedals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 spc="-10">
                          <a:latin typeface="Calibri"/>
                          <a:cs typeface="Calibri"/>
                        </a:rPr>
                        <a:t>Brake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Failure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 spc="-10">
                          <a:latin typeface="Calibri"/>
                          <a:cs typeface="Calibri"/>
                        </a:rPr>
                        <a:t>Brake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failure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 spc="-5">
                          <a:latin typeface="Calibri"/>
                          <a:cs typeface="Calibri"/>
                        </a:rPr>
                        <a:t>Excess</a:t>
                      </a:r>
                      <a:r>
                        <a:rPr sz="12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Load</a:t>
                      </a: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Material</a:t>
                      </a:r>
                      <a:r>
                        <a:rPr sz="12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with high </a:t>
                      </a:r>
                      <a:r>
                        <a:rPr sz="1250" spc="-30">
                          <a:latin typeface="Calibri"/>
                          <a:cs typeface="Calibri"/>
                        </a:rPr>
                        <a:t>F.O.S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18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699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9617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50" spc="-10">
                          <a:latin typeface="Calibri"/>
                          <a:cs typeface="Calibri"/>
                        </a:rPr>
                        <a:t>Tyre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62560">
                        <a:lnSpc>
                          <a:spcPct val="105200"/>
                        </a:lnSpc>
                        <a:spcBef>
                          <a:spcPts val="295"/>
                        </a:spcBef>
                      </a:pPr>
                      <a:r>
                        <a:rPr sz="1250" spc="-40">
                          <a:latin typeface="Calibri"/>
                          <a:cs typeface="Calibri"/>
                        </a:rPr>
                        <a:t>De</a:t>
                      </a:r>
                      <a:r>
                        <a:rPr sz="1250" spc="-15">
                          <a:latin typeface="Calibri"/>
                          <a:cs typeface="Calibri"/>
                        </a:rPr>
                        <a:t>f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250">
                          <a:latin typeface="Calibri"/>
                          <a:cs typeface="Calibri"/>
                        </a:rPr>
                        <a:t>r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m</a:t>
                      </a:r>
                      <a:r>
                        <a:rPr sz="1250" spc="-15">
                          <a:latin typeface="Calibri"/>
                          <a:cs typeface="Calibri"/>
                        </a:rPr>
                        <a:t>a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i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250">
                          <a:latin typeface="Calibri"/>
                          <a:cs typeface="Calibri"/>
                        </a:rPr>
                        <a:t>n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/</a:t>
                      </a:r>
                      <a:r>
                        <a:rPr sz="1250" spc="-25">
                          <a:latin typeface="Calibri"/>
                          <a:cs typeface="Calibri"/>
                        </a:rPr>
                        <a:t>B</a:t>
                      </a:r>
                      <a:r>
                        <a:rPr sz="1250">
                          <a:latin typeface="Calibri"/>
                          <a:cs typeface="Calibri"/>
                        </a:rPr>
                        <a:t>ur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st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i</a:t>
                      </a:r>
                      <a:r>
                        <a:rPr sz="1250">
                          <a:latin typeface="Calibri"/>
                          <a:cs typeface="Calibri"/>
                        </a:rPr>
                        <a:t>n 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g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Inability</a:t>
                      </a:r>
                      <a:r>
                        <a:rPr sz="12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operate</a:t>
                      </a:r>
                      <a:r>
                        <a:rPr sz="1250" spc="1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vehicle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 marR="598805">
                        <a:lnSpc>
                          <a:spcPct val="105200"/>
                        </a:lnSpc>
                        <a:spcBef>
                          <a:spcPts val="295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Punctures/</a:t>
                      </a:r>
                      <a:r>
                        <a:rPr sz="12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Excess </a:t>
                      </a:r>
                      <a:r>
                        <a:rPr sz="1250" spc="-2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Pressure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279400">
                        <a:lnSpc>
                          <a:spcPct val="105200"/>
                        </a:lnSpc>
                        <a:spcBef>
                          <a:spcPts val="295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Proper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suitable</a:t>
                      </a:r>
                      <a:r>
                        <a:rPr sz="125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terrain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tyres,</a:t>
                      </a:r>
                      <a:r>
                        <a:rPr sz="12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correct </a:t>
                      </a:r>
                      <a:r>
                        <a:rPr sz="12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psi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is</a:t>
                      </a:r>
                      <a:r>
                        <a:rPr sz="125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maintained</a:t>
                      </a:r>
                      <a:r>
                        <a:rPr sz="125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Acc</a:t>
                      </a:r>
                      <a:r>
                        <a:rPr sz="12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to</a:t>
                      </a:r>
                      <a:r>
                        <a:rPr sz="125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specification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112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21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9618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Electricals</a:t>
                      </a:r>
                    </a:p>
                  </a:txBody>
                  <a:tcPr marL="0" marR="0" marT="482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762000">
                        <a:lnSpc>
                          <a:spcPct val="105200"/>
                        </a:lnSpc>
                        <a:spcBef>
                          <a:spcPts val="300"/>
                        </a:spcBef>
                      </a:pPr>
                      <a:r>
                        <a:rPr sz="1250" spc="5">
                          <a:latin typeface="Calibri"/>
                          <a:cs typeface="Calibri"/>
                        </a:rPr>
                        <a:t>Improper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 F</a:t>
                      </a:r>
                      <a:r>
                        <a:rPr sz="1250">
                          <a:latin typeface="Calibri"/>
                          <a:cs typeface="Calibri"/>
                        </a:rPr>
                        <a:t>un</a:t>
                      </a:r>
                      <a:r>
                        <a:rPr sz="1250" spc="-20">
                          <a:latin typeface="Calibri"/>
                          <a:cs typeface="Calibri"/>
                        </a:rPr>
                        <a:t>c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t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i</a:t>
                      </a:r>
                      <a:r>
                        <a:rPr sz="125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250">
                          <a:latin typeface="Calibri"/>
                          <a:cs typeface="Calibri"/>
                        </a:rPr>
                        <a:t>n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i</a:t>
                      </a:r>
                      <a:r>
                        <a:rPr sz="1250">
                          <a:latin typeface="Calibri"/>
                          <a:cs typeface="Calibri"/>
                        </a:rPr>
                        <a:t>ng</a:t>
                      </a: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Endangers</a:t>
                      </a:r>
                      <a:r>
                        <a:rPr sz="1250" spc="1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>
                          <a:latin typeface="Calibri"/>
                          <a:cs typeface="Calibri"/>
                        </a:rPr>
                        <a:t>Driver’s</a:t>
                      </a:r>
                      <a:r>
                        <a:rPr sz="12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Safety/</a:t>
                      </a:r>
                      <a:endParaRPr sz="1250">
                        <a:latin typeface="Calibri"/>
                        <a:cs typeface="Calibri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Components</a:t>
                      </a:r>
                      <a:r>
                        <a:rPr sz="12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Mis-Function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482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331470">
                        <a:lnSpc>
                          <a:spcPct val="105200"/>
                        </a:lnSpc>
                        <a:spcBef>
                          <a:spcPts val="300"/>
                        </a:spcBef>
                      </a:pPr>
                      <a:r>
                        <a:rPr sz="1250" spc="-15">
                          <a:latin typeface="Calibri"/>
                          <a:cs typeface="Calibri"/>
                        </a:rPr>
                        <a:t>Water </a:t>
                      </a:r>
                      <a:r>
                        <a:rPr sz="1250">
                          <a:latin typeface="Calibri"/>
                          <a:cs typeface="Calibri"/>
                        </a:rPr>
                        <a:t>Damage/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Short </a:t>
                      </a:r>
                      <a:r>
                        <a:rPr sz="1250" spc="-27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Circuit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482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92710">
                        <a:lnSpc>
                          <a:spcPct val="105200"/>
                        </a:lnSpc>
                        <a:spcBef>
                          <a:spcPts val="300"/>
                        </a:spcBef>
                      </a:pPr>
                      <a:r>
                        <a:rPr sz="1250" spc="10">
                          <a:latin typeface="Calibri"/>
                          <a:cs typeface="Calibri"/>
                        </a:rPr>
                        <a:t>Proper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insulation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25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be</a:t>
                      </a:r>
                      <a:r>
                        <a:rPr sz="12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provided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250" spc="-265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wiring</a:t>
                      </a:r>
                      <a:r>
                        <a:rPr sz="125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5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2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be</a:t>
                      </a:r>
                      <a:r>
                        <a:rPr sz="125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5">
                          <a:latin typeface="Calibri"/>
                          <a:cs typeface="Calibri"/>
                        </a:rPr>
                        <a:t>properly</a:t>
                      </a:r>
                      <a:r>
                        <a:rPr sz="1250" spc="114"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10">
                          <a:latin typeface="Calibri"/>
                          <a:cs typeface="Calibri"/>
                        </a:rPr>
                        <a:t>done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61594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82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108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482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5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482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250" spc="35">
                          <a:latin typeface="Calibri"/>
                          <a:cs typeface="Calibri"/>
                        </a:rPr>
                        <a:t>18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5889" y="27622"/>
            <a:ext cx="1784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>
                <a:solidFill>
                  <a:srgbClr val="7E7E7E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21326" y="0"/>
            <a:ext cx="21367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>
                <a:latin typeface="Calibri"/>
                <a:cs typeface="Calibri"/>
              </a:rPr>
              <a:t>De</a:t>
            </a:r>
            <a:r>
              <a:rPr sz="1800" b="1" spc="25">
                <a:latin typeface="Calibri"/>
                <a:cs typeface="Calibri"/>
              </a:rPr>
              <a:t>s</a:t>
            </a:r>
            <a:r>
              <a:rPr sz="1800" b="1" spc="5">
                <a:latin typeface="Calibri"/>
                <a:cs typeface="Calibri"/>
              </a:rPr>
              <a:t>i</a:t>
            </a:r>
            <a:r>
              <a:rPr sz="1800" b="1" spc="-30">
                <a:latin typeface="Calibri"/>
                <a:cs typeface="Calibri"/>
              </a:rPr>
              <a:t>g</a:t>
            </a:r>
            <a:r>
              <a:rPr sz="1800" b="1">
                <a:latin typeface="Calibri"/>
                <a:cs typeface="Calibri"/>
              </a:rPr>
              <a:t>n</a:t>
            </a:r>
            <a:r>
              <a:rPr sz="1800" b="1" spc="-30">
                <a:latin typeface="Calibri"/>
                <a:cs typeface="Calibri"/>
              </a:rPr>
              <a:t> </a:t>
            </a:r>
            <a:r>
              <a:rPr sz="1800" b="1" spc="-95">
                <a:latin typeface="Calibri"/>
                <a:cs typeface="Calibri"/>
              </a:rPr>
              <a:t>V</a:t>
            </a:r>
            <a:r>
              <a:rPr sz="1800" b="1" spc="5">
                <a:latin typeface="Calibri"/>
                <a:cs typeface="Calibri"/>
              </a:rPr>
              <a:t>alida</a:t>
            </a:r>
            <a:r>
              <a:rPr sz="1800" b="1" spc="-25">
                <a:latin typeface="Calibri"/>
                <a:cs typeface="Calibri"/>
              </a:rPr>
              <a:t>t</a:t>
            </a:r>
            <a:r>
              <a:rPr sz="1800" b="1" spc="5">
                <a:latin typeface="Calibri"/>
                <a:cs typeface="Calibri"/>
              </a:rPr>
              <a:t>i</a:t>
            </a:r>
            <a:r>
              <a:rPr sz="1800" b="1">
                <a:latin typeface="Calibri"/>
                <a:cs typeface="Calibri"/>
              </a:rPr>
              <a:t>on</a:t>
            </a:r>
            <a:r>
              <a:rPr sz="1800" b="1" spc="-100">
                <a:latin typeface="Calibri"/>
                <a:cs typeface="Calibri"/>
              </a:rPr>
              <a:t> </a:t>
            </a:r>
            <a:r>
              <a:rPr sz="1800" b="1" spc="10">
                <a:latin typeface="Calibri"/>
                <a:cs typeface="Calibri"/>
              </a:rPr>
              <a:t>P</a:t>
            </a:r>
            <a:r>
              <a:rPr sz="1800" b="1" spc="5">
                <a:latin typeface="Calibri"/>
                <a:cs typeface="Calibri"/>
              </a:rPr>
              <a:t>la</a:t>
            </a:r>
            <a:r>
              <a:rPr sz="1800" b="1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05131"/>
              </p:ext>
            </p:extLst>
          </p:nvPr>
        </p:nvGraphicFramePr>
        <p:xfrm>
          <a:off x="28684" y="229615"/>
          <a:ext cx="12091669" cy="66175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9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4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8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57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>
                          <a:latin typeface="Calibri"/>
                          <a:cs typeface="Calibri"/>
                        </a:rPr>
                        <a:t>Vehicle</a:t>
                      </a:r>
                      <a:r>
                        <a:rPr sz="1400" b="1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Part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5"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1400" b="1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>
                          <a:latin typeface="Calibri"/>
                          <a:cs typeface="Calibri"/>
                        </a:rPr>
                        <a:t>Target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10">
                          <a:latin typeface="Calibri"/>
                          <a:cs typeface="Calibri"/>
                        </a:rPr>
                        <a:t>Acceptance</a:t>
                      </a:r>
                      <a:r>
                        <a:rPr sz="1400" b="1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5">
                          <a:latin typeface="Calibri"/>
                          <a:cs typeface="Calibri"/>
                        </a:rPr>
                        <a:t>Criteria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-95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b="1" spc="-3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b="1" spc="20">
                          <a:latin typeface="Calibri"/>
                          <a:cs typeface="Calibri"/>
                        </a:rPr>
                        <a:t>li</a:t>
                      </a:r>
                      <a:r>
                        <a:rPr sz="1400" b="1" spc="-1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b="1" spc="-3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b="1" spc="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b="1" spc="2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b="1" spc="-2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b="1" spc="-114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25">
                          <a:latin typeface="Calibri"/>
                          <a:cs typeface="Calibri"/>
                        </a:rPr>
                        <a:t>Met</a:t>
                      </a:r>
                      <a:r>
                        <a:rPr sz="1400" b="1" spc="-20">
                          <a:latin typeface="Calibri"/>
                          <a:cs typeface="Calibri"/>
                        </a:rPr>
                        <a:t>ho</a:t>
                      </a:r>
                      <a:r>
                        <a:rPr sz="1400" b="1">
                          <a:latin typeface="Calibri"/>
                          <a:cs typeface="Calibri"/>
                        </a:rPr>
                        <a:t>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8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Geometry</a:t>
                      </a:r>
                    </a:p>
                  </a:txBody>
                  <a:tcPr marL="0" marR="0" marT="1314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400" spc="-95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ng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1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5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</a:p>
                  </a:txBody>
                  <a:tcPr marL="0" marR="0" marT="1314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400" spc="-15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ght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ck</a:t>
                      </a:r>
                    </a:p>
                  </a:txBody>
                  <a:tcPr marL="0" marR="0" marT="1314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68580">
                        <a:lnSpc>
                          <a:spcPct val="102899"/>
                        </a:lnSpc>
                        <a:spcBef>
                          <a:spcPts val="14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Calculated</a:t>
                      </a:r>
                      <a:r>
                        <a:rPr sz="1400" spc="2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2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simulated</a:t>
                      </a:r>
                      <a:r>
                        <a:rPr sz="1400" spc="2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400" spc="2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Adams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Lotus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software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Steering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system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84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68580">
                        <a:lnSpc>
                          <a:spcPct val="102800"/>
                        </a:lnSpc>
                        <a:spcBef>
                          <a:spcPts val="200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Deviation</a:t>
                      </a:r>
                      <a:r>
                        <a:rPr sz="1400" spc="204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2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&lt;</a:t>
                      </a:r>
                      <a:r>
                        <a:rPr sz="1400" spc="1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0.05m</a:t>
                      </a:r>
                      <a:r>
                        <a:rPr sz="1400" spc="1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when</a:t>
                      </a:r>
                      <a:r>
                        <a:rPr sz="1400" spc="1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vehicle</a:t>
                      </a:r>
                      <a:r>
                        <a:rPr sz="1400" spc="1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2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run</a:t>
                      </a:r>
                      <a:r>
                        <a:rPr sz="1400" spc="2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204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1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straight </a:t>
                      </a:r>
                      <a:r>
                        <a:rPr sz="1400" spc="-3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line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hou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l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&lt;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1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</a:p>
                  </a:txBody>
                  <a:tcPr marL="0" marR="0" marT="1384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Simulations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Adams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Lotus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software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84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Transmission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7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ee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6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4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10">
                          <a:latin typeface="Calibri"/>
                          <a:cs typeface="Calibri"/>
                        </a:rPr>
                        <a:t>Tachometer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Oils</a:t>
                      </a:r>
                    </a:p>
                  </a:txBody>
                  <a:tcPr marL="0" marR="0" marT="13906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90805">
                        <a:lnSpc>
                          <a:spcPct val="102899"/>
                        </a:lnSpc>
                        <a:spcBef>
                          <a:spcPts val="209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There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40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leakage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oil</a:t>
                      </a:r>
                      <a:r>
                        <a:rPr sz="1400" spc="1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when</a:t>
                      </a:r>
                      <a:r>
                        <a:rPr sz="140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vehicle</a:t>
                      </a:r>
                      <a:r>
                        <a:rPr sz="140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rolled </a:t>
                      </a:r>
                      <a:r>
                        <a:rPr sz="1400" spc="-3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over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marR="66040">
                        <a:lnSpc>
                          <a:spcPct val="102899"/>
                        </a:lnSpc>
                        <a:spcBef>
                          <a:spcPts val="209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1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oil</a:t>
                      </a:r>
                      <a:r>
                        <a:rPr sz="1400" spc="1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spills</a:t>
                      </a:r>
                      <a:r>
                        <a:rPr sz="1400" spc="2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1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any</a:t>
                      </a:r>
                      <a:r>
                        <a:rPr sz="1400" spc="2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surface</a:t>
                      </a:r>
                      <a:r>
                        <a:rPr sz="1400" spc="1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when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vehicle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tilted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 marR="67310">
                        <a:lnSpc>
                          <a:spcPct val="102899"/>
                        </a:lnSpc>
                        <a:spcBef>
                          <a:spcPts val="209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Observed</a:t>
                      </a:r>
                      <a:r>
                        <a:rPr sz="140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manually</a:t>
                      </a:r>
                      <a:r>
                        <a:rPr sz="1400" spc="2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by</a:t>
                      </a:r>
                      <a:r>
                        <a:rPr sz="1400" spc="2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tilting</a:t>
                      </a:r>
                      <a:r>
                        <a:rPr sz="1400" spc="204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on</a:t>
                      </a:r>
                      <a:r>
                        <a:rPr sz="1400" spc="1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16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dry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surface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-2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7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</a:p>
                  </a:txBody>
                  <a:tcPr marL="0" marR="0" marT="3302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3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seconds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Less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than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5</a:t>
                      </a:r>
                      <a:r>
                        <a:rPr sz="14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seconds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w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ch</a:t>
                      </a:r>
                    </a:p>
                  </a:txBody>
                  <a:tcPr marL="0" marR="0" marT="3302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40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400" spc="-25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3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04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</a:p>
                  </a:txBody>
                  <a:tcPr marL="0" marR="0" marT="1403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Braking</a:t>
                      </a:r>
                      <a:r>
                        <a:rPr sz="1400" spc="2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distance</a:t>
                      </a:r>
                      <a:r>
                        <a:rPr sz="1400" spc="1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400" spc="204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1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less</a:t>
                      </a:r>
                      <a:r>
                        <a:rPr sz="1400" spc="2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than</a:t>
                      </a: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30">
                          <a:latin typeface="Calibri"/>
                          <a:cs typeface="Calibri"/>
                        </a:rPr>
                        <a:t>8m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nc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033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Braking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66675">
                        <a:lnSpc>
                          <a:spcPct val="102899"/>
                        </a:lnSpc>
                        <a:spcBef>
                          <a:spcPts val="22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All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four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wheels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locking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at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same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when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brakes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 are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applied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71120">
                        <a:lnSpc>
                          <a:spcPct val="102899"/>
                        </a:lnSpc>
                        <a:spcBef>
                          <a:spcPts val="22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All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wheels</a:t>
                      </a:r>
                      <a:r>
                        <a:rPr sz="140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40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lock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simultaneously </a:t>
                      </a:r>
                      <a:r>
                        <a:rPr sz="1400" spc="-3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without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rolling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motion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4</a:t>
                      </a:r>
                      <a:r>
                        <a:rPr sz="1400">
                          <a:latin typeface="Calibri"/>
                          <a:cs typeface="Calibri"/>
                        </a:rPr>
                        <a:t>0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k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Gradeability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22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Able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climb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hill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at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45°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inclination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22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marR="76200">
                        <a:lnSpc>
                          <a:spcPct val="102800"/>
                        </a:lnSpc>
                        <a:spcBef>
                          <a:spcPts val="229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Enough</a:t>
                      </a:r>
                      <a:r>
                        <a:rPr sz="1400" spc="2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torque</a:t>
                      </a:r>
                      <a:r>
                        <a:rPr sz="1400" spc="2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400" spc="2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2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generated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climb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at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33</a:t>
                      </a:r>
                      <a:r>
                        <a:rPr sz="14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inclination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400" spc="-10">
                          <a:latin typeface="Calibri"/>
                          <a:cs typeface="Calibri"/>
                        </a:rPr>
                        <a:t>Uphill/inclined</a:t>
                      </a:r>
                      <a:r>
                        <a:rPr sz="140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ramp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224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ck</a:t>
                      </a:r>
                    </a:p>
                  </a:txBody>
                  <a:tcPr marL="0" marR="0" marT="1428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71755">
                        <a:lnSpc>
                          <a:spcPct val="102899"/>
                        </a:lnSpc>
                        <a:spcBef>
                          <a:spcPts val="234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1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changes</a:t>
                      </a:r>
                      <a:r>
                        <a:rPr sz="140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any</a:t>
                      </a:r>
                      <a:r>
                        <a:rPr sz="140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1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members/links</a:t>
                      </a:r>
                      <a:r>
                        <a:rPr sz="1400" spc="1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when</a:t>
                      </a:r>
                      <a:r>
                        <a:rPr sz="1400" spc="1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dropped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at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height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2m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81280">
                        <a:lnSpc>
                          <a:spcPct val="102899"/>
                        </a:lnSpc>
                        <a:spcBef>
                          <a:spcPts val="234"/>
                        </a:spcBef>
                        <a:tabLst>
                          <a:tab pos="476884" algn="l"/>
                          <a:tab pos="1620520" algn="l"/>
                          <a:tab pos="1945005" algn="l"/>
                        </a:tabLst>
                      </a:pPr>
                      <a:r>
                        <a:rPr sz="1400" spc="-2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o	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t	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f	c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pon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s 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w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opp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</a:p>
                  </a:txBody>
                  <a:tcPr marL="0" marR="0" marT="2984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y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1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c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Ergonomics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Clearances</a:t>
                      </a:r>
                      <a:r>
                        <a:rPr sz="1400" spc="6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5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be </a:t>
                      </a:r>
                      <a:r>
                        <a:rPr sz="1400" spc="2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checked</a:t>
                      </a:r>
                      <a:r>
                        <a:rPr sz="1400" spc="2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using </a:t>
                      </a:r>
                      <a:r>
                        <a:rPr sz="1400" spc="1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PVC</a:t>
                      </a:r>
                      <a:r>
                        <a:rPr sz="1400" spc="5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mock</a:t>
                      </a:r>
                      <a:r>
                        <a:rPr sz="1400" spc="6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up </a:t>
                      </a:r>
                      <a:r>
                        <a:rPr sz="1400" spc="1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and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con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co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All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clearances</a:t>
                      </a:r>
                      <a:r>
                        <a:rPr sz="140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40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&gt;3’’</a:t>
                      </a:r>
                      <a:r>
                        <a:rPr sz="140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;</a:t>
                      </a:r>
                      <a:r>
                        <a:rPr sz="140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helmet</a:t>
                      </a: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RR</a:t>
                      </a:r>
                      <a:r>
                        <a:rPr sz="1400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po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w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ch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6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’’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400" spc="-2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pe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1817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400" spc="-25">
                          <a:latin typeface="Calibri"/>
                          <a:cs typeface="Calibri"/>
                        </a:rPr>
                        <a:t>Weld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Ment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400" spc="5">
                          <a:latin typeface="Calibri"/>
                          <a:cs typeface="Calibri"/>
                        </a:rPr>
                        <a:t>Point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welding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area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shouldn’t</a:t>
                      </a:r>
                      <a:r>
                        <a:rPr sz="1400" spc="-1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undergo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any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bend/crack.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88900">
                        <a:lnSpc>
                          <a:spcPct val="102800"/>
                        </a:lnSpc>
                        <a:spcBef>
                          <a:spcPts val="245"/>
                        </a:spcBef>
                      </a:pPr>
                      <a:r>
                        <a:rPr sz="1400" spc="-5">
                          <a:latin typeface="Calibri"/>
                          <a:cs typeface="Calibri"/>
                        </a:rPr>
                        <a:t>Material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140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break</a:t>
                      </a:r>
                      <a:r>
                        <a:rPr sz="140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point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near </a:t>
                      </a:r>
                      <a:r>
                        <a:rPr sz="1400" spc="-30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w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</a:p>
                  </a:txBody>
                  <a:tcPr marL="0" marR="0" marT="311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400" spc="2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uc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ti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v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1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400" spc="1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arms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400" spc="-2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nd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occ</a:t>
                      </a:r>
                      <a:r>
                        <a:rPr sz="1400">
                          <a:latin typeface="Calibri"/>
                          <a:cs typeface="Calibri"/>
                        </a:rPr>
                        <a:t>u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w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nd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w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ee</a:t>
                      </a:r>
                      <a:r>
                        <a:rPr sz="1400">
                          <a:latin typeface="Calibri"/>
                          <a:cs typeface="Calibri"/>
                        </a:rPr>
                        <a:t>l</a:t>
                      </a:r>
                    </a:p>
                  </a:txBody>
                  <a:tcPr marL="0" marR="0" marT="1447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marR="71755">
                        <a:lnSpc>
                          <a:spcPct val="102800"/>
                        </a:lnSpc>
                        <a:spcBef>
                          <a:spcPts val="250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deformations</a:t>
                      </a:r>
                      <a:r>
                        <a:rPr sz="140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when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heavy</a:t>
                      </a:r>
                      <a:r>
                        <a:rPr sz="140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loads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are</a:t>
                      </a:r>
                      <a:r>
                        <a:rPr sz="1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applied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1400" spc="1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>
                          <a:latin typeface="Calibri"/>
                          <a:cs typeface="Calibri"/>
                        </a:rPr>
                        <a:t>p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gn</a:t>
                      </a:r>
                      <a:r>
                        <a:rPr sz="1400" spc="-8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w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it</a:t>
                      </a:r>
                      <a:r>
                        <a:rPr sz="1400">
                          <a:latin typeface="Calibri"/>
                          <a:cs typeface="Calibri"/>
                        </a:rPr>
                        <a:t>h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op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ti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</a:t>
                      </a:r>
                      <a:r>
                        <a:rPr sz="1400">
                          <a:latin typeface="Calibri"/>
                          <a:cs typeface="Calibri"/>
                        </a:rPr>
                        <a:t>m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30">
                          <a:latin typeface="Calibri"/>
                          <a:cs typeface="Calibri"/>
                        </a:rPr>
                        <a:t>F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sz="1400">
                          <a:latin typeface="Calibri"/>
                          <a:cs typeface="Calibri"/>
                        </a:rPr>
                        <a:t>S</a:t>
                      </a:r>
                    </a:p>
                  </a:txBody>
                  <a:tcPr marL="0" marR="0" marT="14478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1815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Mountings</a:t>
                      </a:r>
                    </a:p>
                  </a:txBody>
                  <a:tcPr marL="0" marR="0" marT="1454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400" spc="-2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b</a:t>
                      </a:r>
                      <a:r>
                        <a:rPr sz="1400" spc="-40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nd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n</a:t>
                      </a:r>
                      <a:r>
                        <a:rPr sz="1400">
                          <a:latin typeface="Calibri"/>
                          <a:cs typeface="Calibri"/>
                        </a:rPr>
                        <a:t>g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ob</a:t>
                      </a:r>
                      <a:r>
                        <a:rPr sz="1400" spc="4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spc="30">
                          <a:latin typeface="Calibri"/>
                          <a:cs typeface="Calibri"/>
                        </a:rPr>
                        <a:t>v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  <a:r>
                        <a:rPr sz="140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i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35">
                          <a:latin typeface="Calibri"/>
                          <a:cs typeface="Calibri"/>
                        </a:rPr>
                        <a:t>s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udd</a:t>
                      </a:r>
                      <a:r>
                        <a:rPr sz="1400" spc="-35">
                          <a:latin typeface="Calibri"/>
                          <a:cs typeface="Calibri"/>
                        </a:rPr>
                        <a:t>e</a:t>
                      </a:r>
                      <a:r>
                        <a:rPr sz="1400">
                          <a:latin typeface="Calibri"/>
                          <a:cs typeface="Calibri"/>
                        </a:rPr>
                        <a:t>n</a:t>
                      </a:r>
                      <a:r>
                        <a:rPr sz="14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>
                          <a:latin typeface="Calibri"/>
                          <a:cs typeface="Calibri"/>
                        </a:rPr>
                        <a:t>l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o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a</a:t>
                      </a:r>
                      <a:r>
                        <a:rPr sz="1400">
                          <a:latin typeface="Calibri"/>
                          <a:cs typeface="Calibri"/>
                        </a:rPr>
                        <a:t>d</a:t>
                      </a:r>
                    </a:p>
                  </a:txBody>
                  <a:tcPr marL="0" marR="0" marT="1454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81915">
                        <a:lnSpc>
                          <a:spcPct val="102800"/>
                        </a:lnSpc>
                        <a:spcBef>
                          <a:spcPts val="254"/>
                        </a:spcBef>
                      </a:pPr>
                      <a:r>
                        <a:rPr sz="1400">
                          <a:latin typeface="Calibri"/>
                          <a:cs typeface="Calibri"/>
                        </a:rPr>
                        <a:t>No</a:t>
                      </a:r>
                      <a:r>
                        <a:rPr sz="140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deformation</a:t>
                      </a:r>
                      <a:r>
                        <a:rPr sz="140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>
                          <a:latin typeface="Calibri"/>
                          <a:cs typeface="Calibri"/>
                        </a:rPr>
                        <a:t>is</a:t>
                      </a:r>
                      <a:r>
                        <a:rPr sz="1400" spc="9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observed</a:t>
                      </a:r>
                      <a:r>
                        <a:rPr sz="1400" spc="6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at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weld</a:t>
                      </a:r>
                      <a:r>
                        <a:rPr sz="1400" spc="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10">
                          <a:latin typeface="Calibri"/>
                          <a:cs typeface="Calibri"/>
                        </a:rPr>
                        <a:t>/ </a:t>
                      </a:r>
                      <a:r>
                        <a:rPr sz="1400" spc="-30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clamp</a:t>
                      </a:r>
                      <a:r>
                        <a:rPr sz="1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>
                          <a:latin typeface="Calibri"/>
                          <a:cs typeface="Calibri"/>
                        </a:rPr>
                        <a:t>region</a:t>
                      </a:r>
                    </a:p>
                  </a:txBody>
                  <a:tcPr marL="0" marR="0" marT="32384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400" spc="-10">
                          <a:latin typeface="Calibri"/>
                          <a:cs typeface="Calibri"/>
                        </a:rPr>
                        <a:t>Triangulation</a:t>
                      </a:r>
                      <a:r>
                        <a:rPr sz="1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5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25">
                          <a:latin typeface="Calibri"/>
                          <a:cs typeface="Calibri"/>
                        </a:rPr>
                        <a:t>Ansys</a:t>
                      </a:r>
                      <a:r>
                        <a:rPr sz="1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">
                          <a:latin typeface="Calibri"/>
                          <a:cs typeface="Calibri"/>
                        </a:rPr>
                        <a:t>validation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5889" y="27622"/>
            <a:ext cx="1784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>
                <a:solidFill>
                  <a:srgbClr val="7E7E7E"/>
                </a:solidFill>
                <a:latin typeface="Calibri"/>
                <a:cs typeface="Calibri"/>
              </a:rPr>
              <a:t>12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43675" y="5018659"/>
            <a:ext cx="3686175" cy="1591945"/>
            <a:chOff x="6543675" y="5018659"/>
            <a:chExt cx="3686175" cy="1591945"/>
          </a:xfrm>
        </p:grpSpPr>
        <p:pic>
          <p:nvPicPr>
            <p:cNvPr id="3" name="object 3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543675" y="5018659"/>
              <a:ext cx="2181098" cy="159169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496300" y="5038725"/>
              <a:ext cx="1733550" cy="1562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2707" y="20003"/>
            <a:ext cx="6868159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5"/>
              <a:t>Team</a:t>
            </a:r>
            <a:r>
              <a:rPr spc="-65"/>
              <a:t> </a:t>
            </a:r>
            <a:r>
              <a:rPr spc="15"/>
              <a:t>Composition</a:t>
            </a:r>
            <a:r>
              <a:rPr spc="-185"/>
              <a:t> </a:t>
            </a:r>
            <a:r>
              <a:t>With</a:t>
            </a:r>
            <a:r>
              <a:rPr spc="-30"/>
              <a:t> </a:t>
            </a:r>
            <a:r>
              <a:t>Work</a:t>
            </a:r>
            <a:r>
              <a:rPr spc="-140"/>
              <a:t> </a:t>
            </a:r>
            <a:r>
              <a:rPr spc="10"/>
              <a:t>Allocation</a:t>
            </a:r>
            <a:r>
              <a:rPr spc="-185"/>
              <a:t> </a:t>
            </a:r>
            <a:r>
              <a:rPr spc="-10"/>
              <a:t>and</a:t>
            </a:r>
            <a:r>
              <a:rPr spc="45"/>
              <a:t> </a:t>
            </a:r>
            <a:r>
              <a:rPr spc="5"/>
              <a:t>Workshop</a:t>
            </a:r>
            <a:r>
              <a:rPr spc="-185"/>
              <a:t> </a:t>
            </a:r>
            <a:r>
              <a:t>Facilities</a:t>
            </a:r>
          </a:p>
        </p:txBody>
      </p:sp>
      <p:pic>
        <p:nvPicPr>
          <p:cNvPr id="6" name="object 6"/>
          <p:cNvPicPr/>
          <p:nvPr/>
        </p:nvPicPr>
        <p:blipFill>
          <a:blip r:embed="rId4"/>
          <a:stretch>
            <a:fillRect/>
          </a:stretch>
        </p:blipFill>
        <p:spPr>
          <a:xfrm>
            <a:off x="6553200" y="723900"/>
            <a:ext cx="1809750" cy="13239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/>
          <a:stretch>
            <a:fillRect/>
          </a:stretch>
        </p:blipFill>
        <p:spPr>
          <a:xfrm>
            <a:off x="10325100" y="2428875"/>
            <a:ext cx="1771650" cy="16573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/>
          <a:stretch>
            <a:fillRect/>
          </a:stretch>
        </p:blipFill>
        <p:spPr>
          <a:xfrm>
            <a:off x="6553200" y="2438400"/>
            <a:ext cx="1819275" cy="16573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/>
          <a:stretch>
            <a:fillRect/>
          </a:stretch>
        </p:blipFill>
        <p:spPr>
          <a:xfrm>
            <a:off x="8420100" y="723900"/>
            <a:ext cx="1804416" cy="13335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100" y="5100444"/>
            <a:ext cx="1762125" cy="1457198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41312" y="1084325"/>
            <a:ext cx="1613535" cy="774700"/>
            <a:chOff x="341312" y="1084325"/>
            <a:chExt cx="1613535" cy="774700"/>
          </a:xfrm>
        </p:grpSpPr>
        <p:sp>
          <p:nvSpPr>
            <p:cNvPr id="12" name="object 12"/>
            <p:cNvSpPr/>
            <p:nvPr/>
          </p:nvSpPr>
          <p:spPr>
            <a:xfrm>
              <a:off x="347662" y="1090675"/>
              <a:ext cx="1600835" cy="762000"/>
            </a:xfrm>
            <a:custGeom>
              <a:avLst/>
              <a:gdLst/>
              <a:ahLst/>
              <a:cxnLst/>
              <a:rect l="l" t="t" r="r" b="b"/>
              <a:pathLst>
                <a:path w="1600835" h="762000">
                  <a:moveTo>
                    <a:pt x="1473136" y="0"/>
                  </a:moveTo>
                  <a:lnTo>
                    <a:pt x="127000" y="0"/>
                  </a:lnTo>
                  <a:lnTo>
                    <a:pt x="77565" y="9967"/>
                  </a:lnTo>
                  <a:lnTo>
                    <a:pt x="37196" y="37163"/>
                  </a:lnTo>
                  <a:lnTo>
                    <a:pt x="9980" y="77527"/>
                  </a:lnTo>
                  <a:lnTo>
                    <a:pt x="0" y="127000"/>
                  </a:lnTo>
                  <a:lnTo>
                    <a:pt x="0" y="634873"/>
                  </a:lnTo>
                  <a:lnTo>
                    <a:pt x="9980" y="684365"/>
                  </a:lnTo>
                  <a:lnTo>
                    <a:pt x="37196" y="724773"/>
                  </a:lnTo>
                  <a:lnTo>
                    <a:pt x="77565" y="752012"/>
                  </a:lnTo>
                  <a:lnTo>
                    <a:pt x="127000" y="762000"/>
                  </a:lnTo>
                  <a:lnTo>
                    <a:pt x="1473136" y="762000"/>
                  </a:lnTo>
                  <a:lnTo>
                    <a:pt x="1522628" y="752012"/>
                  </a:lnTo>
                  <a:lnTo>
                    <a:pt x="1563036" y="724773"/>
                  </a:lnTo>
                  <a:lnTo>
                    <a:pt x="1590276" y="684365"/>
                  </a:lnTo>
                  <a:lnTo>
                    <a:pt x="1600263" y="634873"/>
                  </a:lnTo>
                  <a:lnTo>
                    <a:pt x="1600263" y="127000"/>
                  </a:lnTo>
                  <a:lnTo>
                    <a:pt x="1590276" y="77527"/>
                  </a:lnTo>
                  <a:lnTo>
                    <a:pt x="1563036" y="37163"/>
                  </a:lnTo>
                  <a:lnTo>
                    <a:pt x="1522628" y="9967"/>
                  </a:lnTo>
                  <a:lnTo>
                    <a:pt x="1473136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347662" y="1090675"/>
              <a:ext cx="1600835" cy="762000"/>
            </a:xfrm>
            <a:custGeom>
              <a:avLst/>
              <a:gdLst/>
              <a:ahLst/>
              <a:cxnLst/>
              <a:rect l="l" t="t" r="r" b="b"/>
              <a:pathLst>
                <a:path w="1600835" h="762000">
                  <a:moveTo>
                    <a:pt x="0" y="127000"/>
                  </a:moveTo>
                  <a:lnTo>
                    <a:pt x="9980" y="77527"/>
                  </a:lnTo>
                  <a:lnTo>
                    <a:pt x="37196" y="37163"/>
                  </a:lnTo>
                  <a:lnTo>
                    <a:pt x="77565" y="9967"/>
                  </a:lnTo>
                  <a:lnTo>
                    <a:pt x="127000" y="0"/>
                  </a:lnTo>
                  <a:lnTo>
                    <a:pt x="1473136" y="0"/>
                  </a:lnTo>
                  <a:lnTo>
                    <a:pt x="1522628" y="9967"/>
                  </a:lnTo>
                  <a:lnTo>
                    <a:pt x="1563036" y="37163"/>
                  </a:lnTo>
                  <a:lnTo>
                    <a:pt x="1590276" y="77527"/>
                  </a:lnTo>
                  <a:lnTo>
                    <a:pt x="1600263" y="127000"/>
                  </a:lnTo>
                  <a:lnTo>
                    <a:pt x="1600263" y="634873"/>
                  </a:lnTo>
                  <a:lnTo>
                    <a:pt x="1590276" y="684365"/>
                  </a:lnTo>
                  <a:lnTo>
                    <a:pt x="1563036" y="724773"/>
                  </a:lnTo>
                  <a:lnTo>
                    <a:pt x="1522628" y="752012"/>
                  </a:lnTo>
                  <a:lnTo>
                    <a:pt x="1473136" y="762000"/>
                  </a:lnTo>
                  <a:lnTo>
                    <a:pt x="127000" y="762000"/>
                  </a:lnTo>
                  <a:lnTo>
                    <a:pt x="77565" y="752012"/>
                  </a:lnTo>
                  <a:lnTo>
                    <a:pt x="37196" y="724773"/>
                  </a:lnTo>
                  <a:lnTo>
                    <a:pt x="9980" y="684365"/>
                  </a:lnTo>
                  <a:lnTo>
                    <a:pt x="0" y="634873"/>
                  </a:lnTo>
                  <a:lnTo>
                    <a:pt x="0" y="1270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5993" y="1146269"/>
            <a:ext cx="1226820" cy="45582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" marR="5080" indent="-8890" algn="ctr">
              <a:lnSpc>
                <a:spcPct val="100600"/>
              </a:lnSpc>
              <a:spcBef>
                <a:spcPts val="114"/>
              </a:spcBef>
            </a:pPr>
            <a:r>
              <a:rPr lang="en-IN" sz="1400" b="1" spc="5" dirty="0">
                <a:latin typeface="Calibri"/>
                <a:cs typeface="Calibri"/>
              </a:rPr>
              <a:t>Satvik</a:t>
            </a:r>
          </a:p>
          <a:p>
            <a:pPr marL="12065" marR="5080" indent="-8890" algn="ctr">
              <a:lnSpc>
                <a:spcPct val="100600"/>
              </a:lnSpc>
              <a:spcBef>
                <a:spcPts val="114"/>
              </a:spcBef>
            </a:pPr>
            <a:r>
              <a:rPr lang="en-US" sz="1400" b="1" dirty="0">
                <a:cs typeface="Calibri"/>
              </a:rPr>
              <a:t>K Tushar</a:t>
            </a:r>
            <a:endParaRPr lang="en-IN" sz="1400" b="1" spc="5" dirty="0"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703576" y="1036700"/>
            <a:ext cx="1346200" cy="765175"/>
            <a:chOff x="2703576" y="1036700"/>
            <a:chExt cx="1346200" cy="765175"/>
          </a:xfrm>
        </p:grpSpPr>
        <p:sp>
          <p:nvSpPr>
            <p:cNvPr id="16" name="object 16"/>
            <p:cNvSpPr/>
            <p:nvPr/>
          </p:nvSpPr>
          <p:spPr>
            <a:xfrm>
              <a:off x="2709926" y="1043050"/>
              <a:ext cx="1333500" cy="752475"/>
            </a:xfrm>
            <a:custGeom>
              <a:avLst/>
              <a:gdLst/>
              <a:ahLst/>
              <a:cxnLst/>
              <a:rect l="l" t="t" r="r" b="b"/>
              <a:pathLst>
                <a:path w="1333500" h="752475">
                  <a:moveTo>
                    <a:pt x="1208024" y="0"/>
                  </a:moveTo>
                  <a:lnTo>
                    <a:pt x="125349" y="0"/>
                  </a:lnTo>
                  <a:lnTo>
                    <a:pt x="76563" y="9852"/>
                  </a:lnTo>
                  <a:lnTo>
                    <a:pt x="36718" y="36718"/>
                  </a:lnTo>
                  <a:lnTo>
                    <a:pt x="9852" y="76563"/>
                  </a:lnTo>
                  <a:lnTo>
                    <a:pt x="0" y="125349"/>
                  </a:lnTo>
                  <a:lnTo>
                    <a:pt x="0" y="626999"/>
                  </a:lnTo>
                  <a:lnTo>
                    <a:pt x="9852" y="675804"/>
                  </a:lnTo>
                  <a:lnTo>
                    <a:pt x="36718" y="715692"/>
                  </a:lnTo>
                  <a:lnTo>
                    <a:pt x="76563" y="742602"/>
                  </a:lnTo>
                  <a:lnTo>
                    <a:pt x="125349" y="752475"/>
                  </a:lnTo>
                  <a:lnTo>
                    <a:pt x="1208024" y="752475"/>
                  </a:lnTo>
                  <a:lnTo>
                    <a:pt x="1256829" y="742602"/>
                  </a:lnTo>
                  <a:lnTo>
                    <a:pt x="1296717" y="715692"/>
                  </a:lnTo>
                  <a:lnTo>
                    <a:pt x="1323627" y="675804"/>
                  </a:lnTo>
                  <a:lnTo>
                    <a:pt x="1333500" y="626999"/>
                  </a:lnTo>
                  <a:lnTo>
                    <a:pt x="1333500" y="125349"/>
                  </a:lnTo>
                  <a:lnTo>
                    <a:pt x="1323627" y="76563"/>
                  </a:lnTo>
                  <a:lnTo>
                    <a:pt x="1296717" y="36718"/>
                  </a:lnTo>
                  <a:lnTo>
                    <a:pt x="1256829" y="9852"/>
                  </a:lnTo>
                  <a:lnTo>
                    <a:pt x="1208024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09926" y="1043050"/>
              <a:ext cx="1333500" cy="752475"/>
            </a:xfrm>
            <a:custGeom>
              <a:avLst/>
              <a:gdLst/>
              <a:ahLst/>
              <a:cxnLst/>
              <a:rect l="l" t="t" r="r" b="b"/>
              <a:pathLst>
                <a:path w="1333500" h="752475">
                  <a:moveTo>
                    <a:pt x="0" y="125349"/>
                  </a:moveTo>
                  <a:lnTo>
                    <a:pt x="9852" y="76563"/>
                  </a:lnTo>
                  <a:lnTo>
                    <a:pt x="36718" y="36718"/>
                  </a:lnTo>
                  <a:lnTo>
                    <a:pt x="76563" y="9852"/>
                  </a:lnTo>
                  <a:lnTo>
                    <a:pt x="125349" y="0"/>
                  </a:lnTo>
                  <a:lnTo>
                    <a:pt x="1208024" y="0"/>
                  </a:lnTo>
                  <a:lnTo>
                    <a:pt x="1256829" y="9852"/>
                  </a:lnTo>
                  <a:lnTo>
                    <a:pt x="1296717" y="36718"/>
                  </a:lnTo>
                  <a:lnTo>
                    <a:pt x="1323627" y="76563"/>
                  </a:lnTo>
                  <a:lnTo>
                    <a:pt x="1333500" y="125349"/>
                  </a:lnTo>
                  <a:lnTo>
                    <a:pt x="1333500" y="626999"/>
                  </a:lnTo>
                  <a:lnTo>
                    <a:pt x="1323627" y="675804"/>
                  </a:lnTo>
                  <a:lnTo>
                    <a:pt x="1296717" y="715692"/>
                  </a:lnTo>
                  <a:lnTo>
                    <a:pt x="1256829" y="742602"/>
                  </a:lnTo>
                  <a:lnTo>
                    <a:pt x="1208024" y="752475"/>
                  </a:lnTo>
                  <a:lnTo>
                    <a:pt x="125349" y="752475"/>
                  </a:lnTo>
                  <a:lnTo>
                    <a:pt x="76563" y="742602"/>
                  </a:lnTo>
                  <a:lnTo>
                    <a:pt x="36718" y="715692"/>
                  </a:lnTo>
                  <a:lnTo>
                    <a:pt x="9852" y="675804"/>
                  </a:lnTo>
                  <a:lnTo>
                    <a:pt x="0" y="626999"/>
                  </a:lnTo>
                  <a:lnTo>
                    <a:pt x="0" y="12534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191639" y="675894"/>
            <a:ext cx="2451861" cy="1357231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sz="1400" b="1" spc="-5">
                <a:latin typeface="Calibri"/>
                <a:cs typeface="Calibri"/>
              </a:rPr>
              <a:t>Quality/Testing/Validation</a:t>
            </a:r>
            <a:endParaRPr sz="1400">
              <a:latin typeface="Calibri"/>
              <a:cs typeface="Calibri"/>
            </a:endParaRPr>
          </a:p>
          <a:p>
            <a:pPr marL="521334" marR="702945" indent="10160" algn="ctr">
              <a:lnSpc>
                <a:spcPct val="100600"/>
              </a:lnSpc>
              <a:spcBef>
                <a:spcPts val="665"/>
              </a:spcBef>
            </a:pPr>
            <a:r>
              <a:rPr sz="1400" spc="15">
                <a:latin typeface="Calibri"/>
                <a:cs typeface="Calibri"/>
              </a:rPr>
              <a:t>A</a:t>
            </a:r>
            <a:r>
              <a:rPr lang="en-IN" sz="1400" spc="15" err="1">
                <a:latin typeface="Calibri"/>
                <a:cs typeface="Calibri"/>
              </a:rPr>
              <a:t>bhiram Saraschandra Vikas</a:t>
            </a:r>
          </a:p>
          <a:p>
            <a:pPr marL="521334" marR="702945" indent="10160" algn="ctr">
              <a:lnSpc>
                <a:spcPct val="100600"/>
              </a:lnSpc>
              <a:spcBef>
                <a:spcPts val="665"/>
              </a:spcBef>
            </a:pPr>
            <a:endParaRPr lang="en-IN" sz="1400" spc="1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23373" y="1148743"/>
            <a:ext cx="1346200" cy="755650"/>
            <a:chOff x="4875276" y="1036700"/>
            <a:chExt cx="1346200" cy="755650"/>
          </a:xfrm>
        </p:grpSpPr>
        <p:sp>
          <p:nvSpPr>
            <p:cNvPr id="20" name="object 20"/>
            <p:cNvSpPr/>
            <p:nvPr/>
          </p:nvSpPr>
          <p:spPr>
            <a:xfrm>
              <a:off x="4881626" y="1043050"/>
              <a:ext cx="1333500" cy="742950"/>
            </a:xfrm>
            <a:custGeom>
              <a:avLst/>
              <a:gdLst/>
              <a:ahLst/>
              <a:cxnLst/>
              <a:rect l="l" t="t" r="r" b="b"/>
              <a:pathLst>
                <a:path w="1333500" h="742950">
                  <a:moveTo>
                    <a:pt x="1209548" y="0"/>
                  </a:moveTo>
                  <a:lnTo>
                    <a:pt x="123825" y="0"/>
                  </a:lnTo>
                  <a:lnTo>
                    <a:pt x="75598" y="9721"/>
                  </a:lnTo>
                  <a:lnTo>
                    <a:pt x="36242" y="36242"/>
                  </a:lnTo>
                  <a:lnTo>
                    <a:pt x="9721" y="75598"/>
                  </a:lnTo>
                  <a:lnTo>
                    <a:pt x="0" y="123825"/>
                  </a:lnTo>
                  <a:lnTo>
                    <a:pt x="0" y="618998"/>
                  </a:lnTo>
                  <a:lnTo>
                    <a:pt x="9721" y="667244"/>
                  </a:lnTo>
                  <a:lnTo>
                    <a:pt x="36242" y="706643"/>
                  </a:lnTo>
                  <a:lnTo>
                    <a:pt x="75598" y="733208"/>
                  </a:lnTo>
                  <a:lnTo>
                    <a:pt x="123825" y="742950"/>
                  </a:lnTo>
                  <a:lnTo>
                    <a:pt x="1209548" y="742950"/>
                  </a:lnTo>
                  <a:lnTo>
                    <a:pt x="1257794" y="733208"/>
                  </a:lnTo>
                  <a:lnTo>
                    <a:pt x="1297193" y="706643"/>
                  </a:lnTo>
                  <a:lnTo>
                    <a:pt x="1323758" y="667244"/>
                  </a:lnTo>
                  <a:lnTo>
                    <a:pt x="1333500" y="618998"/>
                  </a:lnTo>
                  <a:lnTo>
                    <a:pt x="1333500" y="123825"/>
                  </a:lnTo>
                  <a:lnTo>
                    <a:pt x="1323758" y="75598"/>
                  </a:lnTo>
                  <a:lnTo>
                    <a:pt x="1297193" y="36242"/>
                  </a:lnTo>
                  <a:lnTo>
                    <a:pt x="1257794" y="9721"/>
                  </a:lnTo>
                  <a:lnTo>
                    <a:pt x="1209548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81626" y="1043050"/>
              <a:ext cx="1333500" cy="742950"/>
            </a:xfrm>
            <a:custGeom>
              <a:avLst/>
              <a:gdLst/>
              <a:ahLst/>
              <a:cxnLst/>
              <a:rect l="l" t="t" r="r" b="b"/>
              <a:pathLst>
                <a:path w="1333500" h="742950">
                  <a:moveTo>
                    <a:pt x="0" y="123825"/>
                  </a:moveTo>
                  <a:lnTo>
                    <a:pt x="9721" y="75598"/>
                  </a:lnTo>
                  <a:lnTo>
                    <a:pt x="36242" y="36242"/>
                  </a:lnTo>
                  <a:lnTo>
                    <a:pt x="75598" y="9721"/>
                  </a:lnTo>
                  <a:lnTo>
                    <a:pt x="123825" y="0"/>
                  </a:lnTo>
                  <a:lnTo>
                    <a:pt x="1209548" y="0"/>
                  </a:lnTo>
                  <a:lnTo>
                    <a:pt x="1257794" y="9721"/>
                  </a:lnTo>
                  <a:lnTo>
                    <a:pt x="1297193" y="36242"/>
                  </a:lnTo>
                  <a:lnTo>
                    <a:pt x="1323758" y="75598"/>
                  </a:lnTo>
                  <a:lnTo>
                    <a:pt x="1333500" y="123825"/>
                  </a:lnTo>
                  <a:lnTo>
                    <a:pt x="1333500" y="618998"/>
                  </a:lnTo>
                  <a:lnTo>
                    <a:pt x="1323758" y="667244"/>
                  </a:lnTo>
                  <a:lnTo>
                    <a:pt x="1297193" y="706643"/>
                  </a:lnTo>
                  <a:lnTo>
                    <a:pt x="1257794" y="733208"/>
                  </a:lnTo>
                  <a:lnTo>
                    <a:pt x="1209548" y="742950"/>
                  </a:lnTo>
                  <a:lnTo>
                    <a:pt x="123825" y="742950"/>
                  </a:lnTo>
                  <a:lnTo>
                    <a:pt x="75598" y="733208"/>
                  </a:lnTo>
                  <a:lnTo>
                    <a:pt x="36242" y="706643"/>
                  </a:lnTo>
                  <a:lnTo>
                    <a:pt x="9721" y="667244"/>
                  </a:lnTo>
                  <a:lnTo>
                    <a:pt x="0" y="618998"/>
                  </a:lnTo>
                  <a:lnTo>
                    <a:pt x="0" y="12382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78955" y="2974403"/>
            <a:ext cx="1423035" cy="755650"/>
            <a:chOff x="350837" y="2951226"/>
            <a:chExt cx="1423035" cy="755650"/>
          </a:xfrm>
        </p:grpSpPr>
        <p:sp>
          <p:nvSpPr>
            <p:cNvPr id="23" name="object 23"/>
            <p:cNvSpPr/>
            <p:nvPr/>
          </p:nvSpPr>
          <p:spPr>
            <a:xfrm>
              <a:off x="357187" y="2957576"/>
              <a:ext cx="1410335" cy="742950"/>
            </a:xfrm>
            <a:custGeom>
              <a:avLst/>
              <a:gdLst/>
              <a:ahLst/>
              <a:cxnLst/>
              <a:rect l="l" t="t" r="r" b="b"/>
              <a:pathLst>
                <a:path w="1410335" h="742950">
                  <a:moveTo>
                    <a:pt x="1285811" y="0"/>
                  </a:moveTo>
                  <a:lnTo>
                    <a:pt x="123825" y="0"/>
                  </a:lnTo>
                  <a:lnTo>
                    <a:pt x="75625" y="9721"/>
                  </a:lnTo>
                  <a:lnTo>
                    <a:pt x="36266" y="36242"/>
                  </a:lnTo>
                  <a:lnTo>
                    <a:pt x="9730" y="75598"/>
                  </a:lnTo>
                  <a:lnTo>
                    <a:pt x="0" y="123825"/>
                  </a:lnTo>
                  <a:lnTo>
                    <a:pt x="0" y="618998"/>
                  </a:lnTo>
                  <a:lnTo>
                    <a:pt x="9730" y="667244"/>
                  </a:lnTo>
                  <a:lnTo>
                    <a:pt x="36266" y="706643"/>
                  </a:lnTo>
                  <a:lnTo>
                    <a:pt x="75625" y="733208"/>
                  </a:lnTo>
                  <a:lnTo>
                    <a:pt x="123825" y="742950"/>
                  </a:lnTo>
                  <a:lnTo>
                    <a:pt x="1285811" y="742950"/>
                  </a:lnTo>
                  <a:lnTo>
                    <a:pt x="1334057" y="733208"/>
                  </a:lnTo>
                  <a:lnTo>
                    <a:pt x="1373457" y="706643"/>
                  </a:lnTo>
                  <a:lnTo>
                    <a:pt x="1400022" y="667244"/>
                  </a:lnTo>
                  <a:lnTo>
                    <a:pt x="1409763" y="618998"/>
                  </a:lnTo>
                  <a:lnTo>
                    <a:pt x="1409763" y="123825"/>
                  </a:lnTo>
                  <a:lnTo>
                    <a:pt x="1400022" y="75598"/>
                  </a:lnTo>
                  <a:lnTo>
                    <a:pt x="1373457" y="36242"/>
                  </a:lnTo>
                  <a:lnTo>
                    <a:pt x="1334057" y="9721"/>
                  </a:lnTo>
                  <a:lnTo>
                    <a:pt x="1285811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7187" y="2957576"/>
              <a:ext cx="1410335" cy="742950"/>
            </a:xfrm>
            <a:custGeom>
              <a:avLst/>
              <a:gdLst/>
              <a:ahLst/>
              <a:cxnLst/>
              <a:rect l="l" t="t" r="r" b="b"/>
              <a:pathLst>
                <a:path w="1410335" h="742950">
                  <a:moveTo>
                    <a:pt x="0" y="123825"/>
                  </a:moveTo>
                  <a:lnTo>
                    <a:pt x="9730" y="75598"/>
                  </a:lnTo>
                  <a:lnTo>
                    <a:pt x="36266" y="36242"/>
                  </a:lnTo>
                  <a:lnTo>
                    <a:pt x="75625" y="9721"/>
                  </a:lnTo>
                  <a:lnTo>
                    <a:pt x="123825" y="0"/>
                  </a:lnTo>
                  <a:lnTo>
                    <a:pt x="1285811" y="0"/>
                  </a:lnTo>
                  <a:lnTo>
                    <a:pt x="1334057" y="9721"/>
                  </a:lnTo>
                  <a:lnTo>
                    <a:pt x="1373457" y="36242"/>
                  </a:lnTo>
                  <a:lnTo>
                    <a:pt x="1400022" y="75598"/>
                  </a:lnTo>
                  <a:lnTo>
                    <a:pt x="1409763" y="123825"/>
                  </a:lnTo>
                  <a:lnTo>
                    <a:pt x="1409763" y="618998"/>
                  </a:lnTo>
                  <a:lnTo>
                    <a:pt x="1400022" y="667244"/>
                  </a:lnTo>
                  <a:lnTo>
                    <a:pt x="1373457" y="706643"/>
                  </a:lnTo>
                  <a:lnTo>
                    <a:pt x="1334057" y="733208"/>
                  </a:lnTo>
                  <a:lnTo>
                    <a:pt x="1285811" y="742950"/>
                  </a:lnTo>
                  <a:lnTo>
                    <a:pt x="123825" y="742950"/>
                  </a:lnTo>
                  <a:lnTo>
                    <a:pt x="75625" y="733208"/>
                  </a:lnTo>
                  <a:lnTo>
                    <a:pt x="36266" y="706643"/>
                  </a:lnTo>
                  <a:lnTo>
                    <a:pt x="9730" y="667244"/>
                  </a:lnTo>
                  <a:lnTo>
                    <a:pt x="0" y="618998"/>
                  </a:lnTo>
                  <a:lnTo>
                    <a:pt x="0" y="12382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92455" y="2974403"/>
            <a:ext cx="920750" cy="68627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" marR="5080" indent="12065" algn="ctr">
              <a:lnSpc>
                <a:spcPct val="100600"/>
              </a:lnSpc>
              <a:spcBef>
                <a:spcPts val="114"/>
              </a:spcBef>
            </a:pPr>
            <a:r>
              <a:rPr lang="en-IN" sz="1400" spc="5">
                <a:latin typeface="Calibri"/>
                <a:cs typeface="Calibri"/>
              </a:rPr>
              <a:t>Harshini </a:t>
            </a:r>
            <a:r>
              <a:rPr sz="1400" spc="10">
                <a:latin typeface="Calibri"/>
                <a:cs typeface="Calibri"/>
              </a:rPr>
              <a:t> </a:t>
            </a:r>
            <a:endParaRPr lang="en-IN" sz="1400" spc="20">
              <a:latin typeface="Calibri"/>
              <a:cs typeface="Calibri"/>
            </a:endParaRPr>
          </a:p>
          <a:p>
            <a:pPr marL="12065" marR="5080" indent="12065" algn="ctr">
              <a:lnSpc>
                <a:spcPct val="100600"/>
              </a:lnSpc>
              <a:spcBef>
                <a:spcPts val="114"/>
              </a:spcBef>
            </a:pPr>
            <a:r>
              <a:rPr lang="en-IN" sz="1400" spc="20" err="1">
                <a:latin typeface="Calibri"/>
                <a:cs typeface="Calibri"/>
              </a:rPr>
              <a:t>Suheera</a:t>
            </a:r>
            <a:r>
              <a:rPr sz="1400" spc="5">
                <a:latin typeface="Calibri"/>
                <a:cs typeface="Calibri"/>
              </a:rPr>
              <a:t> </a:t>
            </a:r>
            <a:endParaRPr lang="en-IN" sz="1400" spc="5">
              <a:latin typeface="Calibri"/>
              <a:cs typeface="Calibri"/>
            </a:endParaRPr>
          </a:p>
          <a:p>
            <a:pPr marL="12065" marR="5080" indent="12065" algn="ctr">
              <a:lnSpc>
                <a:spcPct val="100600"/>
              </a:lnSpc>
              <a:spcBef>
                <a:spcPts val="114"/>
              </a:spcBef>
            </a:pPr>
            <a:r>
              <a:rPr lang="en-IN" sz="1400" spc="5">
                <a:latin typeface="Calibri"/>
                <a:cs typeface="Calibri"/>
              </a:rPr>
              <a:t>Mohnish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872101" y="2957576"/>
            <a:ext cx="1409700" cy="1009650"/>
            <a:chOff x="4872101" y="2957576"/>
            <a:chExt cx="1409700" cy="1009650"/>
          </a:xfrm>
        </p:grpSpPr>
        <p:sp>
          <p:nvSpPr>
            <p:cNvPr id="27" name="object 27"/>
            <p:cNvSpPr/>
            <p:nvPr/>
          </p:nvSpPr>
          <p:spPr>
            <a:xfrm>
              <a:off x="4872101" y="2957576"/>
              <a:ext cx="1381125" cy="1009650"/>
            </a:xfrm>
            <a:custGeom>
              <a:avLst/>
              <a:gdLst/>
              <a:ahLst/>
              <a:cxnLst/>
              <a:rect l="l" t="t" r="r" b="b"/>
              <a:pathLst>
                <a:path w="1381125" h="1009650">
                  <a:moveTo>
                    <a:pt x="1212723" y="0"/>
                  </a:moveTo>
                  <a:lnTo>
                    <a:pt x="168275" y="0"/>
                  </a:lnTo>
                  <a:lnTo>
                    <a:pt x="123531" y="6008"/>
                  </a:lnTo>
                  <a:lnTo>
                    <a:pt x="83330" y="22968"/>
                  </a:lnTo>
                  <a:lnTo>
                    <a:pt x="49275" y="49275"/>
                  </a:lnTo>
                  <a:lnTo>
                    <a:pt x="22968" y="83330"/>
                  </a:lnTo>
                  <a:lnTo>
                    <a:pt x="6008" y="123531"/>
                  </a:lnTo>
                  <a:lnTo>
                    <a:pt x="0" y="168275"/>
                  </a:lnTo>
                  <a:lnTo>
                    <a:pt x="0" y="841248"/>
                  </a:lnTo>
                  <a:lnTo>
                    <a:pt x="6008" y="886001"/>
                  </a:lnTo>
                  <a:lnTo>
                    <a:pt x="22968" y="926225"/>
                  </a:lnTo>
                  <a:lnTo>
                    <a:pt x="49275" y="960310"/>
                  </a:lnTo>
                  <a:lnTo>
                    <a:pt x="83330" y="986648"/>
                  </a:lnTo>
                  <a:lnTo>
                    <a:pt x="123531" y="1003631"/>
                  </a:lnTo>
                  <a:lnTo>
                    <a:pt x="168275" y="1009650"/>
                  </a:lnTo>
                  <a:lnTo>
                    <a:pt x="1212723" y="1009650"/>
                  </a:lnTo>
                  <a:lnTo>
                    <a:pt x="1257476" y="1003631"/>
                  </a:lnTo>
                  <a:lnTo>
                    <a:pt x="1297700" y="986648"/>
                  </a:lnTo>
                  <a:lnTo>
                    <a:pt x="1331785" y="960310"/>
                  </a:lnTo>
                  <a:lnTo>
                    <a:pt x="1358123" y="926225"/>
                  </a:lnTo>
                  <a:lnTo>
                    <a:pt x="1375106" y="886001"/>
                  </a:lnTo>
                  <a:lnTo>
                    <a:pt x="1381125" y="841248"/>
                  </a:lnTo>
                  <a:lnTo>
                    <a:pt x="1381125" y="168275"/>
                  </a:lnTo>
                  <a:lnTo>
                    <a:pt x="1375106" y="123531"/>
                  </a:lnTo>
                  <a:lnTo>
                    <a:pt x="1358123" y="83330"/>
                  </a:lnTo>
                  <a:lnTo>
                    <a:pt x="1331785" y="49275"/>
                  </a:lnTo>
                  <a:lnTo>
                    <a:pt x="1297700" y="22968"/>
                  </a:lnTo>
                  <a:lnTo>
                    <a:pt x="1257476" y="6008"/>
                  </a:lnTo>
                  <a:lnTo>
                    <a:pt x="1212723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00676" y="2957576"/>
              <a:ext cx="1381125" cy="1009650"/>
            </a:xfrm>
            <a:custGeom>
              <a:avLst/>
              <a:gdLst/>
              <a:ahLst/>
              <a:cxnLst/>
              <a:rect l="l" t="t" r="r" b="b"/>
              <a:pathLst>
                <a:path w="1381125" h="1009650">
                  <a:moveTo>
                    <a:pt x="0" y="168275"/>
                  </a:moveTo>
                  <a:lnTo>
                    <a:pt x="6008" y="123531"/>
                  </a:lnTo>
                  <a:lnTo>
                    <a:pt x="22968" y="83330"/>
                  </a:lnTo>
                  <a:lnTo>
                    <a:pt x="49275" y="49275"/>
                  </a:lnTo>
                  <a:lnTo>
                    <a:pt x="83330" y="22968"/>
                  </a:lnTo>
                  <a:lnTo>
                    <a:pt x="123531" y="6008"/>
                  </a:lnTo>
                  <a:lnTo>
                    <a:pt x="168275" y="0"/>
                  </a:lnTo>
                  <a:lnTo>
                    <a:pt x="1212723" y="0"/>
                  </a:lnTo>
                  <a:lnTo>
                    <a:pt x="1257476" y="6008"/>
                  </a:lnTo>
                  <a:lnTo>
                    <a:pt x="1297700" y="22968"/>
                  </a:lnTo>
                  <a:lnTo>
                    <a:pt x="1331785" y="49275"/>
                  </a:lnTo>
                  <a:lnTo>
                    <a:pt x="1358123" y="83330"/>
                  </a:lnTo>
                  <a:lnTo>
                    <a:pt x="1375106" y="123531"/>
                  </a:lnTo>
                  <a:lnTo>
                    <a:pt x="1381125" y="168275"/>
                  </a:lnTo>
                  <a:lnTo>
                    <a:pt x="1381125" y="841248"/>
                  </a:lnTo>
                  <a:lnTo>
                    <a:pt x="1375106" y="886001"/>
                  </a:lnTo>
                  <a:lnTo>
                    <a:pt x="1358123" y="926225"/>
                  </a:lnTo>
                  <a:lnTo>
                    <a:pt x="1331785" y="960310"/>
                  </a:lnTo>
                  <a:lnTo>
                    <a:pt x="1297700" y="986648"/>
                  </a:lnTo>
                  <a:lnTo>
                    <a:pt x="1257476" y="1003631"/>
                  </a:lnTo>
                  <a:lnTo>
                    <a:pt x="1212723" y="1009650"/>
                  </a:lnTo>
                  <a:lnTo>
                    <a:pt x="168275" y="1009650"/>
                  </a:lnTo>
                  <a:lnTo>
                    <a:pt x="123531" y="1003631"/>
                  </a:lnTo>
                  <a:lnTo>
                    <a:pt x="83330" y="986648"/>
                  </a:lnTo>
                  <a:lnTo>
                    <a:pt x="49275" y="960310"/>
                  </a:lnTo>
                  <a:lnTo>
                    <a:pt x="22968" y="926225"/>
                  </a:lnTo>
                  <a:lnTo>
                    <a:pt x="6008" y="886001"/>
                  </a:lnTo>
                  <a:lnTo>
                    <a:pt x="0" y="841248"/>
                  </a:lnTo>
                  <a:lnTo>
                    <a:pt x="0" y="1682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199760" y="3001581"/>
            <a:ext cx="783590" cy="9026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 algn="ctr">
              <a:lnSpc>
                <a:spcPct val="101299"/>
              </a:lnSpc>
              <a:spcBef>
                <a:spcPts val="105"/>
              </a:spcBef>
            </a:pPr>
            <a:r>
              <a:rPr lang="en-IN" sz="1400" spc="10">
                <a:latin typeface="Calibri"/>
                <a:cs typeface="Calibri"/>
              </a:rPr>
              <a:t>Satvik</a:t>
            </a:r>
          </a:p>
          <a:p>
            <a:pPr marL="12700" marR="5080" algn="ctr">
              <a:lnSpc>
                <a:spcPct val="101299"/>
              </a:lnSpc>
              <a:spcBef>
                <a:spcPts val="105"/>
              </a:spcBef>
            </a:pPr>
            <a:r>
              <a:rPr sz="1400" spc="15">
                <a:latin typeface="Calibri"/>
                <a:cs typeface="Calibri"/>
              </a:rPr>
              <a:t> </a:t>
            </a:r>
            <a:r>
              <a:rPr lang="en-IN" sz="1400" spc="5">
                <a:latin typeface="Calibri"/>
                <a:cs typeface="Calibri"/>
              </a:rPr>
              <a:t>Om</a:t>
            </a:r>
          </a:p>
          <a:p>
            <a:pPr marL="12700" marR="5080" algn="ctr">
              <a:lnSpc>
                <a:spcPct val="101299"/>
              </a:lnSpc>
              <a:spcBef>
                <a:spcPts val="105"/>
              </a:spcBef>
            </a:pPr>
            <a:r>
              <a:rPr lang="en-IN" sz="1400" spc="5">
                <a:latin typeface="Calibri"/>
                <a:cs typeface="Calibri"/>
              </a:rPr>
              <a:t>Abhilash Harsha</a:t>
            </a:r>
            <a:r>
              <a:rPr sz="1400" spc="10">
                <a:latin typeface="Calibri"/>
                <a:cs typeface="Calibri"/>
              </a:rPr>
              <a:t> 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12660" y="4852715"/>
            <a:ext cx="1384935" cy="774700"/>
            <a:chOff x="350837" y="4884801"/>
            <a:chExt cx="1384935" cy="774700"/>
          </a:xfrm>
        </p:grpSpPr>
        <p:sp>
          <p:nvSpPr>
            <p:cNvPr id="31" name="object 31"/>
            <p:cNvSpPr/>
            <p:nvPr/>
          </p:nvSpPr>
          <p:spPr>
            <a:xfrm>
              <a:off x="357187" y="4891151"/>
              <a:ext cx="1372235" cy="762000"/>
            </a:xfrm>
            <a:custGeom>
              <a:avLst/>
              <a:gdLst/>
              <a:ahLst/>
              <a:cxnLst/>
              <a:rect l="l" t="t" r="r" b="b"/>
              <a:pathLst>
                <a:path w="1372235" h="762000">
                  <a:moveTo>
                    <a:pt x="1244536" y="0"/>
                  </a:moveTo>
                  <a:lnTo>
                    <a:pt x="127000" y="0"/>
                  </a:lnTo>
                  <a:lnTo>
                    <a:pt x="77565" y="9967"/>
                  </a:lnTo>
                  <a:lnTo>
                    <a:pt x="37196" y="37163"/>
                  </a:lnTo>
                  <a:lnTo>
                    <a:pt x="9980" y="77527"/>
                  </a:lnTo>
                  <a:lnTo>
                    <a:pt x="0" y="127000"/>
                  </a:lnTo>
                  <a:lnTo>
                    <a:pt x="0" y="634873"/>
                  </a:lnTo>
                  <a:lnTo>
                    <a:pt x="9980" y="684344"/>
                  </a:lnTo>
                  <a:lnTo>
                    <a:pt x="37196" y="724731"/>
                  </a:lnTo>
                  <a:lnTo>
                    <a:pt x="77565" y="751955"/>
                  </a:lnTo>
                  <a:lnTo>
                    <a:pt x="127000" y="761936"/>
                  </a:lnTo>
                  <a:lnTo>
                    <a:pt x="1244536" y="761936"/>
                  </a:lnTo>
                  <a:lnTo>
                    <a:pt x="1294028" y="751955"/>
                  </a:lnTo>
                  <a:lnTo>
                    <a:pt x="1334436" y="724731"/>
                  </a:lnTo>
                  <a:lnTo>
                    <a:pt x="1361676" y="684344"/>
                  </a:lnTo>
                  <a:lnTo>
                    <a:pt x="1371663" y="634873"/>
                  </a:lnTo>
                  <a:lnTo>
                    <a:pt x="1371663" y="127000"/>
                  </a:lnTo>
                  <a:lnTo>
                    <a:pt x="1361676" y="77527"/>
                  </a:lnTo>
                  <a:lnTo>
                    <a:pt x="1334436" y="37163"/>
                  </a:lnTo>
                  <a:lnTo>
                    <a:pt x="1294028" y="9967"/>
                  </a:lnTo>
                  <a:lnTo>
                    <a:pt x="1244536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7187" y="4891151"/>
              <a:ext cx="1372235" cy="762000"/>
            </a:xfrm>
            <a:custGeom>
              <a:avLst/>
              <a:gdLst/>
              <a:ahLst/>
              <a:cxnLst/>
              <a:rect l="l" t="t" r="r" b="b"/>
              <a:pathLst>
                <a:path w="1372235" h="762000">
                  <a:moveTo>
                    <a:pt x="0" y="127000"/>
                  </a:moveTo>
                  <a:lnTo>
                    <a:pt x="9980" y="77527"/>
                  </a:lnTo>
                  <a:lnTo>
                    <a:pt x="37196" y="37163"/>
                  </a:lnTo>
                  <a:lnTo>
                    <a:pt x="77565" y="9967"/>
                  </a:lnTo>
                  <a:lnTo>
                    <a:pt x="127000" y="0"/>
                  </a:lnTo>
                  <a:lnTo>
                    <a:pt x="1244536" y="0"/>
                  </a:lnTo>
                  <a:lnTo>
                    <a:pt x="1294028" y="9967"/>
                  </a:lnTo>
                  <a:lnTo>
                    <a:pt x="1334436" y="37163"/>
                  </a:lnTo>
                  <a:lnTo>
                    <a:pt x="1361676" y="77527"/>
                  </a:lnTo>
                  <a:lnTo>
                    <a:pt x="1371663" y="127000"/>
                  </a:lnTo>
                  <a:lnTo>
                    <a:pt x="1371663" y="634873"/>
                  </a:lnTo>
                  <a:lnTo>
                    <a:pt x="1361676" y="684344"/>
                  </a:lnTo>
                  <a:lnTo>
                    <a:pt x="1334436" y="724731"/>
                  </a:lnTo>
                  <a:lnTo>
                    <a:pt x="1294028" y="751955"/>
                  </a:lnTo>
                  <a:lnTo>
                    <a:pt x="1244536" y="761936"/>
                  </a:lnTo>
                  <a:lnTo>
                    <a:pt x="127000" y="761936"/>
                  </a:lnTo>
                  <a:lnTo>
                    <a:pt x="77565" y="751955"/>
                  </a:lnTo>
                  <a:lnTo>
                    <a:pt x="37196" y="724731"/>
                  </a:lnTo>
                  <a:lnTo>
                    <a:pt x="9980" y="684344"/>
                  </a:lnTo>
                  <a:lnTo>
                    <a:pt x="0" y="634873"/>
                  </a:lnTo>
                  <a:lnTo>
                    <a:pt x="0" y="1270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8403" y="4361877"/>
            <a:ext cx="1703148" cy="324454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Body/Electricals/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400" b="1" spc="10">
                <a:latin typeface="Calibri"/>
                <a:cs typeface="Calibri"/>
              </a:rPr>
              <a:t>S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>
                <a:latin typeface="Calibri"/>
                <a:cs typeface="Calibri"/>
              </a:rPr>
              <a:t>f</a:t>
            </a:r>
            <a:r>
              <a:rPr sz="1400" b="1" spc="40">
                <a:latin typeface="Calibri"/>
                <a:cs typeface="Calibri"/>
              </a:rPr>
              <a:t>e</a:t>
            </a:r>
            <a:r>
              <a:rPr sz="1400" b="1" spc="30">
                <a:latin typeface="Calibri"/>
                <a:cs typeface="Calibri"/>
              </a:rPr>
              <a:t>t</a:t>
            </a:r>
            <a:r>
              <a:rPr sz="1400" b="1" spc="10">
                <a:latin typeface="Calibri"/>
                <a:cs typeface="Calibri"/>
              </a:rPr>
              <a:t>y</a:t>
            </a:r>
            <a:r>
              <a:rPr sz="1400" b="1" spc="-95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Equ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p</a:t>
            </a:r>
            <a:r>
              <a:rPr sz="1400" b="1" spc="-15">
                <a:latin typeface="Calibri"/>
                <a:cs typeface="Calibri"/>
              </a:rPr>
              <a:t>m</a:t>
            </a:r>
            <a:r>
              <a:rPr sz="1400" b="1" spc="40">
                <a:latin typeface="Calibri"/>
                <a:cs typeface="Calibri"/>
              </a:rPr>
              <a:t>e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5">
                <a:latin typeface="Calibri"/>
                <a:cs typeface="Calibri"/>
              </a:rPr>
              <a:t>t</a:t>
            </a:r>
            <a:endParaRPr lang="en-IN" sz="1400">
              <a:latin typeface="Calibri"/>
              <a:cs typeface="Calibri"/>
            </a:endParaRPr>
          </a:p>
          <a:p>
            <a:pPr marL="295275" marR="297815" algn="ctr">
              <a:lnSpc>
                <a:spcPct val="100600"/>
              </a:lnSpc>
              <a:spcBef>
                <a:spcPts val="635"/>
              </a:spcBef>
            </a:pPr>
            <a:r>
              <a:rPr lang="en-IN" sz="1400" spc="-20">
                <a:latin typeface="Calibri"/>
                <a:cs typeface="Calibri"/>
              </a:rPr>
              <a:t> Vedika</a:t>
            </a:r>
            <a:r>
              <a:rPr lang="en-IN" sz="1400" spc="5">
                <a:latin typeface="Calibri"/>
                <a:cs typeface="Calibri"/>
              </a:rPr>
              <a:t> Swaroop Rohan Tadem</a:t>
            </a:r>
          </a:p>
          <a:p>
            <a:pPr marL="295275" marR="297815" algn="ctr">
              <a:lnSpc>
                <a:spcPct val="100600"/>
              </a:lnSpc>
              <a:spcBef>
                <a:spcPts val="635"/>
              </a:spcBef>
            </a:pPr>
            <a:endParaRPr lang="en-IN" sz="1400" spc="5">
              <a:latin typeface="Calibri"/>
              <a:cs typeface="Calibri"/>
            </a:endParaRPr>
          </a:p>
          <a:p>
            <a:pPr marL="295275" marR="297815" algn="ctr">
              <a:lnSpc>
                <a:spcPct val="100600"/>
              </a:lnSpc>
              <a:spcBef>
                <a:spcPts val="635"/>
              </a:spcBef>
            </a:pPr>
            <a:r>
              <a:rPr lang="en-IN" sz="1400" spc="5">
                <a:latin typeface="Calibri"/>
                <a:cs typeface="Calibri"/>
              </a:rPr>
              <a:t> </a:t>
            </a:r>
          </a:p>
          <a:p>
            <a:pPr marL="295275" marR="297815" algn="ctr">
              <a:lnSpc>
                <a:spcPct val="100600"/>
              </a:lnSpc>
              <a:spcBef>
                <a:spcPts val="635"/>
              </a:spcBef>
            </a:pPr>
            <a:endParaRPr lang="en-IN" sz="1400" spc="5">
              <a:latin typeface="Calibri"/>
              <a:cs typeface="Calibri"/>
            </a:endParaRPr>
          </a:p>
          <a:p>
            <a:pPr marL="295275" marR="297815" algn="ctr">
              <a:lnSpc>
                <a:spcPct val="100600"/>
              </a:lnSpc>
              <a:spcBef>
                <a:spcPts val="635"/>
              </a:spcBef>
            </a:pPr>
            <a:endParaRPr lang="en-IN" sz="1400" spc="5">
              <a:latin typeface="Calibri"/>
              <a:cs typeface="Calibri"/>
            </a:endParaRPr>
          </a:p>
          <a:p>
            <a:pPr marL="295275" marR="297815" algn="ctr">
              <a:lnSpc>
                <a:spcPct val="100600"/>
              </a:lnSpc>
              <a:spcBef>
                <a:spcPts val="635"/>
              </a:spcBef>
            </a:pPr>
            <a:endParaRPr lang="en-IN" sz="1400" spc="5">
              <a:latin typeface="Calibri"/>
              <a:cs typeface="Calibri"/>
            </a:endParaRPr>
          </a:p>
          <a:p>
            <a:pPr marL="295275" marR="297815" algn="ctr">
              <a:lnSpc>
                <a:spcPct val="100600"/>
              </a:lnSpc>
              <a:spcBef>
                <a:spcPts val="635"/>
              </a:spcBef>
            </a:pPr>
            <a:endParaRPr lang="en-IN" sz="1400" spc="5">
              <a:latin typeface="Calibri"/>
              <a:cs typeface="Calibri"/>
            </a:endParaRPr>
          </a:p>
          <a:p>
            <a:pPr marL="295275" marR="297815" algn="ctr">
              <a:lnSpc>
                <a:spcPct val="100600"/>
              </a:lnSpc>
              <a:spcBef>
                <a:spcPts val="635"/>
              </a:spcBef>
            </a:pPr>
            <a:r>
              <a:rPr lang="en-IN" sz="1400" spc="5" err="1">
                <a:latin typeface="Calibri"/>
                <a:cs typeface="Calibri"/>
              </a:rPr>
              <a:t>tadem</a:t>
            </a:r>
            <a:endParaRPr lang="en-IN" sz="1400" spc="-2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865751" y="4865751"/>
            <a:ext cx="1479550" cy="784225"/>
            <a:chOff x="4865751" y="4865751"/>
            <a:chExt cx="1479550" cy="784225"/>
          </a:xfrm>
        </p:grpSpPr>
        <p:sp>
          <p:nvSpPr>
            <p:cNvPr id="35" name="object 35"/>
            <p:cNvSpPr/>
            <p:nvPr/>
          </p:nvSpPr>
          <p:spPr>
            <a:xfrm>
              <a:off x="4872101" y="4872101"/>
              <a:ext cx="1466850" cy="771525"/>
            </a:xfrm>
            <a:custGeom>
              <a:avLst/>
              <a:gdLst/>
              <a:ahLst/>
              <a:cxnLst/>
              <a:rect l="l" t="t" r="r" b="b"/>
              <a:pathLst>
                <a:path w="1466850" h="771525">
                  <a:moveTo>
                    <a:pt x="1338199" y="0"/>
                  </a:moveTo>
                  <a:lnTo>
                    <a:pt x="128524" y="0"/>
                  </a:lnTo>
                  <a:lnTo>
                    <a:pt x="78491" y="10098"/>
                  </a:lnTo>
                  <a:lnTo>
                    <a:pt x="37639" y="37639"/>
                  </a:lnTo>
                  <a:lnTo>
                    <a:pt x="10098" y="78491"/>
                  </a:lnTo>
                  <a:lnTo>
                    <a:pt x="0" y="128524"/>
                  </a:lnTo>
                  <a:lnTo>
                    <a:pt x="0" y="642874"/>
                  </a:lnTo>
                  <a:lnTo>
                    <a:pt x="10098" y="692915"/>
                  </a:lnTo>
                  <a:lnTo>
                    <a:pt x="37639" y="733790"/>
                  </a:lnTo>
                  <a:lnTo>
                    <a:pt x="78491" y="761353"/>
                  </a:lnTo>
                  <a:lnTo>
                    <a:pt x="128524" y="771461"/>
                  </a:lnTo>
                  <a:lnTo>
                    <a:pt x="1338199" y="771461"/>
                  </a:lnTo>
                  <a:lnTo>
                    <a:pt x="1388250" y="761353"/>
                  </a:lnTo>
                  <a:lnTo>
                    <a:pt x="1429146" y="733790"/>
                  </a:lnTo>
                  <a:lnTo>
                    <a:pt x="1456731" y="692915"/>
                  </a:lnTo>
                  <a:lnTo>
                    <a:pt x="1466850" y="642874"/>
                  </a:lnTo>
                  <a:lnTo>
                    <a:pt x="1466850" y="128524"/>
                  </a:lnTo>
                  <a:lnTo>
                    <a:pt x="1456731" y="78491"/>
                  </a:lnTo>
                  <a:lnTo>
                    <a:pt x="1429146" y="37639"/>
                  </a:lnTo>
                  <a:lnTo>
                    <a:pt x="1388250" y="10098"/>
                  </a:lnTo>
                  <a:lnTo>
                    <a:pt x="1338199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72101" y="4872101"/>
              <a:ext cx="1466850" cy="771525"/>
            </a:xfrm>
            <a:custGeom>
              <a:avLst/>
              <a:gdLst/>
              <a:ahLst/>
              <a:cxnLst/>
              <a:rect l="l" t="t" r="r" b="b"/>
              <a:pathLst>
                <a:path w="1466850" h="771525">
                  <a:moveTo>
                    <a:pt x="0" y="128524"/>
                  </a:moveTo>
                  <a:lnTo>
                    <a:pt x="10098" y="78491"/>
                  </a:lnTo>
                  <a:lnTo>
                    <a:pt x="37639" y="37639"/>
                  </a:lnTo>
                  <a:lnTo>
                    <a:pt x="78491" y="10098"/>
                  </a:lnTo>
                  <a:lnTo>
                    <a:pt x="128524" y="0"/>
                  </a:lnTo>
                  <a:lnTo>
                    <a:pt x="1338199" y="0"/>
                  </a:lnTo>
                  <a:lnTo>
                    <a:pt x="1388250" y="10098"/>
                  </a:lnTo>
                  <a:lnTo>
                    <a:pt x="1429146" y="37639"/>
                  </a:lnTo>
                  <a:lnTo>
                    <a:pt x="1456731" y="78491"/>
                  </a:lnTo>
                  <a:lnTo>
                    <a:pt x="1466850" y="128524"/>
                  </a:lnTo>
                  <a:lnTo>
                    <a:pt x="1466850" y="642874"/>
                  </a:lnTo>
                  <a:lnTo>
                    <a:pt x="1456731" y="692915"/>
                  </a:lnTo>
                  <a:lnTo>
                    <a:pt x="1429146" y="733790"/>
                  </a:lnTo>
                  <a:lnTo>
                    <a:pt x="1388250" y="761353"/>
                  </a:lnTo>
                  <a:lnTo>
                    <a:pt x="1338199" y="771461"/>
                  </a:lnTo>
                  <a:lnTo>
                    <a:pt x="128524" y="771461"/>
                  </a:lnTo>
                  <a:lnTo>
                    <a:pt x="78491" y="761353"/>
                  </a:lnTo>
                  <a:lnTo>
                    <a:pt x="37639" y="733790"/>
                  </a:lnTo>
                  <a:lnTo>
                    <a:pt x="10098" y="692915"/>
                  </a:lnTo>
                  <a:lnTo>
                    <a:pt x="0" y="642874"/>
                  </a:lnTo>
                  <a:lnTo>
                    <a:pt x="0" y="12852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808220" y="4408106"/>
            <a:ext cx="1515110" cy="11697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400" b="1" spc="5" dirty="0">
                <a:latin typeface="Calibri"/>
                <a:cs typeface="Calibri"/>
              </a:rPr>
              <a:t>Marketing/Logistics</a:t>
            </a:r>
            <a:endParaRPr sz="1400" dirty="0">
              <a:latin typeface="Calibri"/>
              <a:cs typeface="Calibri"/>
            </a:endParaRPr>
          </a:p>
          <a:p>
            <a:pPr marL="19685" algn="ctr">
              <a:lnSpc>
                <a:spcPct val="100000"/>
              </a:lnSpc>
              <a:spcBef>
                <a:spcPts val="50"/>
              </a:spcBef>
            </a:pPr>
            <a:r>
              <a:rPr sz="1400" b="1" spc="-5" dirty="0">
                <a:latin typeface="Calibri"/>
                <a:cs typeface="Calibri"/>
              </a:rPr>
              <a:t>/</a:t>
            </a:r>
            <a:r>
              <a:rPr sz="1400" b="1" dirty="0">
                <a:latin typeface="Calibri"/>
                <a:cs typeface="Calibri"/>
              </a:rPr>
              <a:t>P</a:t>
            </a:r>
            <a:r>
              <a:rPr sz="1400" b="1" spc="20" dirty="0">
                <a:latin typeface="Calibri"/>
                <a:cs typeface="Calibri"/>
              </a:rPr>
              <a:t>r</a:t>
            </a:r>
            <a:r>
              <a:rPr sz="1400" b="1" spc="-10" dirty="0">
                <a:latin typeface="Calibri"/>
                <a:cs typeface="Calibri"/>
              </a:rPr>
              <a:t>o</a:t>
            </a:r>
            <a:r>
              <a:rPr sz="1400" b="1" spc="15" dirty="0">
                <a:latin typeface="Calibri"/>
                <a:cs typeface="Calibri"/>
              </a:rPr>
              <a:t>j</a:t>
            </a:r>
            <a:r>
              <a:rPr sz="1400" b="1" spc="40" dirty="0">
                <a:latin typeface="Calibri"/>
                <a:cs typeface="Calibri"/>
              </a:rPr>
              <a:t>e</a:t>
            </a:r>
            <a:r>
              <a:rPr sz="1400" b="1" spc="10" dirty="0">
                <a:latin typeface="Calibri"/>
                <a:cs typeface="Calibri"/>
              </a:rPr>
              <a:t>ct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</a:t>
            </a:r>
            <a:r>
              <a:rPr sz="1400" b="1" spc="25" dirty="0">
                <a:latin typeface="Calibri"/>
                <a:cs typeface="Calibri"/>
              </a:rPr>
              <a:t>l</a:t>
            </a:r>
            <a:r>
              <a:rPr sz="1400" b="1" spc="-20" dirty="0">
                <a:latin typeface="Calibri"/>
                <a:cs typeface="Calibri"/>
              </a:rPr>
              <a:t>a</a:t>
            </a:r>
            <a:r>
              <a:rPr sz="1400" b="1" spc="10" dirty="0">
                <a:latin typeface="Calibri"/>
                <a:cs typeface="Calibri"/>
              </a:rPr>
              <a:t>n</a:t>
            </a:r>
            <a:endParaRPr sz="1400" dirty="0">
              <a:latin typeface="Calibri"/>
              <a:cs typeface="Calibri"/>
            </a:endParaRPr>
          </a:p>
          <a:p>
            <a:pPr marL="273050" marR="227965" indent="5715" algn="ctr">
              <a:lnSpc>
                <a:spcPct val="100600"/>
              </a:lnSpc>
              <a:spcBef>
                <a:spcPts val="520"/>
              </a:spcBef>
            </a:pPr>
            <a:r>
              <a:rPr lang="en-IN" sz="1400" spc="5" dirty="0">
                <a:cs typeface="Calibri"/>
              </a:rPr>
              <a:t>Tushar </a:t>
            </a:r>
            <a:r>
              <a:rPr lang="en-IN" sz="1400" spc="-5" dirty="0">
                <a:latin typeface="Calibri"/>
                <a:cs typeface="Calibri"/>
              </a:rPr>
              <a:t>Arhaan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lang="en-IN" sz="1400" spc="25" dirty="0">
                <a:latin typeface="Calibri"/>
                <a:cs typeface="Calibri"/>
              </a:rPr>
              <a:t>Sukriti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559064" y="4636071"/>
            <a:ext cx="1346200" cy="765175"/>
            <a:chOff x="2694051" y="4837176"/>
            <a:chExt cx="1346200" cy="765175"/>
          </a:xfrm>
        </p:grpSpPr>
        <p:sp>
          <p:nvSpPr>
            <p:cNvPr id="39" name="object 39"/>
            <p:cNvSpPr/>
            <p:nvPr/>
          </p:nvSpPr>
          <p:spPr>
            <a:xfrm>
              <a:off x="2700401" y="4843526"/>
              <a:ext cx="1333500" cy="752475"/>
            </a:xfrm>
            <a:custGeom>
              <a:avLst/>
              <a:gdLst/>
              <a:ahLst/>
              <a:cxnLst/>
              <a:rect l="l" t="t" r="r" b="b"/>
              <a:pathLst>
                <a:path w="1333500" h="752475">
                  <a:moveTo>
                    <a:pt x="1208024" y="0"/>
                  </a:moveTo>
                  <a:lnTo>
                    <a:pt x="125349" y="0"/>
                  </a:lnTo>
                  <a:lnTo>
                    <a:pt x="76563" y="9852"/>
                  </a:lnTo>
                  <a:lnTo>
                    <a:pt x="36718" y="36718"/>
                  </a:lnTo>
                  <a:lnTo>
                    <a:pt x="9852" y="76563"/>
                  </a:lnTo>
                  <a:lnTo>
                    <a:pt x="0" y="125349"/>
                  </a:lnTo>
                  <a:lnTo>
                    <a:pt x="0" y="626999"/>
                  </a:lnTo>
                  <a:lnTo>
                    <a:pt x="9852" y="675794"/>
                  </a:lnTo>
                  <a:lnTo>
                    <a:pt x="36718" y="715660"/>
                  </a:lnTo>
                  <a:lnTo>
                    <a:pt x="76563" y="742549"/>
                  </a:lnTo>
                  <a:lnTo>
                    <a:pt x="125349" y="752411"/>
                  </a:lnTo>
                  <a:lnTo>
                    <a:pt x="1208024" y="752411"/>
                  </a:lnTo>
                  <a:lnTo>
                    <a:pt x="1256829" y="742549"/>
                  </a:lnTo>
                  <a:lnTo>
                    <a:pt x="1296717" y="715660"/>
                  </a:lnTo>
                  <a:lnTo>
                    <a:pt x="1323627" y="675794"/>
                  </a:lnTo>
                  <a:lnTo>
                    <a:pt x="1333500" y="626999"/>
                  </a:lnTo>
                  <a:lnTo>
                    <a:pt x="1333500" y="125349"/>
                  </a:lnTo>
                  <a:lnTo>
                    <a:pt x="1323627" y="76563"/>
                  </a:lnTo>
                  <a:lnTo>
                    <a:pt x="1296717" y="36718"/>
                  </a:lnTo>
                  <a:lnTo>
                    <a:pt x="1256829" y="9852"/>
                  </a:lnTo>
                  <a:lnTo>
                    <a:pt x="1208024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700401" y="4843526"/>
              <a:ext cx="1333500" cy="752475"/>
            </a:xfrm>
            <a:custGeom>
              <a:avLst/>
              <a:gdLst/>
              <a:ahLst/>
              <a:cxnLst/>
              <a:rect l="l" t="t" r="r" b="b"/>
              <a:pathLst>
                <a:path w="1333500" h="752475">
                  <a:moveTo>
                    <a:pt x="0" y="125349"/>
                  </a:moveTo>
                  <a:lnTo>
                    <a:pt x="9852" y="76563"/>
                  </a:lnTo>
                  <a:lnTo>
                    <a:pt x="36718" y="36718"/>
                  </a:lnTo>
                  <a:lnTo>
                    <a:pt x="76563" y="9852"/>
                  </a:lnTo>
                  <a:lnTo>
                    <a:pt x="125349" y="0"/>
                  </a:lnTo>
                  <a:lnTo>
                    <a:pt x="1208024" y="0"/>
                  </a:lnTo>
                  <a:lnTo>
                    <a:pt x="1256829" y="9852"/>
                  </a:lnTo>
                  <a:lnTo>
                    <a:pt x="1296717" y="36718"/>
                  </a:lnTo>
                  <a:lnTo>
                    <a:pt x="1323627" y="76563"/>
                  </a:lnTo>
                  <a:lnTo>
                    <a:pt x="1333500" y="125349"/>
                  </a:lnTo>
                  <a:lnTo>
                    <a:pt x="1333500" y="626999"/>
                  </a:lnTo>
                  <a:lnTo>
                    <a:pt x="1323627" y="675794"/>
                  </a:lnTo>
                  <a:lnTo>
                    <a:pt x="1296717" y="715660"/>
                  </a:lnTo>
                  <a:lnTo>
                    <a:pt x="1256829" y="742549"/>
                  </a:lnTo>
                  <a:lnTo>
                    <a:pt x="1208024" y="752411"/>
                  </a:lnTo>
                  <a:lnTo>
                    <a:pt x="125349" y="752411"/>
                  </a:lnTo>
                  <a:lnTo>
                    <a:pt x="76563" y="742549"/>
                  </a:lnTo>
                  <a:lnTo>
                    <a:pt x="36718" y="715660"/>
                  </a:lnTo>
                  <a:lnTo>
                    <a:pt x="9852" y="675794"/>
                  </a:lnTo>
                  <a:lnTo>
                    <a:pt x="0" y="626999"/>
                  </a:lnTo>
                  <a:lnTo>
                    <a:pt x="0" y="12534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2694051" y="5903912"/>
            <a:ext cx="1355725" cy="698500"/>
            <a:chOff x="2694051" y="5903912"/>
            <a:chExt cx="1355725" cy="698500"/>
          </a:xfrm>
        </p:grpSpPr>
        <p:sp>
          <p:nvSpPr>
            <p:cNvPr id="42" name="object 42"/>
            <p:cNvSpPr/>
            <p:nvPr/>
          </p:nvSpPr>
          <p:spPr>
            <a:xfrm>
              <a:off x="2700401" y="5910262"/>
              <a:ext cx="1343025" cy="685800"/>
            </a:xfrm>
            <a:custGeom>
              <a:avLst/>
              <a:gdLst/>
              <a:ahLst/>
              <a:cxnLst/>
              <a:rect l="l" t="t" r="r" b="b"/>
              <a:pathLst>
                <a:path w="1343025" h="685800">
                  <a:moveTo>
                    <a:pt x="1228598" y="0"/>
                  </a:moveTo>
                  <a:lnTo>
                    <a:pt x="114300" y="0"/>
                  </a:lnTo>
                  <a:lnTo>
                    <a:pt x="69758" y="8983"/>
                  </a:lnTo>
                  <a:lnTo>
                    <a:pt x="33432" y="33480"/>
                  </a:lnTo>
                  <a:lnTo>
                    <a:pt x="8965" y="69812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8965" y="615993"/>
                  </a:lnTo>
                  <a:lnTo>
                    <a:pt x="33432" y="652324"/>
                  </a:lnTo>
                  <a:lnTo>
                    <a:pt x="69758" y="676818"/>
                  </a:lnTo>
                  <a:lnTo>
                    <a:pt x="114300" y="685800"/>
                  </a:lnTo>
                  <a:lnTo>
                    <a:pt x="1228598" y="685800"/>
                  </a:lnTo>
                  <a:lnTo>
                    <a:pt x="1273159" y="676818"/>
                  </a:lnTo>
                  <a:lnTo>
                    <a:pt x="1309528" y="652324"/>
                  </a:lnTo>
                  <a:lnTo>
                    <a:pt x="1334039" y="615993"/>
                  </a:lnTo>
                  <a:lnTo>
                    <a:pt x="1343025" y="571500"/>
                  </a:lnTo>
                  <a:lnTo>
                    <a:pt x="1343025" y="114300"/>
                  </a:lnTo>
                  <a:lnTo>
                    <a:pt x="1334039" y="69812"/>
                  </a:lnTo>
                  <a:lnTo>
                    <a:pt x="1309528" y="33480"/>
                  </a:lnTo>
                  <a:lnTo>
                    <a:pt x="1273159" y="8983"/>
                  </a:lnTo>
                  <a:lnTo>
                    <a:pt x="1228598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700401" y="5910262"/>
              <a:ext cx="1343025" cy="685800"/>
            </a:xfrm>
            <a:custGeom>
              <a:avLst/>
              <a:gdLst/>
              <a:ahLst/>
              <a:cxnLst/>
              <a:rect l="l" t="t" r="r" b="b"/>
              <a:pathLst>
                <a:path w="1343025" h="685800">
                  <a:moveTo>
                    <a:pt x="0" y="114300"/>
                  </a:moveTo>
                  <a:lnTo>
                    <a:pt x="8965" y="69812"/>
                  </a:lnTo>
                  <a:lnTo>
                    <a:pt x="33432" y="33480"/>
                  </a:lnTo>
                  <a:lnTo>
                    <a:pt x="69758" y="8983"/>
                  </a:lnTo>
                  <a:lnTo>
                    <a:pt x="114300" y="0"/>
                  </a:lnTo>
                  <a:lnTo>
                    <a:pt x="1228598" y="0"/>
                  </a:lnTo>
                  <a:lnTo>
                    <a:pt x="1273159" y="8983"/>
                  </a:lnTo>
                  <a:lnTo>
                    <a:pt x="1309528" y="33480"/>
                  </a:lnTo>
                  <a:lnTo>
                    <a:pt x="1334039" y="69812"/>
                  </a:lnTo>
                  <a:lnTo>
                    <a:pt x="1343025" y="114300"/>
                  </a:lnTo>
                  <a:lnTo>
                    <a:pt x="1343025" y="571500"/>
                  </a:lnTo>
                  <a:lnTo>
                    <a:pt x="1334039" y="615993"/>
                  </a:lnTo>
                  <a:lnTo>
                    <a:pt x="1309528" y="652324"/>
                  </a:lnTo>
                  <a:lnTo>
                    <a:pt x="1273159" y="676818"/>
                  </a:lnTo>
                  <a:lnTo>
                    <a:pt x="1228598" y="685800"/>
                  </a:lnTo>
                  <a:lnTo>
                    <a:pt x="114300" y="685800"/>
                  </a:lnTo>
                  <a:lnTo>
                    <a:pt x="69758" y="676818"/>
                  </a:lnTo>
                  <a:lnTo>
                    <a:pt x="33432" y="652324"/>
                  </a:lnTo>
                  <a:lnTo>
                    <a:pt x="8965" y="615993"/>
                  </a:lnTo>
                  <a:lnTo>
                    <a:pt x="0" y="571500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700401" y="4302370"/>
            <a:ext cx="1204863" cy="104644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7485" indent="-185420" algn="just">
              <a:lnSpc>
                <a:spcPct val="100000"/>
              </a:lnSpc>
              <a:spcBef>
                <a:spcPts val="740"/>
              </a:spcBef>
            </a:pPr>
            <a:r>
              <a:rPr sz="1400" b="1" spc="-5">
                <a:latin typeface="Calibri"/>
                <a:cs typeface="Calibri"/>
              </a:rPr>
              <a:t>P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 spc="5">
                <a:latin typeface="Calibri"/>
                <a:cs typeface="Calibri"/>
              </a:rPr>
              <a:t>w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5">
                <a:latin typeface="Calibri"/>
                <a:cs typeface="Calibri"/>
              </a:rPr>
              <a:t>r</a:t>
            </a:r>
            <a:r>
              <a:rPr sz="1400" b="1" spc="-75">
                <a:latin typeface="Calibri"/>
                <a:cs typeface="Calibri"/>
              </a:rPr>
              <a:t> </a:t>
            </a:r>
            <a:r>
              <a:rPr sz="1400" b="1" spc="-100">
                <a:latin typeface="Calibri"/>
                <a:cs typeface="Calibri"/>
              </a:rPr>
              <a:t>T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10">
                <a:latin typeface="Calibri"/>
                <a:cs typeface="Calibri"/>
              </a:rPr>
              <a:t>n</a:t>
            </a:r>
            <a:endParaRPr lang="en-IN" sz="1400" b="1">
              <a:latin typeface="Calibri"/>
              <a:cs typeface="Calibri"/>
            </a:endParaRPr>
          </a:p>
          <a:p>
            <a:pPr marL="197485" indent="-185420" algn="just">
              <a:lnSpc>
                <a:spcPct val="100000"/>
              </a:lnSpc>
              <a:spcBef>
                <a:spcPts val="740"/>
              </a:spcBef>
            </a:pPr>
            <a:r>
              <a:rPr lang="en-IN" sz="1400" spc="15">
                <a:latin typeface="Calibri"/>
                <a:cs typeface="Calibri"/>
              </a:rPr>
              <a:t>     Abhishek Meghana Vybhav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2346260" y="5563844"/>
            <a:ext cx="1687641" cy="993798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1400" b="1" spc="-5" dirty="0">
                <a:latin typeface="Calibri"/>
                <a:cs typeface="Calibri"/>
              </a:rPr>
              <a:t>P</a:t>
            </a:r>
            <a:r>
              <a:rPr sz="1400" b="1" spc="-10" dirty="0">
                <a:latin typeface="Calibri"/>
                <a:cs typeface="Calibri"/>
              </a:rPr>
              <a:t>u</a:t>
            </a:r>
            <a:r>
              <a:rPr sz="1400" b="1" spc="20" dirty="0">
                <a:latin typeface="Calibri"/>
                <a:cs typeface="Calibri"/>
              </a:rPr>
              <a:t>r</a:t>
            </a:r>
            <a:r>
              <a:rPr sz="1400" b="1" spc="5" dirty="0">
                <a:latin typeface="Calibri"/>
                <a:cs typeface="Calibri"/>
              </a:rPr>
              <a:t>c</a:t>
            </a:r>
            <a:r>
              <a:rPr sz="1400" b="1" spc="-5" dirty="0">
                <a:latin typeface="Calibri"/>
                <a:cs typeface="Calibri"/>
              </a:rPr>
              <a:t>h</a:t>
            </a:r>
            <a:r>
              <a:rPr sz="1400" b="1" spc="-20" dirty="0">
                <a:latin typeface="Calibri"/>
                <a:cs typeface="Calibri"/>
              </a:rPr>
              <a:t>a</a:t>
            </a:r>
            <a:r>
              <a:rPr sz="1400" b="1" spc="35" dirty="0">
                <a:latin typeface="Calibri"/>
                <a:cs typeface="Calibri"/>
              </a:rPr>
              <a:t>s</a:t>
            </a:r>
            <a:r>
              <a:rPr sz="1400" b="1" spc="25" dirty="0">
                <a:latin typeface="Calibri"/>
                <a:cs typeface="Calibri"/>
              </a:rPr>
              <a:t>i</a:t>
            </a:r>
            <a:r>
              <a:rPr sz="1400" b="1" spc="-10" dirty="0">
                <a:latin typeface="Calibri"/>
                <a:cs typeface="Calibri"/>
              </a:rPr>
              <a:t>n</a:t>
            </a:r>
            <a:r>
              <a:rPr sz="1400" b="1" spc="5" dirty="0">
                <a:latin typeface="Calibri"/>
                <a:cs typeface="Calibri"/>
              </a:rPr>
              <a:t>g,</a:t>
            </a:r>
            <a:r>
              <a:rPr sz="1400" b="1" spc="-9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</a:t>
            </a:r>
            <a:r>
              <a:rPr sz="1400" b="1" spc="-10" dirty="0">
                <a:latin typeface="Calibri"/>
                <a:cs typeface="Calibri"/>
              </a:rPr>
              <a:t>o</a:t>
            </a:r>
            <a:r>
              <a:rPr sz="1400" b="1" spc="35" dirty="0">
                <a:latin typeface="Calibri"/>
                <a:cs typeface="Calibri"/>
              </a:rPr>
              <a:t>s</a:t>
            </a:r>
            <a:r>
              <a:rPr sz="1400" b="1" spc="5" dirty="0">
                <a:latin typeface="Calibri"/>
                <a:cs typeface="Calibri"/>
              </a:rPr>
              <a:t>t</a:t>
            </a:r>
            <a:endParaRPr sz="1400" dirty="0">
              <a:latin typeface="Calibri"/>
              <a:cs typeface="Calibri"/>
            </a:endParaRPr>
          </a:p>
          <a:p>
            <a:pPr marL="379095" marR="361315" algn="ctr">
              <a:lnSpc>
                <a:spcPts val="1650"/>
              </a:lnSpc>
              <a:spcBef>
                <a:spcPts val="505"/>
              </a:spcBef>
            </a:pPr>
            <a:r>
              <a:rPr lang="en-IN" sz="1400" spc="5" dirty="0">
                <a:latin typeface="Calibri"/>
                <a:cs typeface="Calibri"/>
              </a:rPr>
              <a:t> Tushar     Hemanth  Jyothi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516547" y="549275"/>
            <a:ext cx="11925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5">
                <a:latin typeface="Calibri"/>
                <a:cs typeface="Calibri"/>
              </a:rPr>
              <a:t>Captain/Spokes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91452" y="778827"/>
            <a:ext cx="2088514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5" dirty="0">
                <a:latin typeface="Calibri"/>
                <a:cs typeface="Calibri"/>
              </a:rPr>
              <a:t>Person/</a:t>
            </a:r>
            <a:r>
              <a:rPr lang="en-US" sz="1400" b="1" spc="5" dirty="0">
                <a:latin typeface="Calibri"/>
                <a:cs typeface="Calibri"/>
              </a:rPr>
              <a:t>Project manager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569761" y="651184"/>
            <a:ext cx="1880972" cy="4469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35">
                <a:latin typeface="Calibri"/>
                <a:cs typeface="Calibri"/>
              </a:rPr>
              <a:t>R</a:t>
            </a:r>
            <a:r>
              <a:rPr sz="1400" b="1" spc="-10">
                <a:latin typeface="Calibri"/>
                <a:cs typeface="Calibri"/>
              </a:rPr>
              <a:t>o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5">
                <a:latin typeface="Calibri"/>
                <a:cs typeface="Calibri"/>
              </a:rPr>
              <a:t>l</a:t>
            </a:r>
            <a:r>
              <a:rPr sz="1400" b="1" spc="-70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C</a:t>
            </a:r>
            <a:r>
              <a:rPr sz="1400" b="1" spc="-20">
                <a:latin typeface="Calibri"/>
                <a:cs typeface="Calibri"/>
              </a:rPr>
              <a:t>a</a:t>
            </a:r>
            <a:r>
              <a:rPr sz="1400" b="1" spc="5">
                <a:latin typeface="Calibri"/>
                <a:cs typeface="Calibri"/>
              </a:rPr>
              <a:t>ge</a:t>
            </a:r>
            <a:r>
              <a:rPr lang="en-IN" sz="1400" b="1" spc="5">
                <a:latin typeface="Calibri"/>
                <a:cs typeface="Calibri"/>
              </a:rPr>
              <a:t> designer/Fabrication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569761" y="529240"/>
            <a:ext cx="1811655" cy="157229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0059" indent="-467359">
              <a:lnSpc>
                <a:spcPct val="100000"/>
              </a:lnSpc>
              <a:spcBef>
                <a:spcPts val="650"/>
              </a:spcBef>
            </a:pPr>
            <a:endParaRPr lang="en-IN" sz="1400" b="1" spc="5">
              <a:latin typeface="Calibri"/>
              <a:cs typeface="Calibri"/>
            </a:endParaRPr>
          </a:p>
          <a:p>
            <a:pPr marL="432434" marR="499745" indent="47625" algn="just">
              <a:lnSpc>
                <a:spcPct val="100600"/>
              </a:lnSpc>
              <a:spcBef>
                <a:spcPts val="545"/>
              </a:spcBef>
            </a:pPr>
            <a:r>
              <a:rPr lang="en-IN" sz="1400" spc="-305">
                <a:latin typeface="Calibri"/>
                <a:cs typeface="Calibri"/>
              </a:rPr>
              <a:t> h</a:t>
            </a:r>
          </a:p>
          <a:p>
            <a:pPr marL="432434" marR="499745" indent="47625" algn="just">
              <a:lnSpc>
                <a:spcPct val="100600"/>
              </a:lnSpc>
              <a:spcBef>
                <a:spcPts val="545"/>
              </a:spcBef>
            </a:pPr>
            <a:r>
              <a:rPr lang="en-IN" sz="1400">
                <a:latin typeface="Calibri"/>
                <a:cs typeface="Calibri"/>
              </a:rPr>
              <a:t>Harikrishna     Ashfaq Tanish</a:t>
            </a:r>
          </a:p>
          <a:p>
            <a:pPr marL="432434" marR="499745" indent="47625" algn="just">
              <a:lnSpc>
                <a:spcPct val="100600"/>
              </a:lnSpc>
              <a:spcBef>
                <a:spcPts val="545"/>
              </a:spcBef>
            </a:pPr>
            <a:endParaRPr lang="en-IN" sz="14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20992" y="2627566"/>
            <a:ext cx="134937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CAE/DFMEA/DVP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740655" y="2433256"/>
            <a:ext cx="161226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6525" marR="5080" indent="-124460">
              <a:lnSpc>
                <a:spcPct val="102899"/>
              </a:lnSpc>
              <a:spcBef>
                <a:spcPts val="75"/>
              </a:spcBef>
            </a:pPr>
            <a:r>
              <a:rPr sz="1400" b="1" spc="10">
                <a:latin typeface="Calibri"/>
                <a:cs typeface="Calibri"/>
              </a:rPr>
              <a:t>Suspension/</a:t>
            </a:r>
            <a:r>
              <a:rPr lang="en-IN" sz="1400" b="1" spc="10">
                <a:latin typeface="Calibri"/>
                <a:cs typeface="Calibri"/>
              </a:rPr>
              <a:t>Steering</a:t>
            </a:r>
            <a:r>
              <a:rPr sz="1400" b="1" spc="10">
                <a:latin typeface="Calibri"/>
                <a:cs typeface="Calibri"/>
              </a:rPr>
              <a:t>/ </a:t>
            </a:r>
            <a:r>
              <a:rPr sz="1400" b="1" spc="-305">
                <a:latin typeface="Calibri"/>
                <a:cs typeface="Calibri"/>
              </a:rPr>
              <a:t> </a:t>
            </a:r>
            <a:r>
              <a:rPr lang="en-IN" sz="1400" b="1" spc="10">
                <a:latin typeface="Calibri"/>
                <a:cs typeface="Calibri"/>
              </a:rPr>
              <a:t>Braking</a:t>
            </a:r>
            <a:r>
              <a:rPr sz="1400" b="1" spc="10">
                <a:latin typeface="Calibri"/>
                <a:cs typeface="Calibri"/>
              </a:rPr>
              <a:t>/Controls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212330" y="2113216"/>
            <a:ext cx="5168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0">
                <a:latin typeface="Calibri"/>
                <a:cs typeface="Calibri"/>
              </a:rPr>
              <a:t>L</a:t>
            </a:r>
            <a:r>
              <a:rPr sz="1400" b="1" spc="-25">
                <a:latin typeface="Calibri"/>
                <a:cs typeface="Calibri"/>
              </a:rPr>
              <a:t>a</a:t>
            </a:r>
            <a:r>
              <a:rPr sz="1400" b="1" spc="30">
                <a:latin typeface="Calibri"/>
                <a:cs typeface="Calibri"/>
              </a:rPr>
              <a:t>t</a:t>
            </a:r>
            <a:r>
              <a:rPr sz="1400" b="1" spc="-10">
                <a:latin typeface="Calibri"/>
                <a:cs typeface="Calibri"/>
              </a:rPr>
              <a:t>h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10">
                <a:latin typeface="Calibri"/>
                <a:cs typeface="Calibri"/>
              </a:rPr>
              <a:t>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128379" y="2113216"/>
            <a:ext cx="9105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45">
                <a:latin typeface="Calibri"/>
                <a:cs typeface="Calibri"/>
              </a:rPr>
              <a:t>A</a:t>
            </a:r>
            <a:r>
              <a:rPr sz="1400" b="1" spc="20">
                <a:latin typeface="Calibri"/>
                <a:cs typeface="Calibri"/>
              </a:rPr>
              <a:t>r</a:t>
            </a:r>
            <a:r>
              <a:rPr sz="1400" b="1" spc="10">
                <a:latin typeface="Calibri"/>
                <a:cs typeface="Calibri"/>
              </a:rPr>
              <a:t>c</a:t>
            </a:r>
            <a:r>
              <a:rPr sz="1400" b="1" spc="-90">
                <a:latin typeface="Calibri"/>
                <a:cs typeface="Calibri"/>
              </a:rPr>
              <a:t> </a:t>
            </a:r>
            <a:r>
              <a:rPr sz="1400" b="1" spc="5">
                <a:latin typeface="Calibri"/>
                <a:cs typeface="Calibri"/>
              </a:rPr>
              <a:t>w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25">
                <a:latin typeface="Calibri"/>
                <a:cs typeface="Calibri"/>
              </a:rPr>
              <a:t>l</a:t>
            </a:r>
            <a:r>
              <a:rPr sz="1400" b="1" spc="-10">
                <a:latin typeface="Calibri"/>
                <a:cs typeface="Calibri"/>
              </a:rPr>
              <a:t>d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216005" y="2113216"/>
            <a:ext cx="67310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5">
                <a:latin typeface="Calibri"/>
                <a:cs typeface="Calibri"/>
              </a:rPr>
              <a:t>Grinding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5" name="object 55"/>
          <p:cNvPicPr/>
          <p:nvPr/>
        </p:nvPicPr>
        <p:blipFill>
          <a:blip r:embed="rId9"/>
          <a:stretch>
            <a:fillRect/>
          </a:stretch>
        </p:blipFill>
        <p:spPr>
          <a:xfrm>
            <a:off x="8448675" y="2419350"/>
            <a:ext cx="1771650" cy="1657350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10901680" y="4147566"/>
            <a:ext cx="57721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5">
                <a:latin typeface="Calibri"/>
                <a:cs typeface="Calibri"/>
              </a:rPr>
              <a:t>Drilling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973316" y="4118673"/>
            <a:ext cx="38036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20">
                <a:latin typeface="Calibri"/>
                <a:cs typeface="Calibri"/>
              </a:rPr>
              <a:t>UTM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635750" y="4730178"/>
            <a:ext cx="49155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915795" algn="l"/>
                <a:tab pos="3789045" algn="l"/>
              </a:tabLst>
            </a:pPr>
            <a:r>
              <a:rPr sz="2100" b="1" spc="7" baseline="1984">
                <a:latin typeface="Calibri"/>
                <a:cs typeface="Calibri"/>
              </a:rPr>
              <a:t>C</a:t>
            </a:r>
            <a:r>
              <a:rPr sz="2100" b="1" spc="67" baseline="1984">
                <a:latin typeface="Calibri"/>
                <a:cs typeface="Calibri"/>
              </a:rPr>
              <a:t>N</a:t>
            </a:r>
            <a:r>
              <a:rPr sz="2100" b="1" spc="15" baseline="1984">
                <a:latin typeface="Calibri"/>
                <a:cs typeface="Calibri"/>
              </a:rPr>
              <a:t>C</a:t>
            </a:r>
            <a:r>
              <a:rPr sz="2100" b="1" spc="-142" baseline="1984">
                <a:latin typeface="Calibri"/>
                <a:cs typeface="Calibri"/>
              </a:rPr>
              <a:t> </a:t>
            </a:r>
            <a:r>
              <a:rPr sz="2100" b="1" baseline="1984">
                <a:latin typeface="Calibri"/>
                <a:cs typeface="Calibri"/>
              </a:rPr>
              <a:t>P</a:t>
            </a:r>
            <a:r>
              <a:rPr sz="2100" b="1" spc="37" baseline="1984">
                <a:latin typeface="Calibri"/>
                <a:cs typeface="Calibri"/>
              </a:rPr>
              <a:t>i</a:t>
            </a:r>
            <a:r>
              <a:rPr sz="2100" b="1" spc="-7" baseline="1984">
                <a:latin typeface="Calibri"/>
                <a:cs typeface="Calibri"/>
              </a:rPr>
              <a:t>p</a:t>
            </a:r>
            <a:r>
              <a:rPr sz="2100" b="1" spc="15" baseline="1984">
                <a:latin typeface="Calibri"/>
                <a:cs typeface="Calibri"/>
              </a:rPr>
              <a:t>e</a:t>
            </a:r>
            <a:r>
              <a:rPr sz="2100" b="1" spc="-89" baseline="1984">
                <a:latin typeface="Calibri"/>
                <a:cs typeface="Calibri"/>
              </a:rPr>
              <a:t> </a:t>
            </a:r>
            <a:r>
              <a:rPr sz="2100" b="1" spc="60" baseline="1984">
                <a:latin typeface="Calibri"/>
                <a:cs typeface="Calibri"/>
              </a:rPr>
              <a:t>Be</a:t>
            </a:r>
            <a:r>
              <a:rPr sz="2100" b="1" spc="-7" baseline="1984">
                <a:latin typeface="Calibri"/>
                <a:cs typeface="Calibri"/>
              </a:rPr>
              <a:t>nd</a:t>
            </a:r>
            <a:r>
              <a:rPr sz="2100" b="1" spc="37" baseline="1984">
                <a:latin typeface="Calibri"/>
                <a:cs typeface="Calibri"/>
              </a:rPr>
              <a:t>i</a:t>
            </a:r>
            <a:r>
              <a:rPr sz="2100" b="1" spc="-7" baseline="1984">
                <a:latin typeface="Calibri"/>
                <a:cs typeface="Calibri"/>
              </a:rPr>
              <a:t>n</a:t>
            </a:r>
            <a:r>
              <a:rPr sz="2100" b="1" spc="15" baseline="1984">
                <a:latin typeface="Calibri"/>
                <a:cs typeface="Calibri"/>
              </a:rPr>
              <a:t>g</a:t>
            </a:r>
            <a:r>
              <a:rPr sz="2100" b="1" baseline="1984">
                <a:latin typeface="Calibri"/>
                <a:cs typeface="Calibri"/>
              </a:rPr>
              <a:t>	</a:t>
            </a:r>
            <a:r>
              <a:rPr sz="1400" b="1">
                <a:latin typeface="Calibri"/>
                <a:cs typeface="Calibri"/>
              </a:rPr>
              <a:t>C</a:t>
            </a:r>
            <a:r>
              <a:rPr sz="1400" b="1" spc="45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C</a:t>
            </a:r>
            <a:r>
              <a:rPr sz="1400" b="1" spc="-100">
                <a:latin typeface="Calibri"/>
                <a:cs typeface="Calibri"/>
              </a:rPr>
              <a:t> </a:t>
            </a:r>
            <a:r>
              <a:rPr sz="1400" b="1" spc="45">
                <a:latin typeface="Calibri"/>
                <a:cs typeface="Calibri"/>
              </a:rPr>
              <a:t>M</a:t>
            </a:r>
            <a:r>
              <a:rPr sz="1400" b="1" spc="25">
                <a:latin typeface="Calibri"/>
                <a:cs typeface="Calibri"/>
              </a:rPr>
              <a:t>illi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g</a:t>
            </a:r>
            <a:r>
              <a:rPr sz="1400" b="1">
                <a:latin typeface="Calibri"/>
                <a:cs typeface="Calibri"/>
              </a:rPr>
              <a:t>	</a:t>
            </a:r>
            <a:r>
              <a:rPr sz="1400" b="1" spc="-80">
                <a:latin typeface="Calibri"/>
                <a:cs typeface="Calibri"/>
              </a:rPr>
              <a:t>V</a:t>
            </a:r>
            <a:r>
              <a:rPr sz="1400" b="1" spc="35">
                <a:latin typeface="Calibri"/>
                <a:cs typeface="Calibri"/>
              </a:rPr>
              <a:t>e</a:t>
            </a:r>
            <a:r>
              <a:rPr sz="1400" b="1" spc="-10">
                <a:latin typeface="Calibri"/>
                <a:cs typeface="Calibri"/>
              </a:rPr>
              <a:t>h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5">
                <a:latin typeface="Calibri"/>
                <a:cs typeface="Calibri"/>
              </a:rPr>
              <a:t>c</a:t>
            </a:r>
            <a:r>
              <a:rPr sz="1400" b="1" spc="30">
                <a:latin typeface="Calibri"/>
                <a:cs typeface="Calibri"/>
              </a:rPr>
              <a:t>l</a:t>
            </a:r>
            <a:r>
              <a:rPr sz="1400" b="1" spc="10">
                <a:latin typeface="Calibri"/>
                <a:cs typeface="Calibri"/>
              </a:rPr>
              <a:t>e</a:t>
            </a:r>
            <a:r>
              <a:rPr sz="1400" b="1" spc="-65">
                <a:latin typeface="Calibri"/>
                <a:cs typeface="Calibri"/>
              </a:rPr>
              <a:t> </a:t>
            </a:r>
            <a:r>
              <a:rPr sz="1400" b="1" spc="-175">
                <a:latin typeface="Calibri"/>
                <a:cs typeface="Calibri"/>
              </a:rPr>
              <a:t>T</a:t>
            </a:r>
            <a:r>
              <a:rPr sz="1400" b="1" spc="35">
                <a:latin typeface="Calibri"/>
                <a:cs typeface="Calibri"/>
              </a:rPr>
              <a:t>est</a:t>
            </a:r>
            <a:r>
              <a:rPr sz="1400" b="1" spc="25">
                <a:latin typeface="Calibri"/>
                <a:cs typeface="Calibri"/>
              </a:rPr>
              <a:t>i</a:t>
            </a:r>
            <a:r>
              <a:rPr sz="1400" b="1" spc="-10">
                <a:latin typeface="Calibri"/>
                <a:cs typeface="Calibri"/>
              </a:rPr>
              <a:t>n</a:t>
            </a:r>
            <a:r>
              <a:rPr sz="1400" b="1" spc="10">
                <a:latin typeface="Calibri"/>
                <a:cs typeface="Calibri"/>
              </a:rPr>
              <a:t>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736205" y="4094603"/>
            <a:ext cx="3161030" cy="63754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66469">
              <a:lnSpc>
                <a:spcPct val="100000"/>
              </a:lnSpc>
              <a:spcBef>
                <a:spcPts val="540"/>
              </a:spcBef>
            </a:pPr>
            <a:r>
              <a:rPr sz="1400" b="1" spc="-5">
                <a:latin typeface="Calibri"/>
                <a:cs typeface="Calibri"/>
              </a:rPr>
              <a:t>TIG</a:t>
            </a:r>
            <a:r>
              <a:rPr sz="1400" b="1" spc="10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Welding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800" b="1">
                <a:latin typeface="Calibri"/>
                <a:cs typeface="Calibri"/>
              </a:rPr>
              <a:t>M</a:t>
            </a:r>
            <a:r>
              <a:rPr sz="1800" b="1" spc="10">
                <a:latin typeface="Calibri"/>
                <a:cs typeface="Calibri"/>
              </a:rPr>
              <a:t>a</a:t>
            </a:r>
            <a:r>
              <a:rPr sz="1800" b="1" spc="5">
                <a:latin typeface="Calibri"/>
                <a:cs typeface="Calibri"/>
              </a:rPr>
              <a:t>nu</a:t>
            </a:r>
            <a:r>
              <a:rPr sz="1800" b="1" spc="25">
                <a:latin typeface="Calibri"/>
                <a:cs typeface="Calibri"/>
              </a:rPr>
              <a:t>f</a:t>
            </a:r>
            <a:r>
              <a:rPr sz="1800" b="1" spc="10">
                <a:latin typeface="Calibri"/>
                <a:cs typeface="Calibri"/>
              </a:rPr>
              <a:t>a</a:t>
            </a:r>
            <a:r>
              <a:rPr sz="1800" b="1" spc="-5">
                <a:latin typeface="Calibri"/>
                <a:cs typeface="Calibri"/>
              </a:rPr>
              <a:t>c</a:t>
            </a:r>
            <a:r>
              <a:rPr sz="1800" b="1" spc="-25">
                <a:latin typeface="Calibri"/>
                <a:cs typeface="Calibri"/>
              </a:rPr>
              <a:t>t</a:t>
            </a:r>
            <a:r>
              <a:rPr sz="1800" b="1" spc="5">
                <a:latin typeface="Calibri"/>
                <a:cs typeface="Calibri"/>
              </a:rPr>
              <a:t>u</a:t>
            </a:r>
            <a:r>
              <a:rPr sz="1800" b="1" spc="35">
                <a:latin typeface="Calibri"/>
                <a:cs typeface="Calibri"/>
              </a:rPr>
              <a:t>r</a:t>
            </a:r>
            <a:r>
              <a:rPr sz="1800" b="1" spc="5">
                <a:latin typeface="Calibri"/>
                <a:cs typeface="Calibri"/>
              </a:rPr>
              <a:t>in</a:t>
            </a:r>
            <a:r>
              <a:rPr sz="1800" b="1">
                <a:latin typeface="Calibri"/>
                <a:cs typeface="Calibri"/>
              </a:rPr>
              <a:t>g</a:t>
            </a:r>
            <a:r>
              <a:rPr sz="1800" b="1" spc="-135">
                <a:latin typeface="Calibri"/>
                <a:cs typeface="Calibri"/>
              </a:rPr>
              <a:t> </a:t>
            </a:r>
            <a:r>
              <a:rPr sz="1800" b="1" spc="-80">
                <a:latin typeface="Calibri"/>
                <a:cs typeface="Calibri"/>
              </a:rPr>
              <a:t>F</a:t>
            </a:r>
            <a:r>
              <a:rPr sz="1800" b="1" spc="10">
                <a:latin typeface="Calibri"/>
                <a:cs typeface="Calibri"/>
              </a:rPr>
              <a:t>a</a:t>
            </a:r>
            <a:r>
              <a:rPr sz="1800" b="1" spc="-5">
                <a:latin typeface="Calibri"/>
                <a:cs typeface="Calibri"/>
              </a:rPr>
              <a:t>c</a:t>
            </a:r>
            <a:r>
              <a:rPr sz="1800" b="1" spc="5">
                <a:latin typeface="Calibri"/>
                <a:cs typeface="Calibri"/>
              </a:rPr>
              <a:t>ili</a:t>
            </a:r>
            <a:r>
              <a:rPr sz="1800" b="1" spc="-25">
                <a:latin typeface="Calibri"/>
                <a:cs typeface="Calibri"/>
              </a:rPr>
              <a:t>t</a:t>
            </a:r>
            <a:r>
              <a:rPr sz="1800" b="1" spc="5">
                <a:latin typeface="Calibri"/>
                <a:cs typeface="Calibri"/>
              </a:rPr>
              <a:t>i</a:t>
            </a:r>
            <a:r>
              <a:rPr sz="1800" b="1" spc="-5">
                <a:latin typeface="Calibri"/>
                <a:cs typeface="Calibri"/>
              </a:rPr>
              <a:t>e</a:t>
            </a:r>
            <a:r>
              <a:rPr sz="1800" b="1">
                <a:latin typeface="Calibri"/>
                <a:cs typeface="Calibri"/>
              </a:rPr>
              <a:t>s</a:t>
            </a:r>
            <a:r>
              <a:rPr sz="1800" b="1" spc="-5">
                <a:latin typeface="Calibri"/>
                <a:cs typeface="Calibri"/>
              </a:rPr>
              <a:t> </a:t>
            </a:r>
            <a:r>
              <a:rPr sz="1800" b="1" spc="-20">
                <a:latin typeface="Calibri"/>
                <a:cs typeface="Calibri"/>
              </a:rPr>
              <a:t>O</a:t>
            </a:r>
            <a:r>
              <a:rPr sz="1800" b="1" spc="5">
                <a:latin typeface="Calibri"/>
                <a:cs typeface="Calibri"/>
              </a:rPr>
              <a:t>u</a:t>
            </a:r>
            <a:r>
              <a:rPr sz="1800" b="1" spc="-25">
                <a:latin typeface="Calibri"/>
                <a:cs typeface="Calibri"/>
              </a:rPr>
              <a:t>t</a:t>
            </a:r>
            <a:r>
              <a:rPr sz="1800" b="1" spc="30">
                <a:latin typeface="Calibri"/>
                <a:cs typeface="Calibri"/>
              </a:rPr>
              <a:t>s</a:t>
            </a:r>
            <a:r>
              <a:rPr sz="1800" b="1" spc="5">
                <a:latin typeface="Calibri"/>
                <a:cs typeface="Calibri"/>
              </a:rPr>
              <a:t>id</a:t>
            </a:r>
            <a:r>
              <a:rPr sz="1800" b="1" spc="-5">
                <a:latin typeface="Calibri"/>
                <a:cs typeface="Calibri"/>
              </a:rPr>
              <a:t>e: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0" name="object 60"/>
          <p:cNvPicPr/>
          <p:nvPr/>
        </p:nvPicPr>
        <p:blipFill>
          <a:blip r:embed="rId10"/>
          <a:stretch>
            <a:fillRect/>
          </a:stretch>
        </p:blipFill>
        <p:spPr>
          <a:xfrm>
            <a:off x="10325100" y="742950"/>
            <a:ext cx="1819275" cy="1314450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193" y="2127400"/>
            <a:ext cx="2657475" cy="1993106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135889" y="27622"/>
            <a:ext cx="1784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>
                <a:solidFill>
                  <a:srgbClr val="7E7E7E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0"/>
  <p:tag name="AS_OS" val="Unix 5.4.0.1103"/>
  <p:tag name="AS_RELEASE_DATE" val="2022.06.14"/>
  <p:tag name="AS_TITLE" val="Aspose.Slides for .NET5"/>
  <p:tag name="AS_VERSION" val="22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2724</Words>
  <Application>Microsoft Office PowerPoint</Application>
  <PresentationFormat>Widescreen</PresentationFormat>
  <Paragraphs>901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MT</vt:lpstr>
      <vt:lpstr>Calibri</vt:lpstr>
      <vt:lpstr>Calibri Light</vt:lpstr>
      <vt:lpstr>Times New Roman</vt:lpstr>
      <vt:lpstr>Office Theme</vt:lpstr>
      <vt:lpstr>Office Theme</vt:lpstr>
      <vt:lpstr>Office Theme</vt:lpstr>
      <vt:lpstr>Office Theme</vt:lpstr>
      <vt:lpstr>Prelims SAE Baja 2024</vt:lpstr>
      <vt:lpstr>2  Lessons learnt</vt:lpstr>
      <vt:lpstr>Old vs new</vt:lpstr>
      <vt:lpstr>Roll Cage Design Process-Ergonomics</vt:lpstr>
      <vt:lpstr> </vt:lpstr>
      <vt:lpstr>Suspension</vt:lpstr>
      <vt:lpstr>Braking Braking calculations</vt:lpstr>
      <vt:lpstr>Steering Rack and Pinion - CAD model</vt:lpstr>
      <vt:lpstr>Power Train</vt:lpstr>
      <vt:lpstr>4WD/AWD</vt:lpstr>
      <vt:lpstr>Project plan</vt:lpstr>
      <vt:lpstr>PowerPoint Presentation</vt:lpstr>
      <vt:lpstr>PowerPoint Presentation</vt:lpstr>
      <vt:lpstr>Team Composition With Work Allocation and Workshop Facilities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Prelims SAE Baja 2024</dc:title>
  <dc:creator>Anjali Y</dc:creator>
  <cp:lastModifiedBy>Kanamaluri, Tushar [C]</cp:lastModifiedBy>
  <cp:revision>2</cp:revision>
  <cp:lastPrinted>2023-07-27T18:28:13Z</cp:lastPrinted>
  <dcterms:created xsi:type="dcterms:W3CDTF">2023-07-27T18:28:13Z</dcterms:created>
  <dcterms:modified xsi:type="dcterms:W3CDTF">2026-09-29T04:58:05Z</dcterms:modified>
</cp:coreProperties>
</file>